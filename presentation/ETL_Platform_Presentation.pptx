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thank you for being here. I'm going to present my end-of-studies project, done at Amaris Consulting. It is a secure, role-based web platform that automates Python ETL pipelines. In the next fifteen minutes, I will explain the problem, the solution I built, the methods I used, and then go through the platform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First the context, then the solution I proposed, then the methods and the architecture. After that, the main part: the platform itself, in four modules. I will spend extra time on execution and scheduling, since they are the most technical parts. I will finish with the results and what could be improved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Amaris Consulting is an international consulting firm founded in 2007, present in over 60 countries with more than 7,500 consultants. This project was carried out within the DCI team — Data and Business Intelligence — eleven members split between Tunisia and France. Amaris regularly invests in internal tooling, and this platform is exactly that kind of initiative.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the number of ETL pipelines grew at Amaris, the lack of a central tool became a real problem. Every script had to be started by hand from the command line, by someone who knew how to do it. There was no scheduling, no central list of pipelines, no way to see past runs, no separation between who manages a pipeline and who just runs it, and no automatic way to send results. If the one person who knew how to run a script was away, the whole process stopped. We also looked at tools like Airflow and Prefect, but they need you to rewrite your scripts to fit their system, and they are made for technical users, not for someone who just wants to click a button and run 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takes each ETL pipeline and manages its whole life, from upload to delivery. An admin uploads the script inside a ZIP file, exactly as it is — no changes needed. Before anyone can use it, the ETL must go through two steps: validation, then activation. After that, a normal user can open it, change some settings for their own run, choose which files are inputs and which are outputs, and launch it. Once it finishes, they get notified automatically. The same ETL can also be set to run on its own, on a schedule, without anyone clicking launch. And at every step, the system always knows if someone is an admin or a normal user, and limits what they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Scrum for this project. A technical lead guided the development and planned the sprints. A product owner managed the list of features and checked the work at the end of each sprint. The team worked together with daily short meetings. For this presentation, I grouped the five sprints into four modules, and that is how I will present the platform. In total, the project took about twenty to twenty-one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is built in three layers. React and TypeScript handle the interface. Django and DRF handle the logic — this is also where the execution engine and the scheduler live. PostgreSQL stores the data. Inside Django, I follow its normal pattern: the Model is the database layer, the View handles each request, and the page itself is built by React, since this is just an API, not a normal website with pages. For the tools: Python everywhere on the backend, Django REST Framework for the API, PostgreSQL for the database, React with TypeScript for the frontend, and a separate Python virtual environment for each ETL, so they never share dependencies.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module is the base for everything else: who can log in, and what they can see. Login uses tokens — a short one for normal use, and a second one used quietly in the background to renew it, so the user is never logged out by surprise. An admin is simply a user with extra rights — there is no separate admin account type. The important rule is about visibility: when a new ETL is created, every user can see it. Once an admin assigns it to one or more groups, only the members of those groups can see it. This rule is checked directly in the database query, every single time the list is loaded — not as a separate filter added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two covers how a pipeline gets added to the platform. The admin packs the whole project — script, config file, requirements file — into a ZIP, and uploads it exactly as it is, with no changes. The platform unzips it safely, and removes any file path that tries to escape outside the folder, which is a basic security check. Then it searches inside the ZIP for the main script, the config file, and the requirements file, by name, even if they are inside a subfolder. It reads the config file no matter its format, and saves it. Validation checks all of this again, and fails clearly if something important is missing, like the main script. Only after validation passes can the admin activate the ETL and make it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platform. When a user clicks launch, the run moves through clear steps: pending, validated, installing dependencies if needed, running, and finally success or failed. The user can cancel it at any point before it finishes. Each run gets its own private folder, so if two people run the same ETL at the same time, they never interfere with each other. The Python packages it needs are installed once into a shared environment for that ETL, and reused after that — installing them again every time would just waste time. To decide if a run succeeded or failed, the system checks three things in order: did the script exit with an error code, is there an error message in the logs, and did it actually produce an output file. If a script runs without crashing but makes no output, we still count that as a failure, because that is usually a real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what happens right after the user clicks launch. The server starts a background task and answers the browser right away — it does not wait for the script to finish. Without this, the page would just freeze for as long as the script runs, which can be twenty minutes for a big report. That background task then starts the ETL script as its own separate process on the computer, completely apart from the website itself, and it saves the process number right away, so it can find it again later. After that, the website checks the run's status every two seconds and updates the screen, so the user always sees what is really happening, not just a loading icon. If the user clicks Cancel, the platform takes that saved process number and stops the whole process, along with anything it started — not just one part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points here. First, several ETLs can run at the same time — up to four by default. Even the same ETL can run for two different users at the same time, because each run has its own folder. The only thing that is blocked is one user running the same ETL twice at once. There is also a small lock in place so that if two users start the same new ETL at the exact same moment, the environment is only built once, not twice. Second, every finished run sends a notification inside the app, to the user and to all admins, and can also send an email report if the user asked for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explain scheduling in detail, because this is the only part of the platform that runs completely on its own, with no one clicking anything. It is a background task that starts automatically when the server starts — nothing needs to be turned on manually. Every sixty seconds it wakes up, looks at every schedule that is active, and checks if any of them are due, based on the frequency and time the admin set. If one is due, it also checks that it has not already run in the last minute, just to be safe. That check is done with one direct update to the database, so even if the check runs twice by accident, it still cannot create the same run twice. If someone sets a schedule for the 31st of every month, and the month is shorter, like February, it simply runs on the last day of that month — the user does not need to configure anything special for that. And importantly, the scheduler never runs the script by itself. It only creates a run that is waiting, and sends a notification — a real person still has to open it and press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one more part of scheduling I want to show, because it solves a real problem. Several users with access to the same ETL can each ask for a schedule on their own, without waiting for each other. An admin then looks at all the requests and approves just one. As soon as that happens, it becomes the schedule for that ETL, for everyone, and all the other requests for it are closed automatically, with a message explaining why. This rule is not just a check in the code — it is also set up directly in the database, so it is actually impossible to ever end up with two active schedules on the same ETL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part of this module: analytics. Admins get a full dashboard with key numbers, a timeline of runs, which ETLs and users are most active, and recent failures, for any date range they choose. Every user, including admins, also has a personal dashboard that only shows their own runs. All of these numbers are calculated by the database itself, not by looping through results in Python, so it stays fast even with a lot of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platform solves every problem I described at the start. Manual command-line runs are gone, dependencies are installed automatically, access is controlled by role, every run can be tracked and sends notifications, scheduled runs no longer get forgotten, and there are dashboards to see how everything is performing. I also want to be honest about its limits: it runs on a single server, it supports four fixed schedule types instead of fully custom ones, and it only works with Python scripts for now. These were conscious choices to keep the tool simple, and they are exactly what I would improve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I'm happy to take any questions — whether about the technical design, the trade-offs I made, or to walk through a live demonstration of the platform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slideLayout" Target="../slideLayouts/slideLayout1.xml"/><Relationship Id="rId11"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image" Target="../media/image-21-12.png"/><Relationship Id="rId13" Type="http://schemas.openxmlformats.org/officeDocument/2006/relationships/slideLayout" Target="../slideLayouts/slideLayout1.xml"/><Relationship Id="rId14"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9692640" y="-2103120"/>
            <a:ext cx="5486400" cy="5486400"/>
          </a:xfrm>
          <a:prstGeom prst="ellipse">
            <a:avLst/>
          </a:prstGeom>
          <a:solidFill>
            <a:srgbClr val="1E293B">
              <a:alpha val="60000"/>
            </a:srgbClr>
          </a:solidFill>
          <a:ln/>
        </p:spPr>
      </p:sp>
      <p:sp>
        <p:nvSpPr>
          <p:cNvPr id="3" name="Shape 1"/>
          <p:cNvSpPr/>
          <p:nvPr/>
        </p:nvSpPr>
        <p:spPr>
          <a:xfrm>
            <a:off x="-2011680" y="4754880"/>
            <a:ext cx="3840480" cy="3840480"/>
          </a:xfrm>
          <a:prstGeom prst="ellipse">
            <a:avLst/>
          </a:prstGeom>
          <a:solidFill>
            <a:srgbClr val="1E293B">
              <a:alpha val="45000"/>
            </a:srgbClr>
          </a:solidFill>
          <a:ln/>
        </p:spPr>
      </p:sp>
      <p:sp>
        <p:nvSpPr>
          <p:cNvPr id="4" name="Shape 2"/>
          <p:cNvSpPr/>
          <p:nvPr/>
        </p:nvSpPr>
        <p:spPr>
          <a:xfrm>
            <a:off x="822960" y="777240"/>
            <a:ext cx="777240" cy="777240"/>
          </a:xfrm>
          <a:prstGeom prst="ellipse">
            <a:avLst/>
          </a:prstGeom>
          <a:solidFill>
            <a:srgbClr val="1E293B"/>
          </a:solidFill>
          <a:ln/>
        </p:spPr>
      </p:sp>
      <p:pic>
        <p:nvPicPr>
          <p:cNvPr id="5" name="Image 0" descr="preencoded.png"/>
          <p:cNvPicPr>
            <a:picLocks noChangeAspect="1"/>
          </p:cNvPicPr>
          <p:nvPr/>
        </p:nvPicPr>
        <p:blipFill>
          <a:blip r:embed="rId1"/>
          <a:stretch>
            <a:fillRect/>
          </a:stretch>
        </p:blipFill>
        <p:spPr>
          <a:xfrm>
            <a:off x="1017270" y="971550"/>
            <a:ext cx="388620" cy="388620"/>
          </a:xfrm>
          <a:prstGeom prst="rect">
            <a:avLst/>
          </a:prstGeom>
        </p:spPr>
      </p:pic>
      <p:sp>
        <p:nvSpPr>
          <p:cNvPr id="6" name="Text 3"/>
          <p:cNvSpPr/>
          <p:nvPr/>
        </p:nvSpPr>
        <p:spPr>
          <a:xfrm>
            <a:off x="822960" y="2331720"/>
            <a:ext cx="9144000" cy="365760"/>
          </a:xfrm>
          <a:prstGeom prst="rect">
            <a:avLst/>
          </a:prstGeom>
          <a:noFill/>
          <a:ln/>
        </p:spPr>
        <p:txBody>
          <a:bodyPr wrap="square" lIns="0" tIns="0" rIns="0" bIns="0" rtlCol="0" anchor="ctr"/>
          <a:lstStyle/>
          <a:p>
            <a:pPr indent="0" marL="0">
              <a:buNone/>
            </a:pPr>
            <a:r>
              <a:rPr lang="en-US" sz="1300" b="1" spc="200" kern="0" dirty="0">
                <a:solidFill>
                  <a:srgbClr val="60A5FA"/>
                </a:solidFill>
                <a:latin typeface="Calibri" pitchFamily="34" charset="0"/>
                <a:ea typeface="Calibri" pitchFamily="34" charset="-122"/>
                <a:cs typeface="Calibri" pitchFamily="34" charset="-120"/>
              </a:rPr>
              <a:t>END-OF-STUDIES PROJECT  ·  AMARIS CONSULTING</a:t>
            </a:r>
            <a:endParaRPr lang="en-US" sz="1300" dirty="0"/>
          </a:p>
        </p:txBody>
      </p:sp>
      <p:sp>
        <p:nvSpPr>
          <p:cNvPr id="7" name="Text 4"/>
          <p:cNvSpPr/>
          <p:nvPr/>
        </p:nvSpPr>
        <p:spPr>
          <a:xfrm>
            <a:off x="777240" y="2697480"/>
            <a:ext cx="10241280" cy="155448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ETL Orchestration &amp; Automation Platform</a:t>
            </a:r>
            <a:endParaRPr lang="en-US" sz="4400" dirty="0"/>
          </a:p>
        </p:txBody>
      </p:sp>
      <p:sp>
        <p:nvSpPr>
          <p:cNvPr id="8" name="Text 5"/>
          <p:cNvSpPr/>
          <p:nvPr/>
        </p:nvSpPr>
        <p:spPr>
          <a:xfrm>
            <a:off x="822960" y="3977640"/>
            <a:ext cx="8778240" cy="822960"/>
          </a:xfrm>
          <a:prstGeom prst="rect">
            <a:avLst/>
          </a:prstGeom>
          <a:noFill/>
          <a:ln/>
        </p:spPr>
        <p:txBody>
          <a:bodyPr wrap="square" lIns="0" tIns="0" rIns="0" bIns="0" rtlCol="0" anchor="ctr"/>
          <a:lstStyle/>
          <a:p>
            <a:pPr indent="0" marL="0">
              <a:lnSpc>
                <a:spcPct val="125000"/>
              </a:lnSpc>
              <a:buNone/>
            </a:pPr>
            <a:r>
              <a:rPr lang="en-US" sz="1500" dirty="0">
                <a:solidFill>
                  <a:srgbClr val="CBD5E1"/>
                </a:solidFill>
                <a:latin typeface="Calibri" pitchFamily="34" charset="0"/>
                <a:ea typeface="Calibri" pitchFamily="34" charset="-122"/>
                <a:cs typeface="Calibri" pitchFamily="34" charset="-120"/>
              </a:rPr>
              <a:t>A secure, role-based web platform that automates the full lifecycle of Python ETL pipelines — from upload to supervised execution, scheduling, and analytics.</a:t>
            </a:r>
            <a:endParaRPr lang="en-US" sz="1500" dirty="0"/>
          </a:p>
        </p:txBody>
      </p:sp>
      <p:sp>
        <p:nvSpPr>
          <p:cNvPr id="9" name="Shape 6"/>
          <p:cNvSpPr/>
          <p:nvPr/>
        </p:nvSpPr>
        <p:spPr>
          <a:xfrm>
            <a:off x="822960" y="5074920"/>
            <a:ext cx="3840480" cy="0"/>
          </a:xfrm>
          <a:prstGeom prst="line">
            <a:avLst/>
          </a:prstGeom>
          <a:noFill/>
          <a:ln w="12700">
            <a:solidFill>
              <a:srgbClr val="334155"/>
            </a:solidFill>
            <a:prstDash val="solid"/>
          </a:ln>
        </p:spPr>
      </p:sp>
      <p:sp>
        <p:nvSpPr>
          <p:cNvPr id="10" name="Text 7"/>
          <p:cNvSpPr/>
          <p:nvPr/>
        </p:nvSpPr>
        <p:spPr>
          <a:xfrm>
            <a:off x="822960" y="5257800"/>
            <a:ext cx="8961120" cy="731520"/>
          </a:xfrm>
          <a:prstGeom prst="rect">
            <a:avLst/>
          </a:prstGeom>
          <a:noFill/>
          <a:ln/>
        </p:spPr>
        <p:txBody>
          <a:bodyPr wrap="square" lIns="0" tIns="0" rIns="0" bIns="0" rtlCol="0" anchor="ctr"/>
          <a:lstStyle/>
          <a:p>
            <a:pPr indent="0" marL="0">
              <a:lnSpc>
                <a:spcPct val="130000"/>
              </a:lnSpc>
              <a:buNone/>
            </a:pPr>
            <a:r>
              <a:rPr lang="en-US" sz="1150" dirty="0">
                <a:solidFill>
                  <a:srgbClr val="94A3B8"/>
                </a:solidFill>
                <a:latin typeface="Calibri" pitchFamily="34" charset="0"/>
                <a:ea typeface="Calibri" pitchFamily="34" charset="-122"/>
                <a:cs typeface="Calibri" pitchFamily="34" charset="-120"/>
              </a:rPr>
              <a:t>Presented as part of the Engineering Degree in Applied &amp; Technological Sciences</a:t>
            </a:r>
            <a:endParaRPr lang="en-US" sz="1150" dirty="0"/>
          </a:p>
          <a:p>
            <a:pPr indent="0" marL="0">
              <a:lnSpc>
                <a:spcPct val="130000"/>
              </a:lnSpc>
              <a:buNone/>
            </a:pPr>
            <a:r>
              <a:rPr lang="en-US" sz="1150" dirty="0">
                <a:solidFill>
                  <a:srgbClr val="94A3B8"/>
                </a:solidFill>
                <a:latin typeface="Calibri" pitchFamily="34" charset="0"/>
                <a:ea typeface="Calibri" pitchFamily="34" charset="-122"/>
                <a:cs typeface="Calibri" pitchFamily="34" charset="-120"/>
              </a:rPr>
              <a:t>Host Organisation: Amaris Consulting — Data &amp; Business Intelligence Team</a:t>
            </a:r>
            <a:endParaRPr lang="en-US" sz="11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37215" y="5120640"/>
            <a:ext cx="3291840" cy="3291840"/>
          </a:xfrm>
          <a:prstGeom prst="ellipse">
            <a:avLst/>
          </a:prstGeom>
          <a:solidFill>
            <a:srgbClr val="EFF6FF">
              <a:alpha val="45000"/>
            </a:srgbClr>
          </a:solidFill>
          <a:ln/>
        </p:spPr>
      </p:sp>
      <p:sp>
        <p:nvSpPr>
          <p:cNvPr id="3" name="Text 1"/>
          <p:cNvSpPr/>
          <p:nvPr/>
        </p:nvSpPr>
        <p:spPr>
          <a:xfrm>
            <a:off x="640080" y="411480"/>
            <a:ext cx="8229600" cy="320040"/>
          </a:xfrm>
          <a:prstGeom prst="rect">
            <a:avLst/>
          </a:prstGeom>
          <a:noFill/>
          <a:ln/>
        </p:spPr>
        <p:txBody>
          <a:bodyPr wrap="square" lIns="0" tIns="0" rIns="0" bIns="0" rtlCol="0" anchor="ctr"/>
          <a:lstStyle/>
          <a:p>
            <a:pPr indent="0" marL="0">
              <a:buNone/>
            </a:pPr>
            <a:r>
              <a:rPr lang="en-US" sz="1250" b="1" spc="200" kern="0" dirty="0">
                <a:solidFill>
                  <a:srgbClr val="2563EB"/>
                </a:solidFill>
                <a:latin typeface="Calibri" pitchFamily="34" charset="0"/>
                <a:ea typeface="Calibri" pitchFamily="34" charset="-122"/>
                <a:cs typeface="Calibri" pitchFamily="34" charset="-120"/>
              </a:rPr>
              <a:t>ROADMAP</a:t>
            </a:r>
            <a:endParaRPr lang="en-US" sz="1250" dirty="0"/>
          </a:p>
        </p:txBody>
      </p:sp>
      <p:sp>
        <p:nvSpPr>
          <p:cNvPr id="4" name="Text 2"/>
          <p:cNvSpPr/>
          <p:nvPr/>
        </p:nvSpPr>
        <p:spPr>
          <a:xfrm>
            <a:off x="640080" y="713232"/>
            <a:ext cx="10515600"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What I'll cover</a:t>
            </a:r>
            <a:endParaRPr lang="en-US" sz="2800" dirty="0"/>
          </a:p>
        </p:txBody>
      </p:sp>
      <p:sp>
        <p:nvSpPr>
          <p:cNvPr id="5" name="Shape 3"/>
          <p:cNvSpPr/>
          <p:nvPr/>
        </p:nvSpPr>
        <p:spPr>
          <a:xfrm>
            <a:off x="640080" y="1874520"/>
            <a:ext cx="3423818" cy="1691640"/>
          </a:xfrm>
          <a:prstGeom prst="rect">
            <a:avLst/>
          </a:prstGeom>
          <a:solidFill>
            <a:srgbClr val="F8FAFC"/>
          </a:solidFill>
          <a:ln w="12700">
            <a:solidFill>
              <a:srgbClr val="E2E8F0"/>
            </a:solidFill>
            <a:prstDash val="solid"/>
          </a:ln>
        </p:spPr>
      </p:sp>
      <p:sp>
        <p:nvSpPr>
          <p:cNvPr id="6" name="Shape 4"/>
          <p:cNvSpPr/>
          <p:nvPr/>
        </p:nvSpPr>
        <p:spPr>
          <a:xfrm>
            <a:off x="896112" y="2130552"/>
            <a:ext cx="566928" cy="566928"/>
          </a:xfrm>
          <a:prstGeom prst="ellipse">
            <a:avLst/>
          </a:prstGeom>
          <a:solidFill>
            <a:srgbClr val="EFF6FF"/>
          </a:solidFill>
          <a:ln/>
        </p:spPr>
      </p:sp>
      <p:pic>
        <p:nvPicPr>
          <p:cNvPr id="7" name="Image 0" descr="preencoded.png"/>
          <p:cNvPicPr>
            <a:picLocks noChangeAspect="1"/>
          </p:cNvPicPr>
          <p:nvPr/>
        </p:nvPicPr>
        <p:blipFill>
          <a:blip r:embed="rId1"/>
          <a:stretch>
            <a:fillRect/>
          </a:stretch>
        </p:blipFill>
        <p:spPr>
          <a:xfrm>
            <a:off x="1023671" y="2258111"/>
            <a:ext cx="311810" cy="311810"/>
          </a:xfrm>
          <a:prstGeom prst="rect">
            <a:avLst/>
          </a:prstGeom>
        </p:spPr>
      </p:pic>
      <p:sp>
        <p:nvSpPr>
          <p:cNvPr id="8" name="Text 5"/>
          <p:cNvSpPr/>
          <p:nvPr/>
        </p:nvSpPr>
        <p:spPr>
          <a:xfrm>
            <a:off x="3560978" y="2039112"/>
            <a:ext cx="365760" cy="365760"/>
          </a:xfrm>
          <a:prstGeom prst="rect">
            <a:avLst/>
          </a:prstGeom>
          <a:noFill/>
          <a:ln/>
        </p:spPr>
        <p:txBody>
          <a:bodyPr wrap="square" lIns="0" tIns="0" rIns="0" bIns="0" rtlCol="0" anchor="ctr"/>
          <a:lstStyle/>
          <a:p>
            <a:pPr algn="r" indent="0" marL="0">
              <a:buNone/>
            </a:pPr>
            <a:r>
              <a:rPr lang="en-US" sz="1600" b="1" dirty="0">
                <a:solidFill>
                  <a:srgbClr val="94A3B8"/>
                </a:solidFill>
                <a:latin typeface="Georgia" pitchFamily="34" charset="0"/>
                <a:ea typeface="Georgia" pitchFamily="34" charset="-122"/>
                <a:cs typeface="Georgia" pitchFamily="34" charset="-120"/>
              </a:rPr>
              <a:t>1</a:t>
            </a:r>
            <a:endParaRPr lang="en-US" sz="1600" dirty="0"/>
          </a:p>
        </p:txBody>
      </p:sp>
      <p:sp>
        <p:nvSpPr>
          <p:cNvPr id="9" name="Text 6"/>
          <p:cNvSpPr/>
          <p:nvPr/>
        </p:nvSpPr>
        <p:spPr>
          <a:xfrm>
            <a:off x="896112" y="2788920"/>
            <a:ext cx="2966618"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General Context</a:t>
            </a:r>
            <a:endParaRPr lang="en-US" sz="1450" dirty="0"/>
          </a:p>
        </p:txBody>
      </p:sp>
      <p:sp>
        <p:nvSpPr>
          <p:cNvPr id="10" name="Text 7"/>
          <p:cNvSpPr/>
          <p:nvPr/>
        </p:nvSpPr>
        <p:spPr>
          <a:xfrm>
            <a:off x="896112" y="3118104"/>
            <a:ext cx="2966618"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The problem &amp; why existing tools fall short</a:t>
            </a:r>
            <a:endParaRPr lang="en-US" sz="1100" dirty="0"/>
          </a:p>
        </p:txBody>
      </p:sp>
      <p:sp>
        <p:nvSpPr>
          <p:cNvPr id="11" name="Shape 8"/>
          <p:cNvSpPr/>
          <p:nvPr/>
        </p:nvSpPr>
        <p:spPr>
          <a:xfrm>
            <a:off x="4383938" y="1874520"/>
            <a:ext cx="3423818" cy="1691640"/>
          </a:xfrm>
          <a:prstGeom prst="rect">
            <a:avLst/>
          </a:prstGeom>
          <a:solidFill>
            <a:srgbClr val="F8FAFC"/>
          </a:solidFill>
          <a:ln w="12700">
            <a:solidFill>
              <a:srgbClr val="E2E8F0"/>
            </a:solidFill>
            <a:prstDash val="solid"/>
          </a:ln>
        </p:spPr>
      </p:sp>
      <p:sp>
        <p:nvSpPr>
          <p:cNvPr id="12" name="Shape 9"/>
          <p:cNvSpPr/>
          <p:nvPr/>
        </p:nvSpPr>
        <p:spPr>
          <a:xfrm>
            <a:off x="4639970" y="2130552"/>
            <a:ext cx="566928" cy="566928"/>
          </a:xfrm>
          <a:prstGeom prst="ellipse">
            <a:avLst/>
          </a:prstGeom>
          <a:solidFill>
            <a:srgbClr val="EFF6FF"/>
          </a:solidFill>
          <a:ln/>
        </p:spPr>
      </p:sp>
      <p:pic>
        <p:nvPicPr>
          <p:cNvPr id="13" name="Image 1" descr="preencoded.png"/>
          <p:cNvPicPr>
            <a:picLocks noChangeAspect="1"/>
          </p:cNvPicPr>
          <p:nvPr/>
        </p:nvPicPr>
        <p:blipFill>
          <a:blip r:embed="rId2"/>
          <a:stretch>
            <a:fillRect/>
          </a:stretch>
        </p:blipFill>
        <p:spPr>
          <a:xfrm>
            <a:off x="4767529" y="2258111"/>
            <a:ext cx="311810" cy="311810"/>
          </a:xfrm>
          <a:prstGeom prst="rect">
            <a:avLst/>
          </a:prstGeom>
        </p:spPr>
      </p:pic>
      <p:sp>
        <p:nvSpPr>
          <p:cNvPr id="14" name="Text 10"/>
          <p:cNvSpPr/>
          <p:nvPr/>
        </p:nvSpPr>
        <p:spPr>
          <a:xfrm>
            <a:off x="7304837" y="2039112"/>
            <a:ext cx="365760" cy="365760"/>
          </a:xfrm>
          <a:prstGeom prst="rect">
            <a:avLst/>
          </a:prstGeom>
          <a:noFill/>
          <a:ln/>
        </p:spPr>
        <p:txBody>
          <a:bodyPr wrap="square" lIns="0" tIns="0" rIns="0" bIns="0" rtlCol="0" anchor="ctr"/>
          <a:lstStyle/>
          <a:p>
            <a:pPr algn="r" indent="0" marL="0">
              <a:buNone/>
            </a:pPr>
            <a:r>
              <a:rPr lang="en-US" sz="1600" b="1" dirty="0">
                <a:solidFill>
                  <a:srgbClr val="94A3B8"/>
                </a:solidFill>
                <a:latin typeface="Georgia" pitchFamily="34" charset="0"/>
                <a:ea typeface="Georgia" pitchFamily="34" charset="-122"/>
                <a:cs typeface="Georgia" pitchFamily="34" charset="-120"/>
              </a:rPr>
              <a:t>2</a:t>
            </a:r>
            <a:endParaRPr lang="en-US" sz="1600" dirty="0"/>
          </a:p>
        </p:txBody>
      </p:sp>
      <p:sp>
        <p:nvSpPr>
          <p:cNvPr id="15" name="Text 11"/>
          <p:cNvSpPr/>
          <p:nvPr/>
        </p:nvSpPr>
        <p:spPr>
          <a:xfrm>
            <a:off x="4639970" y="2788920"/>
            <a:ext cx="2966618"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Proposed Solution</a:t>
            </a:r>
            <a:endParaRPr lang="en-US" sz="1450" dirty="0"/>
          </a:p>
        </p:txBody>
      </p:sp>
      <p:sp>
        <p:nvSpPr>
          <p:cNvPr id="16" name="Text 12"/>
          <p:cNvSpPr/>
          <p:nvPr/>
        </p:nvSpPr>
        <p:spPr>
          <a:xfrm>
            <a:off x="4639970" y="3118104"/>
            <a:ext cx="2966618"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The orchestration approach</a:t>
            </a:r>
            <a:endParaRPr lang="en-US" sz="1100" dirty="0"/>
          </a:p>
        </p:txBody>
      </p:sp>
      <p:sp>
        <p:nvSpPr>
          <p:cNvPr id="17" name="Shape 13"/>
          <p:cNvSpPr/>
          <p:nvPr/>
        </p:nvSpPr>
        <p:spPr>
          <a:xfrm>
            <a:off x="8127797" y="1874520"/>
            <a:ext cx="3423818" cy="1691640"/>
          </a:xfrm>
          <a:prstGeom prst="rect">
            <a:avLst/>
          </a:prstGeom>
          <a:solidFill>
            <a:srgbClr val="F8FAFC"/>
          </a:solidFill>
          <a:ln w="12700">
            <a:solidFill>
              <a:srgbClr val="E2E8F0"/>
            </a:solidFill>
            <a:prstDash val="solid"/>
          </a:ln>
        </p:spPr>
      </p:sp>
      <p:sp>
        <p:nvSpPr>
          <p:cNvPr id="18" name="Shape 14"/>
          <p:cNvSpPr/>
          <p:nvPr/>
        </p:nvSpPr>
        <p:spPr>
          <a:xfrm>
            <a:off x="8383829" y="2130552"/>
            <a:ext cx="566928" cy="566928"/>
          </a:xfrm>
          <a:prstGeom prst="ellipse">
            <a:avLst/>
          </a:prstGeom>
          <a:solidFill>
            <a:srgbClr val="EFF6FF"/>
          </a:solidFill>
          <a:ln/>
        </p:spPr>
      </p:sp>
      <p:pic>
        <p:nvPicPr>
          <p:cNvPr id="19" name="Image 2" descr="preencoded.png"/>
          <p:cNvPicPr>
            <a:picLocks noChangeAspect="1"/>
          </p:cNvPicPr>
          <p:nvPr/>
        </p:nvPicPr>
        <p:blipFill>
          <a:blip r:embed="rId3"/>
          <a:stretch>
            <a:fillRect/>
          </a:stretch>
        </p:blipFill>
        <p:spPr>
          <a:xfrm>
            <a:off x="8511388" y="2258111"/>
            <a:ext cx="311810" cy="311810"/>
          </a:xfrm>
          <a:prstGeom prst="rect">
            <a:avLst/>
          </a:prstGeom>
        </p:spPr>
      </p:pic>
      <p:sp>
        <p:nvSpPr>
          <p:cNvPr id="20" name="Text 15"/>
          <p:cNvSpPr/>
          <p:nvPr/>
        </p:nvSpPr>
        <p:spPr>
          <a:xfrm>
            <a:off x="11048695" y="2039112"/>
            <a:ext cx="365760" cy="365760"/>
          </a:xfrm>
          <a:prstGeom prst="rect">
            <a:avLst/>
          </a:prstGeom>
          <a:noFill/>
          <a:ln/>
        </p:spPr>
        <p:txBody>
          <a:bodyPr wrap="square" lIns="0" tIns="0" rIns="0" bIns="0" rtlCol="0" anchor="ctr"/>
          <a:lstStyle/>
          <a:p>
            <a:pPr algn="r" indent="0" marL="0">
              <a:buNone/>
            </a:pPr>
            <a:r>
              <a:rPr lang="en-US" sz="1600" b="1" dirty="0">
                <a:solidFill>
                  <a:srgbClr val="94A3B8"/>
                </a:solidFill>
                <a:latin typeface="Georgia" pitchFamily="34" charset="0"/>
                <a:ea typeface="Georgia" pitchFamily="34" charset="-122"/>
                <a:cs typeface="Georgia" pitchFamily="34" charset="-120"/>
              </a:rPr>
              <a:t>3</a:t>
            </a:r>
            <a:endParaRPr lang="en-US" sz="1600" dirty="0"/>
          </a:p>
        </p:txBody>
      </p:sp>
      <p:sp>
        <p:nvSpPr>
          <p:cNvPr id="21" name="Text 16"/>
          <p:cNvSpPr/>
          <p:nvPr/>
        </p:nvSpPr>
        <p:spPr>
          <a:xfrm>
            <a:off x="8383829" y="2788920"/>
            <a:ext cx="2966618"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Project Initiation</a:t>
            </a:r>
            <a:endParaRPr lang="en-US" sz="1450" dirty="0"/>
          </a:p>
        </p:txBody>
      </p:sp>
      <p:sp>
        <p:nvSpPr>
          <p:cNvPr id="22" name="Text 17"/>
          <p:cNvSpPr/>
          <p:nvPr/>
        </p:nvSpPr>
        <p:spPr>
          <a:xfrm>
            <a:off x="8383829" y="3118104"/>
            <a:ext cx="2966618"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Methodology &amp; architecture</a:t>
            </a:r>
            <a:endParaRPr lang="en-US" sz="1100" dirty="0"/>
          </a:p>
        </p:txBody>
      </p:sp>
      <p:sp>
        <p:nvSpPr>
          <p:cNvPr id="23" name="Shape 18"/>
          <p:cNvSpPr/>
          <p:nvPr/>
        </p:nvSpPr>
        <p:spPr>
          <a:xfrm>
            <a:off x="640080" y="3886200"/>
            <a:ext cx="3423818" cy="1691640"/>
          </a:xfrm>
          <a:prstGeom prst="rect">
            <a:avLst/>
          </a:prstGeom>
          <a:solidFill>
            <a:srgbClr val="F8FAFC"/>
          </a:solidFill>
          <a:ln w="12700">
            <a:solidFill>
              <a:srgbClr val="E2E8F0"/>
            </a:solidFill>
            <a:prstDash val="solid"/>
          </a:ln>
        </p:spPr>
      </p:sp>
      <p:sp>
        <p:nvSpPr>
          <p:cNvPr id="24" name="Shape 19"/>
          <p:cNvSpPr/>
          <p:nvPr/>
        </p:nvSpPr>
        <p:spPr>
          <a:xfrm>
            <a:off x="896112" y="4142232"/>
            <a:ext cx="566928" cy="566928"/>
          </a:xfrm>
          <a:prstGeom prst="ellipse">
            <a:avLst/>
          </a:prstGeom>
          <a:solidFill>
            <a:srgbClr val="EFF6FF"/>
          </a:solidFill>
          <a:ln/>
        </p:spPr>
      </p:sp>
      <p:pic>
        <p:nvPicPr>
          <p:cNvPr id="25" name="Image 3" descr="preencoded.png"/>
          <p:cNvPicPr>
            <a:picLocks noChangeAspect="1"/>
          </p:cNvPicPr>
          <p:nvPr/>
        </p:nvPicPr>
        <p:blipFill>
          <a:blip r:embed="rId4"/>
          <a:stretch>
            <a:fillRect/>
          </a:stretch>
        </p:blipFill>
        <p:spPr>
          <a:xfrm>
            <a:off x="1023671" y="4269791"/>
            <a:ext cx="311810" cy="311810"/>
          </a:xfrm>
          <a:prstGeom prst="rect">
            <a:avLst/>
          </a:prstGeom>
        </p:spPr>
      </p:pic>
      <p:sp>
        <p:nvSpPr>
          <p:cNvPr id="26" name="Text 20"/>
          <p:cNvSpPr/>
          <p:nvPr/>
        </p:nvSpPr>
        <p:spPr>
          <a:xfrm>
            <a:off x="3560978" y="4050792"/>
            <a:ext cx="365760" cy="365760"/>
          </a:xfrm>
          <a:prstGeom prst="rect">
            <a:avLst/>
          </a:prstGeom>
          <a:noFill/>
          <a:ln/>
        </p:spPr>
        <p:txBody>
          <a:bodyPr wrap="square" lIns="0" tIns="0" rIns="0" bIns="0" rtlCol="0" anchor="ctr"/>
          <a:lstStyle/>
          <a:p>
            <a:pPr algn="r" indent="0" marL="0">
              <a:buNone/>
            </a:pPr>
            <a:r>
              <a:rPr lang="en-US" sz="1600" b="1" dirty="0">
                <a:solidFill>
                  <a:srgbClr val="94A3B8"/>
                </a:solidFill>
                <a:latin typeface="Georgia" pitchFamily="34" charset="0"/>
                <a:ea typeface="Georgia" pitchFamily="34" charset="-122"/>
                <a:cs typeface="Georgia" pitchFamily="34" charset="-120"/>
              </a:rPr>
              <a:t>4</a:t>
            </a:r>
            <a:endParaRPr lang="en-US" sz="1600" dirty="0"/>
          </a:p>
        </p:txBody>
      </p:sp>
      <p:sp>
        <p:nvSpPr>
          <p:cNvPr id="27" name="Text 21"/>
          <p:cNvSpPr/>
          <p:nvPr/>
        </p:nvSpPr>
        <p:spPr>
          <a:xfrm>
            <a:off x="896112" y="4800600"/>
            <a:ext cx="2966618"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The Platform</a:t>
            </a:r>
            <a:endParaRPr lang="en-US" sz="1450" dirty="0"/>
          </a:p>
        </p:txBody>
      </p:sp>
      <p:sp>
        <p:nvSpPr>
          <p:cNvPr id="28" name="Text 22"/>
          <p:cNvSpPr/>
          <p:nvPr/>
        </p:nvSpPr>
        <p:spPr>
          <a:xfrm>
            <a:off x="896112" y="5129784"/>
            <a:ext cx="2966618"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Four modules — the technical core</a:t>
            </a:r>
            <a:endParaRPr lang="en-US" sz="1100" dirty="0"/>
          </a:p>
        </p:txBody>
      </p:sp>
      <p:sp>
        <p:nvSpPr>
          <p:cNvPr id="29" name="Shape 23"/>
          <p:cNvSpPr/>
          <p:nvPr/>
        </p:nvSpPr>
        <p:spPr>
          <a:xfrm>
            <a:off x="4383938" y="3886200"/>
            <a:ext cx="3423818" cy="1691640"/>
          </a:xfrm>
          <a:prstGeom prst="rect">
            <a:avLst/>
          </a:prstGeom>
          <a:solidFill>
            <a:srgbClr val="F8FAFC"/>
          </a:solidFill>
          <a:ln w="12700">
            <a:solidFill>
              <a:srgbClr val="E2E8F0"/>
            </a:solidFill>
            <a:prstDash val="solid"/>
          </a:ln>
        </p:spPr>
      </p:sp>
      <p:sp>
        <p:nvSpPr>
          <p:cNvPr id="30" name="Shape 24"/>
          <p:cNvSpPr/>
          <p:nvPr/>
        </p:nvSpPr>
        <p:spPr>
          <a:xfrm>
            <a:off x="4639970" y="4142232"/>
            <a:ext cx="566928" cy="566928"/>
          </a:xfrm>
          <a:prstGeom prst="ellipse">
            <a:avLst/>
          </a:prstGeom>
          <a:solidFill>
            <a:srgbClr val="EFF6FF"/>
          </a:solidFill>
          <a:ln/>
        </p:spPr>
      </p:sp>
      <p:pic>
        <p:nvPicPr>
          <p:cNvPr id="31" name="Image 4" descr="preencoded.png"/>
          <p:cNvPicPr>
            <a:picLocks noChangeAspect="1"/>
          </p:cNvPicPr>
          <p:nvPr/>
        </p:nvPicPr>
        <p:blipFill>
          <a:blip r:embed="rId5"/>
          <a:stretch>
            <a:fillRect/>
          </a:stretch>
        </p:blipFill>
        <p:spPr>
          <a:xfrm>
            <a:off x="4767529" y="4269791"/>
            <a:ext cx="311810" cy="311810"/>
          </a:xfrm>
          <a:prstGeom prst="rect">
            <a:avLst/>
          </a:prstGeom>
        </p:spPr>
      </p:pic>
      <p:sp>
        <p:nvSpPr>
          <p:cNvPr id="32" name="Text 25"/>
          <p:cNvSpPr/>
          <p:nvPr/>
        </p:nvSpPr>
        <p:spPr>
          <a:xfrm>
            <a:off x="7304837" y="4050792"/>
            <a:ext cx="365760" cy="365760"/>
          </a:xfrm>
          <a:prstGeom prst="rect">
            <a:avLst/>
          </a:prstGeom>
          <a:noFill/>
          <a:ln/>
        </p:spPr>
        <p:txBody>
          <a:bodyPr wrap="square" lIns="0" tIns="0" rIns="0" bIns="0" rtlCol="0" anchor="ctr"/>
          <a:lstStyle/>
          <a:p>
            <a:pPr algn="r" indent="0" marL="0">
              <a:buNone/>
            </a:pPr>
            <a:r>
              <a:rPr lang="en-US" sz="1600" b="1" dirty="0">
                <a:solidFill>
                  <a:srgbClr val="94A3B8"/>
                </a:solidFill>
                <a:latin typeface="Georgia" pitchFamily="34" charset="0"/>
                <a:ea typeface="Georgia" pitchFamily="34" charset="-122"/>
                <a:cs typeface="Georgia" pitchFamily="34" charset="-120"/>
              </a:rPr>
              <a:t>5</a:t>
            </a:r>
            <a:endParaRPr lang="en-US" sz="1600" dirty="0"/>
          </a:p>
        </p:txBody>
      </p:sp>
      <p:sp>
        <p:nvSpPr>
          <p:cNvPr id="33" name="Text 26"/>
          <p:cNvSpPr/>
          <p:nvPr/>
        </p:nvSpPr>
        <p:spPr>
          <a:xfrm>
            <a:off x="4639970" y="4800600"/>
            <a:ext cx="2966618"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Execution &amp; Scheduling</a:t>
            </a:r>
            <a:endParaRPr lang="en-US" sz="1450" dirty="0"/>
          </a:p>
        </p:txBody>
      </p:sp>
      <p:sp>
        <p:nvSpPr>
          <p:cNvPr id="34" name="Text 27"/>
          <p:cNvSpPr/>
          <p:nvPr/>
        </p:nvSpPr>
        <p:spPr>
          <a:xfrm>
            <a:off x="4639970" y="5129784"/>
            <a:ext cx="2966618"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Threads, processes, polling — in depth</a:t>
            </a:r>
            <a:endParaRPr lang="en-US" sz="1100" dirty="0"/>
          </a:p>
        </p:txBody>
      </p:sp>
      <p:sp>
        <p:nvSpPr>
          <p:cNvPr id="35" name="Shape 28"/>
          <p:cNvSpPr/>
          <p:nvPr/>
        </p:nvSpPr>
        <p:spPr>
          <a:xfrm>
            <a:off x="8127797" y="3886200"/>
            <a:ext cx="3423818" cy="1691640"/>
          </a:xfrm>
          <a:prstGeom prst="rect">
            <a:avLst/>
          </a:prstGeom>
          <a:solidFill>
            <a:srgbClr val="F8FAFC"/>
          </a:solidFill>
          <a:ln w="12700">
            <a:solidFill>
              <a:srgbClr val="E2E8F0"/>
            </a:solidFill>
            <a:prstDash val="solid"/>
          </a:ln>
        </p:spPr>
      </p:sp>
      <p:sp>
        <p:nvSpPr>
          <p:cNvPr id="36" name="Shape 29"/>
          <p:cNvSpPr/>
          <p:nvPr/>
        </p:nvSpPr>
        <p:spPr>
          <a:xfrm>
            <a:off x="8383829" y="4142232"/>
            <a:ext cx="566928" cy="566928"/>
          </a:xfrm>
          <a:prstGeom prst="ellipse">
            <a:avLst/>
          </a:prstGeom>
          <a:solidFill>
            <a:srgbClr val="EFF6FF"/>
          </a:solidFill>
          <a:ln/>
        </p:spPr>
      </p:sp>
      <p:pic>
        <p:nvPicPr>
          <p:cNvPr id="37" name="Image 5" descr="preencoded.png"/>
          <p:cNvPicPr>
            <a:picLocks noChangeAspect="1"/>
          </p:cNvPicPr>
          <p:nvPr/>
        </p:nvPicPr>
        <p:blipFill>
          <a:blip r:embed="rId6"/>
          <a:stretch>
            <a:fillRect/>
          </a:stretch>
        </p:blipFill>
        <p:spPr>
          <a:xfrm>
            <a:off x="8511388" y="4269791"/>
            <a:ext cx="311810" cy="311810"/>
          </a:xfrm>
          <a:prstGeom prst="rect">
            <a:avLst/>
          </a:prstGeom>
        </p:spPr>
      </p:pic>
      <p:sp>
        <p:nvSpPr>
          <p:cNvPr id="38" name="Text 30"/>
          <p:cNvSpPr/>
          <p:nvPr/>
        </p:nvSpPr>
        <p:spPr>
          <a:xfrm>
            <a:off x="11048695" y="4050792"/>
            <a:ext cx="365760" cy="365760"/>
          </a:xfrm>
          <a:prstGeom prst="rect">
            <a:avLst/>
          </a:prstGeom>
          <a:noFill/>
          <a:ln/>
        </p:spPr>
        <p:txBody>
          <a:bodyPr wrap="square" lIns="0" tIns="0" rIns="0" bIns="0" rtlCol="0" anchor="ctr"/>
          <a:lstStyle/>
          <a:p>
            <a:pPr algn="r" indent="0" marL="0">
              <a:buNone/>
            </a:pPr>
            <a:r>
              <a:rPr lang="en-US" sz="1600" b="1" dirty="0">
                <a:solidFill>
                  <a:srgbClr val="94A3B8"/>
                </a:solidFill>
                <a:latin typeface="Georgia" pitchFamily="34" charset="0"/>
                <a:ea typeface="Georgia" pitchFamily="34" charset="-122"/>
                <a:cs typeface="Georgia" pitchFamily="34" charset="-120"/>
              </a:rPr>
              <a:t>6</a:t>
            </a:r>
            <a:endParaRPr lang="en-US" sz="1600" dirty="0"/>
          </a:p>
        </p:txBody>
      </p:sp>
      <p:sp>
        <p:nvSpPr>
          <p:cNvPr id="39" name="Text 31"/>
          <p:cNvSpPr/>
          <p:nvPr/>
        </p:nvSpPr>
        <p:spPr>
          <a:xfrm>
            <a:off x="8383829" y="4800600"/>
            <a:ext cx="2966618"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Conclusion</a:t>
            </a:r>
            <a:endParaRPr lang="en-US" sz="1450" dirty="0"/>
          </a:p>
        </p:txBody>
      </p:sp>
      <p:sp>
        <p:nvSpPr>
          <p:cNvPr id="40" name="Text 32"/>
          <p:cNvSpPr/>
          <p:nvPr/>
        </p:nvSpPr>
        <p:spPr>
          <a:xfrm>
            <a:off x="8383829" y="5129784"/>
            <a:ext cx="2966618"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Results &amp; next steps</a:t>
            </a:r>
            <a:endParaRPr lang="en-US" sz="1100" dirty="0"/>
          </a:p>
        </p:txBody>
      </p:sp>
      <p:sp>
        <p:nvSpPr>
          <p:cNvPr id="41" name="Text 33"/>
          <p:cNvSpPr/>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02</a:t>
            </a:r>
            <a:endParaRPr lang="en-US" sz="10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828800" y="-2286000"/>
            <a:ext cx="5029200" cy="5029200"/>
          </a:xfrm>
          <a:prstGeom prst="ellipse">
            <a:avLst/>
          </a:prstGeom>
          <a:solidFill>
            <a:srgbClr val="1E293B">
              <a:alpha val="50000"/>
            </a:srgbClr>
          </a:solidFill>
          <a:ln/>
        </p:spPr>
      </p:sp>
      <p:sp>
        <p:nvSpPr>
          <p:cNvPr id="3" name="Shape 1"/>
          <p:cNvSpPr/>
          <p:nvPr/>
        </p:nvSpPr>
        <p:spPr>
          <a:xfrm>
            <a:off x="9875520" y="4389120"/>
            <a:ext cx="4114800" cy="4114800"/>
          </a:xfrm>
          <a:prstGeom prst="ellipse">
            <a:avLst/>
          </a:prstGeom>
          <a:solidFill>
            <a:srgbClr val="1E293B">
              <a:alpha val="42000"/>
            </a:srgbClr>
          </a:solidFill>
          <a:ln/>
        </p:spPr>
      </p:sp>
      <p:sp>
        <p:nvSpPr>
          <p:cNvPr id="4" name="Shape 2"/>
          <p:cNvSpPr/>
          <p:nvPr/>
        </p:nvSpPr>
        <p:spPr>
          <a:xfrm>
            <a:off x="822960" y="1828800"/>
            <a:ext cx="777240" cy="777240"/>
          </a:xfrm>
          <a:prstGeom prst="ellipse">
            <a:avLst/>
          </a:prstGeom>
          <a:solidFill>
            <a:srgbClr val="1E293B"/>
          </a:solidFill>
          <a:ln/>
        </p:spPr>
      </p:sp>
      <p:pic>
        <p:nvPicPr>
          <p:cNvPr id="5" name="Image 0" descr="preencoded.png"/>
          <p:cNvPicPr>
            <a:picLocks noChangeAspect="1"/>
          </p:cNvPicPr>
          <p:nvPr/>
        </p:nvPicPr>
        <p:blipFill>
          <a:blip r:embed="rId1"/>
          <a:stretch>
            <a:fillRect/>
          </a:stretch>
        </p:blipFill>
        <p:spPr>
          <a:xfrm>
            <a:off x="1017270" y="2023110"/>
            <a:ext cx="388620" cy="388620"/>
          </a:xfrm>
          <a:prstGeom prst="rect">
            <a:avLst/>
          </a:prstGeom>
        </p:spPr>
      </p:pic>
      <p:sp>
        <p:nvSpPr>
          <p:cNvPr id="6" name="Text 3"/>
          <p:cNvSpPr/>
          <p:nvPr/>
        </p:nvSpPr>
        <p:spPr>
          <a:xfrm>
            <a:off x="822960" y="2788920"/>
            <a:ext cx="9144000" cy="320040"/>
          </a:xfrm>
          <a:prstGeom prst="rect">
            <a:avLst/>
          </a:prstGeom>
          <a:noFill/>
          <a:ln/>
        </p:spPr>
        <p:txBody>
          <a:bodyPr wrap="square" lIns="0" tIns="0" rIns="0" bIns="0" rtlCol="0" anchor="ctr"/>
          <a:lstStyle/>
          <a:p>
            <a:pPr indent="0" marL="0">
              <a:buNone/>
            </a:pPr>
            <a:r>
              <a:rPr lang="en-US" sz="1300" b="1" spc="200" kern="0" dirty="0">
                <a:solidFill>
                  <a:srgbClr val="60A5FA"/>
                </a:solidFill>
                <a:latin typeface="Calibri" pitchFamily="34" charset="0"/>
                <a:ea typeface="Calibri" pitchFamily="34" charset="-122"/>
                <a:cs typeface="Calibri" pitchFamily="34" charset="-120"/>
              </a:rPr>
              <a:t>PART 01</a:t>
            </a:r>
            <a:endParaRPr lang="en-US" sz="1300" dirty="0"/>
          </a:p>
        </p:txBody>
      </p:sp>
      <p:sp>
        <p:nvSpPr>
          <p:cNvPr id="7" name="Text 4"/>
          <p:cNvSpPr/>
          <p:nvPr/>
        </p:nvSpPr>
        <p:spPr>
          <a:xfrm>
            <a:off x="777240" y="3154680"/>
            <a:ext cx="10058400" cy="100584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General Context</a:t>
            </a:r>
            <a:endParaRPr lang="en-US" sz="3800" dirty="0"/>
          </a:p>
        </p:txBody>
      </p:sp>
      <p:sp>
        <p:nvSpPr>
          <p:cNvPr id="8" name="Text 5"/>
          <p:cNvSpPr/>
          <p:nvPr/>
        </p:nvSpPr>
        <p:spPr>
          <a:xfrm>
            <a:off x="822960" y="4160520"/>
            <a:ext cx="9144000" cy="548640"/>
          </a:xfrm>
          <a:prstGeom prst="rect">
            <a:avLst/>
          </a:prstGeom>
          <a:noFill/>
          <a:ln/>
        </p:spPr>
        <p:txBody>
          <a:bodyPr wrap="square" lIns="0" tIns="0" rIns="0" bIns="0" rtlCol="0" anchor="ctr"/>
          <a:lstStyle/>
          <a:p>
            <a:pPr indent="0" marL="0">
              <a:lnSpc>
                <a:spcPct val="125000"/>
              </a:lnSpc>
              <a:buNone/>
            </a:pPr>
            <a:r>
              <a:rPr lang="en-US" sz="1400" dirty="0">
                <a:solidFill>
                  <a:srgbClr val="CBD5E1"/>
                </a:solidFill>
                <a:latin typeface="Calibri" pitchFamily="34" charset="0"/>
                <a:ea typeface="Calibri" pitchFamily="34" charset="-122"/>
                <a:cs typeface="Calibri" pitchFamily="34" charset="-120"/>
              </a:rPr>
              <a:t>Why Amaris needed this platform — and why existing tools weren't the answer</a:t>
            </a:r>
            <a:endParaRPr lang="en-US" sz="14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37215" y="5120640"/>
            <a:ext cx="3291840" cy="3291840"/>
          </a:xfrm>
          <a:prstGeom prst="ellipse">
            <a:avLst/>
          </a:prstGeom>
          <a:solidFill>
            <a:srgbClr val="EFF6FF">
              <a:alpha val="45000"/>
            </a:srgbClr>
          </a:solidFill>
          <a:ln/>
        </p:spPr>
      </p:sp>
      <p:sp>
        <p:nvSpPr>
          <p:cNvPr id="3" name="Text 1"/>
          <p:cNvSpPr/>
          <p:nvPr/>
        </p:nvSpPr>
        <p:spPr>
          <a:xfrm>
            <a:off x="640080" y="411480"/>
            <a:ext cx="8229600" cy="320040"/>
          </a:xfrm>
          <a:prstGeom prst="rect">
            <a:avLst/>
          </a:prstGeom>
          <a:noFill/>
          <a:ln/>
        </p:spPr>
        <p:txBody>
          <a:bodyPr wrap="square" lIns="0" tIns="0" rIns="0" bIns="0" rtlCol="0" anchor="ctr"/>
          <a:lstStyle/>
          <a:p>
            <a:pPr indent="0" marL="0">
              <a:buNone/>
            </a:pPr>
            <a:r>
              <a:rPr lang="en-US" sz="1250" b="1" spc="200" kern="0" dirty="0">
                <a:solidFill>
                  <a:srgbClr val="2563EB"/>
                </a:solidFill>
                <a:latin typeface="Calibri" pitchFamily="34" charset="0"/>
                <a:ea typeface="Calibri" pitchFamily="34" charset="-122"/>
                <a:cs typeface="Calibri" pitchFamily="34" charset="-120"/>
              </a:rPr>
              <a:t>CONTEXT</a:t>
            </a:r>
            <a:endParaRPr lang="en-US" sz="1250" dirty="0"/>
          </a:p>
        </p:txBody>
      </p:sp>
      <p:sp>
        <p:nvSpPr>
          <p:cNvPr id="4" name="Text 2"/>
          <p:cNvSpPr/>
          <p:nvPr/>
        </p:nvSpPr>
        <p:spPr>
          <a:xfrm>
            <a:off x="640080" y="713232"/>
            <a:ext cx="10515600"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Host Organisation — Amaris Consulting</a:t>
            </a:r>
            <a:endParaRPr lang="en-US" sz="2800" dirty="0"/>
          </a:p>
        </p:txBody>
      </p:sp>
      <p:sp>
        <p:nvSpPr>
          <p:cNvPr id="5" name="Shape 3"/>
          <p:cNvSpPr/>
          <p:nvPr/>
        </p:nvSpPr>
        <p:spPr>
          <a:xfrm>
            <a:off x="640080" y="1874520"/>
            <a:ext cx="6126480" cy="4206240"/>
          </a:xfrm>
          <a:prstGeom prst="rect">
            <a:avLst/>
          </a:prstGeom>
          <a:solidFill>
            <a:srgbClr val="F8FAFC"/>
          </a:solidFill>
          <a:ln w="12700">
            <a:solidFill>
              <a:srgbClr val="E2E8F0"/>
            </a:solidFill>
            <a:prstDash val="solid"/>
          </a:ln>
        </p:spPr>
      </p:sp>
      <p:sp>
        <p:nvSpPr>
          <p:cNvPr id="6" name="Shape 4"/>
          <p:cNvSpPr/>
          <p:nvPr/>
        </p:nvSpPr>
        <p:spPr>
          <a:xfrm>
            <a:off x="960120" y="2194560"/>
            <a:ext cx="685800" cy="685800"/>
          </a:xfrm>
          <a:prstGeom prst="ellipse">
            <a:avLst/>
          </a:prstGeom>
          <a:solidFill>
            <a:srgbClr val="EFF6FF"/>
          </a:solidFill>
          <a:ln/>
        </p:spPr>
      </p:sp>
      <p:pic>
        <p:nvPicPr>
          <p:cNvPr id="7" name="Image 0" descr="preencoded.png"/>
          <p:cNvPicPr>
            <a:picLocks noChangeAspect="1"/>
          </p:cNvPicPr>
          <p:nvPr/>
        </p:nvPicPr>
        <p:blipFill>
          <a:blip r:embed="rId1"/>
          <a:stretch>
            <a:fillRect/>
          </a:stretch>
        </p:blipFill>
        <p:spPr>
          <a:xfrm>
            <a:off x="1131570" y="2366010"/>
            <a:ext cx="342900" cy="342900"/>
          </a:xfrm>
          <a:prstGeom prst="rect">
            <a:avLst/>
          </a:prstGeom>
        </p:spPr>
      </p:pic>
      <p:sp>
        <p:nvSpPr>
          <p:cNvPr id="8" name="Text 5"/>
          <p:cNvSpPr/>
          <p:nvPr/>
        </p:nvSpPr>
        <p:spPr>
          <a:xfrm>
            <a:off x="1828800" y="2240280"/>
            <a:ext cx="4754880" cy="64008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Independent international consulting firm, founded 2007</a:t>
            </a:r>
            <a:endParaRPr lang="en-US" sz="1400" dirty="0"/>
          </a:p>
        </p:txBody>
      </p:sp>
      <p:sp>
        <p:nvSpPr>
          <p:cNvPr id="9" name="Shape 6"/>
          <p:cNvSpPr/>
          <p:nvPr/>
        </p:nvSpPr>
        <p:spPr>
          <a:xfrm>
            <a:off x="960120" y="3063240"/>
            <a:ext cx="292608" cy="292608"/>
          </a:xfrm>
          <a:prstGeom prst="ellipse">
            <a:avLst/>
          </a:prstGeom>
          <a:solidFill>
            <a:srgbClr val="FFFFFF"/>
          </a:solidFill>
          <a:ln/>
        </p:spPr>
      </p:sp>
      <p:pic>
        <p:nvPicPr>
          <p:cNvPr id="10" name="Image 1" descr="preencoded.png"/>
          <p:cNvPicPr>
            <a:picLocks noChangeAspect="1"/>
          </p:cNvPicPr>
          <p:nvPr/>
        </p:nvPicPr>
        <p:blipFill>
          <a:blip r:embed="rId2"/>
          <a:stretch>
            <a:fillRect/>
          </a:stretch>
        </p:blipFill>
        <p:spPr>
          <a:xfrm>
            <a:off x="1011326" y="3114446"/>
            <a:ext cx="190195" cy="190195"/>
          </a:xfrm>
          <a:prstGeom prst="rect">
            <a:avLst/>
          </a:prstGeom>
        </p:spPr>
      </p:pic>
      <p:sp>
        <p:nvSpPr>
          <p:cNvPr id="11" name="Text 7"/>
          <p:cNvSpPr/>
          <p:nvPr/>
        </p:nvSpPr>
        <p:spPr>
          <a:xfrm>
            <a:off x="1417320" y="3026664"/>
            <a:ext cx="5166360" cy="502920"/>
          </a:xfrm>
          <a:prstGeom prst="rect">
            <a:avLst/>
          </a:prstGeom>
          <a:noFill/>
          <a:ln/>
        </p:spPr>
        <p:txBody>
          <a:bodyPr wrap="square" lIns="0" tIns="0" rIns="0" bIns="0" rtlCol="0" anchor="t"/>
          <a:lstStyle/>
          <a:p>
            <a:pPr indent="0" marL="0">
              <a:buNone/>
            </a:pPr>
            <a:r>
              <a:rPr lang="en-US" sz="1250" dirty="0">
                <a:solidFill>
                  <a:srgbClr val="475569"/>
                </a:solidFill>
                <a:latin typeface="Calibri" pitchFamily="34" charset="0"/>
                <a:ea typeface="Calibri" pitchFamily="34" charset="-122"/>
                <a:cs typeface="Calibri" pitchFamily="34" charset="-120"/>
              </a:rPr>
              <a:t>60+ countries, 7,500+ consultants worldwide</a:t>
            </a:r>
            <a:endParaRPr lang="en-US" sz="1250" dirty="0"/>
          </a:p>
        </p:txBody>
      </p:sp>
      <p:sp>
        <p:nvSpPr>
          <p:cNvPr id="12" name="Shape 8"/>
          <p:cNvSpPr/>
          <p:nvPr/>
        </p:nvSpPr>
        <p:spPr>
          <a:xfrm>
            <a:off x="960120" y="3776472"/>
            <a:ext cx="292608" cy="292608"/>
          </a:xfrm>
          <a:prstGeom prst="ellipse">
            <a:avLst/>
          </a:prstGeom>
          <a:solidFill>
            <a:srgbClr val="FFFFFF"/>
          </a:solidFill>
          <a:ln/>
        </p:spPr>
      </p:sp>
      <p:pic>
        <p:nvPicPr>
          <p:cNvPr id="13" name="Image 2" descr="preencoded.png"/>
          <p:cNvPicPr>
            <a:picLocks noChangeAspect="1"/>
          </p:cNvPicPr>
          <p:nvPr/>
        </p:nvPicPr>
        <p:blipFill>
          <a:blip r:embed="rId3"/>
          <a:stretch>
            <a:fillRect/>
          </a:stretch>
        </p:blipFill>
        <p:spPr>
          <a:xfrm>
            <a:off x="1011326" y="3827678"/>
            <a:ext cx="190195" cy="190195"/>
          </a:xfrm>
          <a:prstGeom prst="rect">
            <a:avLst/>
          </a:prstGeom>
        </p:spPr>
      </p:pic>
      <p:sp>
        <p:nvSpPr>
          <p:cNvPr id="14" name="Text 9"/>
          <p:cNvSpPr/>
          <p:nvPr/>
        </p:nvSpPr>
        <p:spPr>
          <a:xfrm>
            <a:off x="1417320" y="3739896"/>
            <a:ext cx="5166360" cy="502920"/>
          </a:xfrm>
          <a:prstGeom prst="rect">
            <a:avLst/>
          </a:prstGeom>
          <a:noFill/>
          <a:ln/>
        </p:spPr>
        <p:txBody>
          <a:bodyPr wrap="square" lIns="0" tIns="0" rIns="0" bIns="0" rtlCol="0" anchor="t"/>
          <a:lstStyle/>
          <a:p>
            <a:pPr indent="0" marL="0">
              <a:buNone/>
            </a:pPr>
            <a:r>
              <a:rPr lang="en-US" sz="1250" dirty="0">
                <a:solidFill>
                  <a:srgbClr val="475569"/>
                </a:solidFill>
                <a:latin typeface="Calibri" pitchFamily="34" charset="0"/>
                <a:ea typeface="Calibri" pitchFamily="34" charset="-122"/>
                <a:cs typeface="Calibri" pitchFamily="34" charset="-120"/>
              </a:rPr>
              <a:t>Finance, telecom, healthcare, energy, industry</a:t>
            </a:r>
            <a:endParaRPr lang="en-US" sz="1250" dirty="0"/>
          </a:p>
        </p:txBody>
      </p:sp>
      <p:sp>
        <p:nvSpPr>
          <p:cNvPr id="15" name="Shape 10"/>
          <p:cNvSpPr/>
          <p:nvPr/>
        </p:nvSpPr>
        <p:spPr>
          <a:xfrm>
            <a:off x="960120" y="4489704"/>
            <a:ext cx="292608" cy="292608"/>
          </a:xfrm>
          <a:prstGeom prst="ellipse">
            <a:avLst/>
          </a:prstGeom>
          <a:solidFill>
            <a:srgbClr val="FFFFFF"/>
          </a:solidFill>
          <a:ln/>
        </p:spPr>
      </p:sp>
      <p:pic>
        <p:nvPicPr>
          <p:cNvPr id="16" name="Image 3" descr="preencoded.png"/>
          <p:cNvPicPr>
            <a:picLocks noChangeAspect="1"/>
          </p:cNvPicPr>
          <p:nvPr/>
        </p:nvPicPr>
        <p:blipFill>
          <a:blip r:embed="rId4"/>
          <a:stretch>
            <a:fillRect/>
          </a:stretch>
        </p:blipFill>
        <p:spPr>
          <a:xfrm>
            <a:off x="1011326" y="4540910"/>
            <a:ext cx="190195" cy="190195"/>
          </a:xfrm>
          <a:prstGeom prst="rect">
            <a:avLst/>
          </a:prstGeom>
        </p:spPr>
      </p:pic>
      <p:sp>
        <p:nvSpPr>
          <p:cNvPr id="17" name="Text 11"/>
          <p:cNvSpPr/>
          <p:nvPr/>
        </p:nvSpPr>
        <p:spPr>
          <a:xfrm>
            <a:off x="1417320" y="4453128"/>
            <a:ext cx="5166360" cy="502920"/>
          </a:xfrm>
          <a:prstGeom prst="rect">
            <a:avLst/>
          </a:prstGeom>
          <a:noFill/>
          <a:ln/>
        </p:spPr>
        <p:txBody>
          <a:bodyPr wrap="square" lIns="0" tIns="0" rIns="0" bIns="0" rtlCol="0" anchor="t"/>
          <a:lstStyle/>
          <a:p>
            <a:pPr indent="0" marL="0">
              <a:buNone/>
            </a:pPr>
            <a:r>
              <a:rPr lang="en-US" sz="1250" dirty="0">
                <a:solidFill>
                  <a:srgbClr val="475569"/>
                </a:solidFill>
                <a:latin typeface="Calibri" pitchFamily="34" charset="0"/>
                <a:ea typeface="Calibri" pitchFamily="34" charset="-122"/>
                <a:cs typeface="Calibri" pitchFamily="34" charset="-120"/>
              </a:rPr>
              <a:t>IT consulting, business transformation, engineering</a:t>
            </a:r>
            <a:endParaRPr lang="en-US" sz="1250" dirty="0"/>
          </a:p>
        </p:txBody>
      </p:sp>
      <p:sp>
        <p:nvSpPr>
          <p:cNvPr id="18" name="Shape 12"/>
          <p:cNvSpPr/>
          <p:nvPr/>
        </p:nvSpPr>
        <p:spPr>
          <a:xfrm>
            <a:off x="960120" y="5202936"/>
            <a:ext cx="292608" cy="292608"/>
          </a:xfrm>
          <a:prstGeom prst="ellipse">
            <a:avLst/>
          </a:prstGeom>
          <a:solidFill>
            <a:srgbClr val="FFFFFF"/>
          </a:solidFill>
          <a:ln/>
        </p:spPr>
      </p:sp>
      <p:pic>
        <p:nvPicPr>
          <p:cNvPr id="19" name="Image 4" descr="preencoded.png"/>
          <p:cNvPicPr>
            <a:picLocks noChangeAspect="1"/>
          </p:cNvPicPr>
          <p:nvPr/>
        </p:nvPicPr>
        <p:blipFill>
          <a:blip r:embed="rId5"/>
          <a:stretch>
            <a:fillRect/>
          </a:stretch>
        </p:blipFill>
        <p:spPr>
          <a:xfrm>
            <a:off x="1011326" y="5254142"/>
            <a:ext cx="190195" cy="190195"/>
          </a:xfrm>
          <a:prstGeom prst="rect">
            <a:avLst/>
          </a:prstGeom>
        </p:spPr>
      </p:pic>
      <p:sp>
        <p:nvSpPr>
          <p:cNvPr id="20" name="Text 13"/>
          <p:cNvSpPr/>
          <p:nvPr/>
        </p:nvSpPr>
        <p:spPr>
          <a:xfrm>
            <a:off x="1417320" y="5166360"/>
            <a:ext cx="5166360" cy="502920"/>
          </a:xfrm>
          <a:prstGeom prst="rect">
            <a:avLst/>
          </a:prstGeom>
          <a:noFill/>
          <a:ln/>
        </p:spPr>
        <p:txBody>
          <a:bodyPr wrap="square" lIns="0" tIns="0" rIns="0" bIns="0" rtlCol="0" anchor="t"/>
          <a:lstStyle/>
          <a:p>
            <a:pPr indent="0" marL="0">
              <a:buNone/>
            </a:pPr>
            <a:r>
              <a:rPr lang="en-US" sz="1250" dirty="0">
                <a:solidFill>
                  <a:srgbClr val="475569"/>
                </a:solidFill>
                <a:latin typeface="Calibri" pitchFamily="34" charset="0"/>
                <a:ea typeface="Calibri" pitchFamily="34" charset="-122"/>
                <a:cs typeface="Calibri" pitchFamily="34" charset="-120"/>
              </a:rPr>
              <a:t>Project carried out within the DCI team (Data &amp; Business Intelligence) — 11 members, Tunisia &amp; France</a:t>
            </a:r>
            <a:endParaRPr lang="en-US" sz="1250" dirty="0"/>
          </a:p>
        </p:txBody>
      </p:sp>
      <p:sp>
        <p:nvSpPr>
          <p:cNvPr id="21" name="Shape 14"/>
          <p:cNvSpPr/>
          <p:nvPr/>
        </p:nvSpPr>
        <p:spPr>
          <a:xfrm>
            <a:off x="6995160" y="1874520"/>
            <a:ext cx="4572000" cy="4206240"/>
          </a:xfrm>
          <a:prstGeom prst="rect">
            <a:avLst/>
          </a:prstGeom>
          <a:solidFill>
            <a:srgbClr val="0F172A"/>
          </a:solidFill>
          <a:ln/>
        </p:spPr>
      </p:sp>
      <p:sp>
        <p:nvSpPr>
          <p:cNvPr id="22" name="Shape 15"/>
          <p:cNvSpPr/>
          <p:nvPr/>
        </p:nvSpPr>
        <p:spPr>
          <a:xfrm>
            <a:off x="7315200" y="2194560"/>
            <a:ext cx="640080" cy="640080"/>
          </a:xfrm>
          <a:prstGeom prst="ellipse">
            <a:avLst/>
          </a:prstGeom>
          <a:solidFill>
            <a:srgbClr val="1E293B"/>
          </a:solidFill>
          <a:ln/>
        </p:spPr>
      </p:sp>
      <p:pic>
        <p:nvPicPr>
          <p:cNvPr id="23" name="Image 5" descr="preencoded.png"/>
          <p:cNvPicPr>
            <a:picLocks noChangeAspect="1"/>
          </p:cNvPicPr>
          <p:nvPr/>
        </p:nvPicPr>
        <p:blipFill>
          <a:blip r:embed="rId6"/>
          <a:stretch>
            <a:fillRect/>
          </a:stretch>
        </p:blipFill>
        <p:spPr>
          <a:xfrm>
            <a:off x="7459218" y="2338578"/>
            <a:ext cx="352044" cy="352044"/>
          </a:xfrm>
          <a:prstGeom prst="rect">
            <a:avLst/>
          </a:prstGeom>
        </p:spPr>
      </p:pic>
      <p:sp>
        <p:nvSpPr>
          <p:cNvPr id="24" name="Text 16"/>
          <p:cNvSpPr/>
          <p:nvPr/>
        </p:nvSpPr>
        <p:spPr>
          <a:xfrm>
            <a:off x="7315200" y="2971800"/>
            <a:ext cx="39319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Internal tooling culture</a:t>
            </a:r>
            <a:endParaRPr lang="en-US" sz="1400" dirty="0"/>
          </a:p>
        </p:txBody>
      </p:sp>
      <p:sp>
        <p:nvSpPr>
          <p:cNvPr id="25" name="Text 17"/>
          <p:cNvSpPr/>
          <p:nvPr/>
        </p:nvSpPr>
        <p:spPr>
          <a:xfrm>
            <a:off x="7315200" y="3383280"/>
            <a:ext cx="3931920" cy="2468880"/>
          </a:xfrm>
          <a:prstGeom prst="rect">
            <a:avLst/>
          </a:prstGeom>
          <a:noFill/>
          <a:ln/>
        </p:spPr>
        <p:txBody>
          <a:bodyPr wrap="square" lIns="0" tIns="0" rIns="0" bIns="0" rtlCol="0" anchor="ctr"/>
          <a:lstStyle/>
          <a:p>
            <a:pPr indent="0" marL="0">
              <a:lnSpc>
                <a:spcPct val="130000"/>
              </a:lnSpc>
              <a:buNone/>
            </a:pPr>
            <a:r>
              <a:rPr lang="en-US" sz="1250" dirty="0">
                <a:solidFill>
                  <a:srgbClr val="CBD5E1"/>
                </a:solidFill>
                <a:latin typeface="Calibri" pitchFamily="34" charset="0"/>
                <a:ea typeface="Calibri" pitchFamily="34" charset="-122"/>
                <a:cs typeface="Calibri" pitchFamily="34" charset="-120"/>
              </a:rPr>
              <a:t>Amaris regularly invests in internal automation projects to improve technical team efficiency and delivery reliability — this platform is one of them.</a:t>
            </a:r>
            <a:endParaRPr lang="en-US" sz="1250" dirty="0"/>
          </a:p>
        </p:txBody>
      </p:sp>
      <p:sp>
        <p:nvSpPr>
          <p:cNvPr id="26" name="Text 18"/>
          <p:cNvSpPr/>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03</a:t>
            </a:r>
            <a:endParaRPr lang="en-US" sz="1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37215" y="5120640"/>
            <a:ext cx="3291840" cy="3291840"/>
          </a:xfrm>
          <a:prstGeom prst="ellipse">
            <a:avLst/>
          </a:prstGeom>
          <a:solidFill>
            <a:srgbClr val="EFF6FF">
              <a:alpha val="45000"/>
            </a:srgbClr>
          </a:solidFill>
          <a:ln/>
        </p:spPr>
      </p:sp>
      <p:sp>
        <p:nvSpPr>
          <p:cNvPr id="3" name="Text 1"/>
          <p:cNvSpPr/>
          <p:nvPr/>
        </p:nvSpPr>
        <p:spPr>
          <a:xfrm>
            <a:off x="640080" y="411480"/>
            <a:ext cx="8229600" cy="320040"/>
          </a:xfrm>
          <a:prstGeom prst="rect">
            <a:avLst/>
          </a:prstGeom>
          <a:noFill/>
          <a:ln/>
        </p:spPr>
        <p:txBody>
          <a:bodyPr wrap="square" lIns="0" tIns="0" rIns="0" bIns="0" rtlCol="0" anchor="ctr"/>
          <a:lstStyle/>
          <a:p>
            <a:pPr indent="0" marL="0">
              <a:buNone/>
            </a:pPr>
            <a:r>
              <a:rPr lang="en-US" sz="1250" b="1" spc="200" kern="0" dirty="0">
                <a:solidFill>
                  <a:srgbClr val="DC2626"/>
                </a:solidFill>
                <a:latin typeface="Calibri" pitchFamily="34" charset="0"/>
                <a:ea typeface="Calibri" pitchFamily="34" charset="-122"/>
                <a:cs typeface="Calibri" pitchFamily="34" charset="-120"/>
              </a:rPr>
              <a:t>CONTEXT</a:t>
            </a:r>
            <a:endParaRPr lang="en-US" sz="1250" dirty="0"/>
          </a:p>
        </p:txBody>
      </p:sp>
      <p:sp>
        <p:nvSpPr>
          <p:cNvPr id="4" name="Text 2"/>
          <p:cNvSpPr/>
          <p:nvPr/>
        </p:nvSpPr>
        <p:spPr>
          <a:xfrm>
            <a:off x="640080" y="713232"/>
            <a:ext cx="10515600"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The operational gap</a:t>
            </a:r>
            <a:endParaRPr lang="en-US" sz="2800" dirty="0"/>
          </a:p>
        </p:txBody>
      </p:sp>
      <p:sp>
        <p:nvSpPr>
          <p:cNvPr id="5" name="Text 3"/>
          <p:cNvSpPr/>
          <p:nvPr/>
        </p:nvSpPr>
        <p:spPr>
          <a:xfrm>
            <a:off x="640080" y="1417320"/>
            <a:ext cx="10058400" cy="36576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ETL pipelines were run manually — entirely dependent on individual technical knowledge</a:t>
            </a:r>
            <a:endParaRPr lang="en-US" sz="1350" dirty="0"/>
          </a:p>
        </p:txBody>
      </p:sp>
      <p:sp>
        <p:nvSpPr>
          <p:cNvPr id="6" name="Shape 4"/>
          <p:cNvSpPr/>
          <p:nvPr/>
        </p:nvSpPr>
        <p:spPr>
          <a:xfrm>
            <a:off x="640080" y="2057400"/>
            <a:ext cx="3454298" cy="1874520"/>
          </a:xfrm>
          <a:prstGeom prst="rect">
            <a:avLst/>
          </a:prstGeom>
          <a:solidFill>
            <a:srgbClr val="FFFFFF"/>
          </a:solidFill>
          <a:ln w="12700">
            <a:solidFill>
              <a:srgbClr val="E2E8F0"/>
            </a:solidFill>
            <a:prstDash val="solid"/>
          </a:ln>
          <a:effectLst>
            <a:outerShdw sx="100000" sy="100000" kx="0" ky="0" algn="bl" rotWithShape="0" blurRad="114300" dist="38100" dir="8100000">
              <a:srgbClr val="0F172A">
                <a:alpha val="12000"/>
              </a:srgbClr>
            </a:outerShdw>
          </a:effectLst>
        </p:spPr>
      </p:sp>
      <p:sp>
        <p:nvSpPr>
          <p:cNvPr id="7" name="Shape 5"/>
          <p:cNvSpPr/>
          <p:nvPr/>
        </p:nvSpPr>
        <p:spPr>
          <a:xfrm>
            <a:off x="868680" y="2286000"/>
            <a:ext cx="502920" cy="502920"/>
          </a:xfrm>
          <a:prstGeom prst="ellipse">
            <a:avLst/>
          </a:prstGeom>
          <a:solidFill>
            <a:srgbClr val="FEF2F2"/>
          </a:solidFill>
          <a:ln/>
        </p:spPr>
      </p:sp>
      <p:pic>
        <p:nvPicPr>
          <p:cNvPr id="8" name="Image 0" descr="preencoded.png"/>
          <p:cNvPicPr>
            <a:picLocks noChangeAspect="1"/>
          </p:cNvPicPr>
          <p:nvPr/>
        </p:nvPicPr>
        <p:blipFill>
          <a:blip r:embed="rId1"/>
          <a:stretch>
            <a:fillRect/>
          </a:stretch>
        </p:blipFill>
        <p:spPr>
          <a:xfrm>
            <a:off x="981837" y="2399157"/>
            <a:ext cx="276606" cy="276606"/>
          </a:xfrm>
          <a:prstGeom prst="rect">
            <a:avLst/>
          </a:prstGeom>
        </p:spPr>
      </p:pic>
      <p:sp>
        <p:nvSpPr>
          <p:cNvPr id="9" name="Text 6"/>
          <p:cNvSpPr/>
          <p:nvPr/>
        </p:nvSpPr>
        <p:spPr>
          <a:xfrm>
            <a:off x="1508760" y="2286000"/>
            <a:ext cx="2357018" cy="5029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Manual CLI execution</a:t>
            </a:r>
            <a:endParaRPr lang="en-US" sz="1300" dirty="0"/>
          </a:p>
        </p:txBody>
      </p:sp>
      <p:sp>
        <p:nvSpPr>
          <p:cNvPr id="10" name="Text 7"/>
          <p:cNvSpPr/>
          <p:nvPr/>
        </p:nvSpPr>
        <p:spPr>
          <a:xfrm>
            <a:off x="868680" y="2926080"/>
            <a:ext cx="2997098" cy="914400"/>
          </a:xfrm>
          <a:prstGeom prst="rect">
            <a:avLst/>
          </a:prstGeom>
          <a:noFill/>
          <a:ln/>
        </p:spPr>
        <p:txBody>
          <a:bodyPr wrap="square" lIns="0" tIns="0" rIns="0" bIns="0" rtlCol="0" anchor="ctr"/>
          <a:lstStyle/>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Every run needed a developer to set up venvs &amp; paths by hand</a:t>
            </a:r>
            <a:endParaRPr lang="en-US" sz="1100" dirty="0"/>
          </a:p>
        </p:txBody>
      </p:sp>
      <p:sp>
        <p:nvSpPr>
          <p:cNvPr id="11" name="Shape 8"/>
          <p:cNvSpPr/>
          <p:nvPr/>
        </p:nvSpPr>
        <p:spPr>
          <a:xfrm>
            <a:off x="4368698" y="2057400"/>
            <a:ext cx="3454298" cy="1874520"/>
          </a:xfrm>
          <a:prstGeom prst="rect">
            <a:avLst/>
          </a:prstGeom>
          <a:solidFill>
            <a:srgbClr val="FFFFFF"/>
          </a:solidFill>
          <a:ln w="12700">
            <a:solidFill>
              <a:srgbClr val="E2E8F0"/>
            </a:solidFill>
            <a:prstDash val="solid"/>
          </a:ln>
          <a:effectLst>
            <a:outerShdw sx="100000" sy="100000" kx="0" ky="0" algn="bl" rotWithShape="0" blurRad="114300" dist="38100" dir="8100000">
              <a:srgbClr val="0F172A">
                <a:alpha val="12000"/>
              </a:srgbClr>
            </a:outerShdw>
          </a:effectLst>
        </p:spPr>
      </p:sp>
      <p:sp>
        <p:nvSpPr>
          <p:cNvPr id="12" name="Shape 9"/>
          <p:cNvSpPr/>
          <p:nvPr/>
        </p:nvSpPr>
        <p:spPr>
          <a:xfrm>
            <a:off x="4597298" y="2286000"/>
            <a:ext cx="502920" cy="502920"/>
          </a:xfrm>
          <a:prstGeom prst="ellipse">
            <a:avLst/>
          </a:prstGeom>
          <a:solidFill>
            <a:srgbClr val="FEF2F2"/>
          </a:solidFill>
          <a:ln/>
        </p:spPr>
      </p:sp>
      <p:pic>
        <p:nvPicPr>
          <p:cNvPr id="13" name="Image 1" descr="preencoded.png"/>
          <p:cNvPicPr>
            <a:picLocks noChangeAspect="1"/>
          </p:cNvPicPr>
          <p:nvPr/>
        </p:nvPicPr>
        <p:blipFill>
          <a:blip r:embed="rId2"/>
          <a:stretch>
            <a:fillRect/>
          </a:stretch>
        </p:blipFill>
        <p:spPr>
          <a:xfrm>
            <a:off x="4710455" y="2399157"/>
            <a:ext cx="276606" cy="276606"/>
          </a:xfrm>
          <a:prstGeom prst="rect">
            <a:avLst/>
          </a:prstGeom>
        </p:spPr>
      </p:pic>
      <p:sp>
        <p:nvSpPr>
          <p:cNvPr id="14" name="Text 10"/>
          <p:cNvSpPr/>
          <p:nvPr/>
        </p:nvSpPr>
        <p:spPr>
          <a:xfrm>
            <a:off x="5237378" y="2286000"/>
            <a:ext cx="2357018" cy="5029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No scheduling</a:t>
            </a:r>
            <a:endParaRPr lang="en-US" sz="1300" dirty="0"/>
          </a:p>
        </p:txBody>
      </p:sp>
      <p:sp>
        <p:nvSpPr>
          <p:cNvPr id="15" name="Text 11"/>
          <p:cNvSpPr/>
          <p:nvPr/>
        </p:nvSpPr>
        <p:spPr>
          <a:xfrm>
            <a:off x="4597298" y="2926080"/>
            <a:ext cx="2997098" cy="914400"/>
          </a:xfrm>
          <a:prstGeom prst="rect">
            <a:avLst/>
          </a:prstGeom>
          <a:noFill/>
          <a:ln/>
        </p:spPr>
        <p:txBody>
          <a:bodyPr wrap="square" lIns="0" tIns="0" rIns="0" bIns="0" rtlCol="0" anchor="ctr"/>
          <a:lstStyle/>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Recurring runs triggered manually — risk of missed cycles</a:t>
            </a:r>
            <a:endParaRPr lang="en-US" sz="1100" dirty="0"/>
          </a:p>
        </p:txBody>
      </p:sp>
      <p:sp>
        <p:nvSpPr>
          <p:cNvPr id="16" name="Shape 12"/>
          <p:cNvSpPr/>
          <p:nvPr/>
        </p:nvSpPr>
        <p:spPr>
          <a:xfrm>
            <a:off x="8097317" y="2057400"/>
            <a:ext cx="3454298" cy="1874520"/>
          </a:xfrm>
          <a:prstGeom prst="rect">
            <a:avLst/>
          </a:prstGeom>
          <a:solidFill>
            <a:srgbClr val="FFFFFF"/>
          </a:solidFill>
          <a:ln w="12700">
            <a:solidFill>
              <a:srgbClr val="E2E8F0"/>
            </a:solidFill>
            <a:prstDash val="solid"/>
          </a:ln>
          <a:effectLst>
            <a:outerShdw sx="100000" sy="100000" kx="0" ky="0" algn="bl" rotWithShape="0" blurRad="114300" dist="38100" dir="8100000">
              <a:srgbClr val="0F172A">
                <a:alpha val="12000"/>
              </a:srgbClr>
            </a:outerShdw>
          </a:effectLst>
        </p:spPr>
      </p:sp>
      <p:sp>
        <p:nvSpPr>
          <p:cNvPr id="17" name="Shape 13"/>
          <p:cNvSpPr/>
          <p:nvPr/>
        </p:nvSpPr>
        <p:spPr>
          <a:xfrm>
            <a:off x="8325917" y="2286000"/>
            <a:ext cx="502920" cy="502920"/>
          </a:xfrm>
          <a:prstGeom prst="ellipse">
            <a:avLst/>
          </a:prstGeom>
          <a:solidFill>
            <a:srgbClr val="FEF2F2"/>
          </a:solidFill>
          <a:ln/>
        </p:spPr>
      </p:sp>
      <p:pic>
        <p:nvPicPr>
          <p:cNvPr id="18" name="Image 2" descr="preencoded.png"/>
          <p:cNvPicPr>
            <a:picLocks noChangeAspect="1"/>
          </p:cNvPicPr>
          <p:nvPr/>
        </p:nvPicPr>
        <p:blipFill>
          <a:blip r:embed="rId3"/>
          <a:stretch>
            <a:fillRect/>
          </a:stretch>
        </p:blipFill>
        <p:spPr>
          <a:xfrm>
            <a:off x="8439074" y="2399157"/>
            <a:ext cx="276606" cy="276606"/>
          </a:xfrm>
          <a:prstGeom prst="rect">
            <a:avLst/>
          </a:prstGeom>
        </p:spPr>
      </p:pic>
      <p:sp>
        <p:nvSpPr>
          <p:cNvPr id="19" name="Text 14"/>
          <p:cNvSpPr/>
          <p:nvPr/>
        </p:nvSpPr>
        <p:spPr>
          <a:xfrm>
            <a:off x="8965997" y="2286000"/>
            <a:ext cx="2357018" cy="5029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No pipeline registry</a:t>
            </a:r>
            <a:endParaRPr lang="en-US" sz="1300" dirty="0"/>
          </a:p>
        </p:txBody>
      </p:sp>
      <p:sp>
        <p:nvSpPr>
          <p:cNvPr id="20" name="Text 15"/>
          <p:cNvSpPr/>
          <p:nvPr/>
        </p:nvSpPr>
        <p:spPr>
          <a:xfrm>
            <a:off x="8325917" y="2926080"/>
            <a:ext cx="2997098" cy="914400"/>
          </a:xfrm>
          <a:prstGeom prst="rect">
            <a:avLst/>
          </a:prstGeom>
          <a:noFill/>
          <a:ln/>
        </p:spPr>
        <p:txBody>
          <a:bodyPr wrap="square" lIns="0" tIns="0" rIns="0" bIns="0" rtlCol="0" anchor="ctr"/>
          <a:lstStyle/>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No structured place to register, validate or monitor pipelines</a:t>
            </a:r>
            <a:endParaRPr lang="en-US" sz="1100" dirty="0"/>
          </a:p>
        </p:txBody>
      </p:sp>
      <p:sp>
        <p:nvSpPr>
          <p:cNvPr id="21" name="Shape 16"/>
          <p:cNvSpPr/>
          <p:nvPr/>
        </p:nvSpPr>
        <p:spPr>
          <a:xfrm>
            <a:off x="640080" y="4206240"/>
            <a:ext cx="3454298" cy="1874520"/>
          </a:xfrm>
          <a:prstGeom prst="rect">
            <a:avLst/>
          </a:prstGeom>
          <a:solidFill>
            <a:srgbClr val="FFFFFF"/>
          </a:solidFill>
          <a:ln w="12700">
            <a:solidFill>
              <a:srgbClr val="E2E8F0"/>
            </a:solidFill>
            <a:prstDash val="solid"/>
          </a:ln>
          <a:effectLst>
            <a:outerShdw sx="100000" sy="100000" kx="0" ky="0" algn="bl" rotWithShape="0" blurRad="114300" dist="38100" dir="8100000">
              <a:srgbClr val="0F172A">
                <a:alpha val="12000"/>
              </a:srgbClr>
            </a:outerShdw>
          </a:effectLst>
        </p:spPr>
      </p:sp>
      <p:sp>
        <p:nvSpPr>
          <p:cNvPr id="22" name="Shape 17"/>
          <p:cNvSpPr/>
          <p:nvPr/>
        </p:nvSpPr>
        <p:spPr>
          <a:xfrm>
            <a:off x="868680" y="4434840"/>
            <a:ext cx="502920" cy="502920"/>
          </a:xfrm>
          <a:prstGeom prst="ellipse">
            <a:avLst/>
          </a:prstGeom>
          <a:solidFill>
            <a:srgbClr val="FEF2F2"/>
          </a:solidFill>
          <a:ln/>
        </p:spPr>
      </p:sp>
      <p:pic>
        <p:nvPicPr>
          <p:cNvPr id="23" name="Image 3" descr="preencoded.png"/>
          <p:cNvPicPr>
            <a:picLocks noChangeAspect="1"/>
          </p:cNvPicPr>
          <p:nvPr/>
        </p:nvPicPr>
        <p:blipFill>
          <a:blip r:embed="rId4"/>
          <a:stretch>
            <a:fillRect/>
          </a:stretch>
        </p:blipFill>
        <p:spPr>
          <a:xfrm>
            <a:off x="981837" y="4547997"/>
            <a:ext cx="276606" cy="276606"/>
          </a:xfrm>
          <a:prstGeom prst="rect">
            <a:avLst/>
          </a:prstGeom>
        </p:spPr>
      </p:pic>
      <p:sp>
        <p:nvSpPr>
          <p:cNvPr id="24" name="Text 18"/>
          <p:cNvSpPr/>
          <p:nvPr/>
        </p:nvSpPr>
        <p:spPr>
          <a:xfrm>
            <a:off x="1508760" y="4434840"/>
            <a:ext cx="2357018" cy="5029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No observability</a:t>
            </a:r>
            <a:endParaRPr lang="en-US" sz="1300" dirty="0"/>
          </a:p>
        </p:txBody>
      </p:sp>
      <p:sp>
        <p:nvSpPr>
          <p:cNvPr id="25" name="Text 19"/>
          <p:cNvSpPr/>
          <p:nvPr/>
        </p:nvSpPr>
        <p:spPr>
          <a:xfrm>
            <a:off x="868680" y="5074920"/>
            <a:ext cx="2997098" cy="914400"/>
          </a:xfrm>
          <a:prstGeom prst="rect">
            <a:avLst/>
          </a:prstGeom>
          <a:noFill/>
          <a:ln/>
        </p:spPr>
        <p:txBody>
          <a:bodyPr wrap="square" lIns="0" tIns="0" rIns="0" bIns="0" rtlCol="0" anchor="ctr"/>
          <a:lstStyle/>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Failed runs were hard to diagnose, no execution history</a:t>
            </a:r>
            <a:endParaRPr lang="en-US" sz="1100" dirty="0"/>
          </a:p>
        </p:txBody>
      </p:sp>
      <p:sp>
        <p:nvSpPr>
          <p:cNvPr id="26" name="Shape 20"/>
          <p:cNvSpPr/>
          <p:nvPr/>
        </p:nvSpPr>
        <p:spPr>
          <a:xfrm>
            <a:off x="4368698" y="4206240"/>
            <a:ext cx="3454298" cy="1874520"/>
          </a:xfrm>
          <a:prstGeom prst="rect">
            <a:avLst/>
          </a:prstGeom>
          <a:solidFill>
            <a:srgbClr val="FFFFFF"/>
          </a:solidFill>
          <a:ln w="12700">
            <a:solidFill>
              <a:srgbClr val="E2E8F0"/>
            </a:solidFill>
            <a:prstDash val="solid"/>
          </a:ln>
          <a:effectLst>
            <a:outerShdw sx="100000" sy="100000" kx="0" ky="0" algn="bl" rotWithShape="0" blurRad="114300" dist="38100" dir="8100000">
              <a:srgbClr val="0F172A">
                <a:alpha val="12000"/>
              </a:srgbClr>
            </a:outerShdw>
          </a:effectLst>
        </p:spPr>
      </p:sp>
      <p:sp>
        <p:nvSpPr>
          <p:cNvPr id="27" name="Shape 21"/>
          <p:cNvSpPr/>
          <p:nvPr/>
        </p:nvSpPr>
        <p:spPr>
          <a:xfrm>
            <a:off x="4597298" y="4434840"/>
            <a:ext cx="502920" cy="502920"/>
          </a:xfrm>
          <a:prstGeom prst="ellipse">
            <a:avLst/>
          </a:prstGeom>
          <a:solidFill>
            <a:srgbClr val="FEF2F2"/>
          </a:solidFill>
          <a:ln/>
        </p:spPr>
      </p:sp>
      <p:pic>
        <p:nvPicPr>
          <p:cNvPr id="28" name="Image 4" descr="preencoded.png"/>
          <p:cNvPicPr>
            <a:picLocks noChangeAspect="1"/>
          </p:cNvPicPr>
          <p:nvPr/>
        </p:nvPicPr>
        <p:blipFill>
          <a:blip r:embed="rId5"/>
          <a:stretch>
            <a:fillRect/>
          </a:stretch>
        </p:blipFill>
        <p:spPr>
          <a:xfrm>
            <a:off x="4710455" y="4547997"/>
            <a:ext cx="276606" cy="276606"/>
          </a:xfrm>
          <a:prstGeom prst="rect">
            <a:avLst/>
          </a:prstGeom>
        </p:spPr>
      </p:pic>
      <p:sp>
        <p:nvSpPr>
          <p:cNvPr id="29" name="Text 22"/>
          <p:cNvSpPr/>
          <p:nvPr/>
        </p:nvSpPr>
        <p:spPr>
          <a:xfrm>
            <a:off x="5237378" y="4434840"/>
            <a:ext cx="2357018" cy="5029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No access control</a:t>
            </a:r>
            <a:endParaRPr lang="en-US" sz="1300" dirty="0"/>
          </a:p>
        </p:txBody>
      </p:sp>
      <p:sp>
        <p:nvSpPr>
          <p:cNvPr id="30" name="Text 23"/>
          <p:cNvSpPr/>
          <p:nvPr/>
        </p:nvSpPr>
        <p:spPr>
          <a:xfrm>
            <a:off x="4597298" y="5074920"/>
            <a:ext cx="2997098" cy="914400"/>
          </a:xfrm>
          <a:prstGeom prst="rect">
            <a:avLst/>
          </a:prstGeom>
          <a:noFill/>
          <a:ln/>
        </p:spPr>
        <p:txBody>
          <a:bodyPr wrap="square" lIns="0" tIns="0" rIns="0" bIns="0" rtlCol="0" anchor="ctr"/>
          <a:lstStyle/>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Everyone with codebase access had equal control</a:t>
            </a:r>
            <a:endParaRPr lang="en-US" sz="1100" dirty="0"/>
          </a:p>
        </p:txBody>
      </p:sp>
      <p:sp>
        <p:nvSpPr>
          <p:cNvPr id="31" name="Shape 24"/>
          <p:cNvSpPr/>
          <p:nvPr/>
        </p:nvSpPr>
        <p:spPr>
          <a:xfrm>
            <a:off x="8097317" y="4206240"/>
            <a:ext cx="3454298" cy="1874520"/>
          </a:xfrm>
          <a:prstGeom prst="rect">
            <a:avLst/>
          </a:prstGeom>
          <a:solidFill>
            <a:srgbClr val="FFFFFF"/>
          </a:solidFill>
          <a:ln w="12700">
            <a:solidFill>
              <a:srgbClr val="E2E8F0"/>
            </a:solidFill>
            <a:prstDash val="solid"/>
          </a:ln>
          <a:effectLst>
            <a:outerShdw sx="100000" sy="100000" kx="0" ky="0" algn="bl" rotWithShape="0" blurRad="114300" dist="38100" dir="8100000">
              <a:srgbClr val="0F172A">
                <a:alpha val="12000"/>
              </a:srgbClr>
            </a:outerShdw>
          </a:effectLst>
        </p:spPr>
      </p:sp>
      <p:sp>
        <p:nvSpPr>
          <p:cNvPr id="32" name="Shape 25"/>
          <p:cNvSpPr/>
          <p:nvPr/>
        </p:nvSpPr>
        <p:spPr>
          <a:xfrm>
            <a:off x="8325917" y="4434840"/>
            <a:ext cx="502920" cy="502920"/>
          </a:xfrm>
          <a:prstGeom prst="ellipse">
            <a:avLst/>
          </a:prstGeom>
          <a:solidFill>
            <a:srgbClr val="FEF2F2"/>
          </a:solidFill>
          <a:ln/>
        </p:spPr>
      </p:sp>
      <p:pic>
        <p:nvPicPr>
          <p:cNvPr id="33" name="Image 5" descr="preencoded.png"/>
          <p:cNvPicPr>
            <a:picLocks noChangeAspect="1"/>
          </p:cNvPicPr>
          <p:nvPr/>
        </p:nvPicPr>
        <p:blipFill>
          <a:blip r:embed="rId6"/>
          <a:stretch>
            <a:fillRect/>
          </a:stretch>
        </p:blipFill>
        <p:spPr>
          <a:xfrm>
            <a:off x="8439074" y="4547997"/>
            <a:ext cx="276606" cy="276606"/>
          </a:xfrm>
          <a:prstGeom prst="rect">
            <a:avLst/>
          </a:prstGeom>
        </p:spPr>
      </p:pic>
      <p:sp>
        <p:nvSpPr>
          <p:cNvPr id="34" name="Text 26"/>
          <p:cNvSpPr/>
          <p:nvPr/>
        </p:nvSpPr>
        <p:spPr>
          <a:xfrm>
            <a:off x="8965997" y="4434840"/>
            <a:ext cx="2357018" cy="5029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No notifications</a:t>
            </a:r>
            <a:endParaRPr lang="en-US" sz="1300" dirty="0"/>
          </a:p>
        </p:txBody>
      </p:sp>
      <p:sp>
        <p:nvSpPr>
          <p:cNvPr id="35" name="Text 27"/>
          <p:cNvSpPr/>
          <p:nvPr/>
        </p:nvSpPr>
        <p:spPr>
          <a:xfrm>
            <a:off x="8325917" y="5074920"/>
            <a:ext cx="2997098" cy="914400"/>
          </a:xfrm>
          <a:prstGeom prst="rect">
            <a:avLst/>
          </a:prstGeom>
          <a:noFill/>
          <a:ln/>
        </p:spPr>
        <p:txBody>
          <a:bodyPr wrap="square" lIns="0" tIns="0" rIns="0" bIns="0" rtlCol="0" anchor="ctr"/>
          <a:lstStyle/>
          <a:p>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Results had to be collected and shared manually</a:t>
            </a:r>
            <a:endParaRPr lang="en-US" sz="1100" dirty="0"/>
          </a:p>
        </p:txBody>
      </p:sp>
      <p:sp>
        <p:nvSpPr>
          <p:cNvPr id="36" name="Text 28"/>
          <p:cNvSpPr/>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04</a:t>
            </a:r>
            <a:endParaRPr lang="en-US" sz="10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828800" y="-2286000"/>
            <a:ext cx="5029200" cy="5029200"/>
          </a:xfrm>
          <a:prstGeom prst="ellipse">
            <a:avLst/>
          </a:prstGeom>
          <a:solidFill>
            <a:srgbClr val="1E293B">
              <a:alpha val="50000"/>
            </a:srgbClr>
          </a:solidFill>
          <a:ln/>
        </p:spPr>
      </p:sp>
      <p:sp>
        <p:nvSpPr>
          <p:cNvPr id="3" name="Shape 1"/>
          <p:cNvSpPr/>
          <p:nvPr/>
        </p:nvSpPr>
        <p:spPr>
          <a:xfrm>
            <a:off x="9875520" y="4389120"/>
            <a:ext cx="4114800" cy="4114800"/>
          </a:xfrm>
          <a:prstGeom prst="ellipse">
            <a:avLst/>
          </a:prstGeom>
          <a:solidFill>
            <a:srgbClr val="1E293B">
              <a:alpha val="42000"/>
            </a:srgbClr>
          </a:solidFill>
          <a:ln/>
        </p:spPr>
      </p:sp>
      <p:sp>
        <p:nvSpPr>
          <p:cNvPr id="4" name="Shape 2"/>
          <p:cNvSpPr/>
          <p:nvPr/>
        </p:nvSpPr>
        <p:spPr>
          <a:xfrm>
            <a:off x="822960" y="1828800"/>
            <a:ext cx="777240" cy="777240"/>
          </a:xfrm>
          <a:prstGeom prst="ellipse">
            <a:avLst/>
          </a:prstGeom>
          <a:solidFill>
            <a:srgbClr val="1E293B"/>
          </a:solidFill>
          <a:ln/>
        </p:spPr>
      </p:sp>
      <p:pic>
        <p:nvPicPr>
          <p:cNvPr id="5" name="Image 0" descr="preencoded.png"/>
          <p:cNvPicPr>
            <a:picLocks noChangeAspect="1"/>
          </p:cNvPicPr>
          <p:nvPr/>
        </p:nvPicPr>
        <p:blipFill>
          <a:blip r:embed="rId1"/>
          <a:stretch>
            <a:fillRect/>
          </a:stretch>
        </p:blipFill>
        <p:spPr>
          <a:xfrm>
            <a:off x="1017270" y="2023110"/>
            <a:ext cx="388620" cy="388620"/>
          </a:xfrm>
          <a:prstGeom prst="rect">
            <a:avLst/>
          </a:prstGeom>
        </p:spPr>
      </p:pic>
      <p:sp>
        <p:nvSpPr>
          <p:cNvPr id="6" name="Text 3"/>
          <p:cNvSpPr/>
          <p:nvPr/>
        </p:nvSpPr>
        <p:spPr>
          <a:xfrm>
            <a:off x="822960" y="2788920"/>
            <a:ext cx="9144000" cy="320040"/>
          </a:xfrm>
          <a:prstGeom prst="rect">
            <a:avLst/>
          </a:prstGeom>
          <a:noFill/>
          <a:ln/>
        </p:spPr>
        <p:txBody>
          <a:bodyPr wrap="square" lIns="0" tIns="0" rIns="0" bIns="0" rtlCol="0" anchor="ctr"/>
          <a:lstStyle/>
          <a:p>
            <a:pPr indent="0" marL="0">
              <a:buNone/>
            </a:pPr>
            <a:r>
              <a:rPr lang="en-US" sz="1300" b="1" spc="200" kern="0" dirty="0">
                <a:solidFill>
                  <a:srgbClr val="60A5FA"/>
                </a:solidFill>
                <a:latin typeface="Calibri" pitchFamily="34" charset="0"/>
                <a:ea typeface="Calibri" pitchFamily="34" charset="-122"/>
                <a:cs typeface="Calibri" pitchFamily="34" charset="-120"/>
              </a:rPr>
              <a:t>PART 02</a:t>
            </a:r>
            <a:endParaRPr lang="en-US" sz="1300" dirty="0"/>
          </a:p>
        </p:txBody>
      </p:sp>
      <p:sp>
        <p:nvSpPr>
          <p:cNvPr id="7" name="Text 4"/>
          <p:cNvSpPr/>
          <p:nvPr/>
        </p:nvSpPr>
        <p:spPr>
          <a:xfrm>
            <a:off x="777240" y="3154680"/>
            <a:ext cx="10058400" cy="100584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Proposed Solution</a:t>
            </a:r>
            <a:endParaRPr lang="en-US" sz="3800" dirty="0"/>
          </a:p>
        </p:txBody>
      </p:sp>
      <p:sp>
        <p:nvSpPr>
          <p:cNvPr id="8" name="Text 5"/>
          <p:cNvSpPr/>
          <p:nvPr/>
        </p:nvSpPr>
        <p:spPr>
          <a:xfrm>
            <a:off x="822960" y="4160520"/>
            <a:ext cx="9144000" cy="548640"/>
          </a:xfrm>
          <a:prstGeom prst="rect">
            <a:avLst/>
          </a:prstGeom>
          <a:noFill/>
          <a:ln/>
        </p:spPr>
        <p:txBody>
          <a:bodyPr wrap="square" lIns="0" tIns="0" rIns="0" bIns="0" rtlCol="0" anchor="ctr"/>
          <a:lstStyle/>
          <a:p>
            <a:pPr indent="0" marL="0">
              <a:lnSpc>
                <a:spcPct val="125000"/>
              </a:lnSpc>
              <a:buNone/>
            </a:pPr>
            <a:r>
              <a:rPr lang="en-US" sz="1400" dirty="0">
                <a:solidFill>
                  <a:srgbClr val="CBD5E1"/>
                </a:solidFill>
                <a:latin typeface="Calibri" pitchFamily="34" charset="0"/>
                <a:ea typeface="Calibri" pitchFamily="34" charset="-122"/>
                <a:cs typeface="Calibri" pitchFamily="34" charset="-120"/>
              </a:rPr>
              <a:t>Treat every ETL as a managed, parameterisable workflow unit</a:t>
            </a:r>
            <a:endParaRPr lang="en-US" sz="14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37215" y="5120640"/>
            <a:ext cx="3291840" cy="3291840"/>
          </a:xfrm>
          <a:prstGeom prst="ellipse">
            <a:avLst/>
          </a:prstGeom>
          <a:solidFill>
            <a:srgbClr val="EFF6FF">
              <a:alpha val="45000"/>
            </a:srgbClr>
          </a:solidFill>
          <a:ln/>
        </p:spPr>
      </p:sp>
      <p:sp>
        <p:nvSpPr>
          <p:cNvPr id="3" name="Text 1"/>
          <p:cNvSpPr/>
          <p:nvPr/>
        </p:nvSpPr>
        <p:spPr>
          <a:xfrm>
            <a:off x="640080" y="411480"/>
            <a:ext cx="8229600" cy="320040"/>
          </a:xfrm>
          <a:prstGeom prst="rect">
            <a:avLst/>
          </a:prstGeom>
          <a:noFill/>
          <a:ln/>
        </p:spPr>
        <p:txBody>
          <a:bodyPr wrap="square" lIns="0" tIns="0" rIns="0" bIns="0" rtlCol="0" anchor="ctr"/>
          <a:lstStyle/>
          <a:p>
            <a:pPr indent="0" marL="0">
              <a:buNone/>
            </a:pPr>
            <a:r>
              <a:rPr lang="en-US" sz="1250" b="1" spc="200" kern="0" dirty="0">
                <a:solidFill>
                  <a:srgbClr val="2563EB"/>
                </a:solidFill>
                <a:latin typeface="Calibri" pitchFamily="34" charset="0"/>
                <a:ea typeface="Calibri" pitchFamily="34" charset="-122"/>
                <a:cs typeface="Calibri" pitchFamily="34" charset="-120"/>
              </a:rPr>
              <a:t>SOLUTION</a:t>
            </a:r>
            <a:endParaRPr lang="en-US" sz="1250" dirty="0"/>
          </a:p>
        </p:txBody>
      </p:sp>
      <p:sp>
        <p:nvSpPr>
          <p:cNvPr id="4" name="Text 2"/>
          <p:cNvSpPr/>
          <p:nvPr/>
        </p:nvSpPr>
        <p:spPr>
          <a:xfrm>
            <a:off x="640080" y="713232"/>
            <a:ext cx="10515600"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The proposed approach</a:t>
            </a:r>
            <a:endParaRPr lang="en-US" sz="2800" dirty="0"/>
          </a:p>
        </p:txBody>
      </p:sp>
      <p:sp>
        <p:nvSpPr>
          <p:cNvPr id="5" name="Text 3"/>
          <p:cNvSpPr/>
          <p:nvPr/>
        </p:nvSpPr>
        <p:spPr>
          <a:xfrm>
            <a:off x="640080" y="1417320"/>
            <a:ext cx="10515600" cy="36576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Automate the full lifecycle — without requiring scripting or infrastructure knowledge from end users</a:t>
            </a:r>
            <a:endParaRPr lang="en-US" sz="1350" dirty="0"/>
          </a:p>
        </p:txBody>
      </p:sp>
      <p:sp>
        <p:nvSpPr>
          <p:cNvPr id="6" name="Shape 4"/>
          <p:cNvSpPr/>
          <p:nvPr/>
        </p:nvSpPr>
        <p:spPr>
          <a:xfrm>
            <a:off x="640080" y="2834640"/>
            <a:ext cx="1874520" cy="1417320"/>
          </a:xfrm>
          <a:prstGeom prst="rect">
            <a:avLst/>
          </a:prstGeom>
          <a:solidFill>
            <a:srgbClr val="FFFFFF"/>
          </a:solidFill>
          <a:ln w="15875">
            <a:solidFill>
              <a:srgbClr val="93C5FD"/>
            </a:solidFill>
            <a:prstDash val="solid"/>
          </a:ln>
          <a:effectLst>
            <a:outerShdw sx="100000" sy="100000" kx="0" ky="0" algn="bl" rotWithShape="0" blurRad="114300" dist="38100" dir="8100000">
              <a:srgbClr val="0F172A">
                <a:alpha val="12000"/>
              </a:srgbClr>
            </a:outerShdw>
          </a:effectLst>
        </p:spPr>
      </p:sp>
      <p:sp>
        <p:nvSpPr>
          <p:cNvPr id="7" name="Shape 5"/>
          <p:cNvSpPr/>
          <p:nvPr/>
        </p:nvSpPr>
        <p:spPr>
          <a:xfrm>
            <a:off x="1325880" y="2999232"/>
            <a:ext cx="502920" cy="502920"/>
          </a:xfrm>
          <a:prstGeom prst="ellipse">
            <a:avLst/>
          </a:prstGeom>
          <a:solidFill>
            <a:srgbClr val="EFF6FF"/>
          </a:solidFill>
          <a:ln/>
        </p:spPr>
      </p:sp>
      <p:pic>
        <p:nvPicPr>
          <p:cNvPr id="8" name="Image 0" descr="preencoded.png"/>
          <p:cNvPicPr>
            <a:picLocks noChangeAspect="1"/>
          </p:cNvPicPr>
          <p:nvPr/>
        </p:nvPicPr>
        <p:blipFill>
          <a:blip r:embed="rId1"/>
          <a:stretch>
            <a:fillRect/>
          </a:stretch>
        </p:blipFill>
        <p:spPr>
          <a:xfrm>
            <a:off x="1439037" y="3112389"/>
            <a:ext cx="276606" cy="276606"/>
          </a:xfrm>
          <a:prstGeom prst="rect">
            <a:avLst/>
          </a:prstGeom>
        </p:spPr>
      </p:pic>
      <p:sp>
        <p:nvSpPr>
          <p:cNvPr id="9" name="Text 6"/>
          <p:cNvSpPr/>
          <p:nvPr/>
        </p:nvSpPr>
        <p:spPr>
          <a:xfrm>
            <a:off x="548640" y="3584448"/>
            <a:ext cx="2057400" cy="32004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Register</a:t>
            </a:r>
            <a:endParaRPr lang="en-US" sz="1200" dirty="0"/>
          </a:p>
        </p:txBody>
      </p:sp>
      <p:sp>
        <p:nvSpPr>
          <p:cNvPr id="10" name="Text 7"/>
          <p:cNvSpPr/>
          <p:nvPr/>
        </p:nvSpPr>
        <p:spPr>
          <a:xfrm>
            <a:off x="548640" y="3867912"/>
            <a:ext cx="2057400" cy="384048"/>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Admin uploads a ZIP — script untouched</a:t>
            </a:r>
            <a:endParaRPr lang="en-US" sz="950" dirty="0"/>
          </a:p>
        </p:txBody>
      </p:sp>
      <p:sp>
        <p:nvSpPr>
          <p:cNvPr id="11" name="Shape 8"/>
          <p:cNvSpPr/>
          <p:nvPr/>
        </p:nvSpPr>
        <p:spPr>
          <a:xfrm>
            <a:off x="2414359" y="3433572"/>
            <a:ext cx="238430" cy="219456"/>
          </a:xfrm>
          <a:prstGeom prst="rightArrow">
            <a:avLst/>
          </a:prstGeom>
          <a:solidFill>
            <a:srgbClr val="94A3B8"/>
          </a:solidFill>
          <a:ln/>
        </p:spPr>
      </p:sp>
      <p:sp>
        <p:nvSpPr>
          <p:cNvPr id="12" name="Shape 9"/>
          <p:cNvSpPr/>
          <p:nvPr/>
        </p:nvSpPr>
        <p:spPr>
          <a:xfrm>
            <a:off x="2899334" y="2834640"/>
            <a:ext cx="1874520" cy="1417320"/>
          </a:xfrm>
          <a:prstGeom prst="rect">
            <a:avLst/>
          </a:prstGeom>
          <a:solidFill>
            <a:srgbClr val="FFFFFF"/>
          </a:solidFill>
          <a:ln w="15875">
            <a:solidFill>
              <a:srgbClr val="93C5FD"/>
            </a:solidFill>
            <a:prstDash val="solid"/>
          </a:ln>
          <a:effectLst>
            <a:outerShdw sx="100000" sy="100000" kx="0" ky="0" algn="bl" rotWithShape="0" blurRad="114300" dist="38100" dir="8100000">
              <a:srgbClr val="0F172A">
                <a:alpha val="12000"/>
              </a:srgbClr>
            </a:outerShdw>
          </a:effectLst>
        </p:spPr>
      </p:sp>
      <p:sp>
        <p:nvSpPr>
          <p:cNvPr id="13" name="Shape 10"/>
          <p:cNvSpPr/>
          <p:nvPr/>
        </p:nvSpPr>
        <p:spPr>
          <a:xfrm>
            <a:off x="3585134" y="2999232"/>
            <a:ext cx="502920" cy="502920"/>
          </a:xfrm>
          <a:prstGeom prst="ellipse">
            <a:avLst/>
          </a:prstGeom>
          <a:solidFill>
            <a:srgbClr val="EFF6FF"/>
          </a:solidFill>
          <a:ln/>
        </p:spPr>
      </p:sp>
      <p:pic>
        <p:nvPicPr>
          <p:cNvPr id="14" name="Image 1" descr="preencoded.png"/>
          <p:cNvPicPr>
            <a:picLocks noChangeAspect="1"/>
          </p:cNvPicPr>
          <p:nvPr/>
        </p:nvPicPr>
        <p:blipFill>
          <a:blip r:embed="rId2"/>
          <a:stretch>
            <a:fillRect/>
          </a:stretch>
        </p:blipFill>
        <p:spPr>
          <a:xfrm>
            <a:off x="3698291" y="3112389"/>
            <a:ext cx="276606" cy="276606"/>
          </a:xfrm>
          <a:prstGeom prst="rect">
            <a:avLst/>
          </a:prstGeom>
        </p:spPr>
      </p:pic>
      <p:sp>
        <p:nvSpPr>
          <p:cNvPr id="15" name="Text 11"/>
          <p:cNvSpPr/>
          <p:nvPr/>
        </p:nvSpPr>
        <p:spPr>
          <a:xfrm>
            <a:off x="2807894" y="3584448"/>
            <a:ext cx="2057400" cy="32004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Validate &amp; Activate</a:t>
            </a:r>
            <a:endParaRPr lang="en-US" sz="1200" dirty="0"/>
          </a:p>
        </p:txBody>
      </p:sp>
      <p:sp>
        <p:nvSpPr>
          <p:cNvPr id="16" name="Text 12"/>
          <p:cNvSpPr/>
          <p:nvPr/>
        </p:nvSpPr>
        <p:spPr>
          <a:xfrm>
            <a:off x="2807894" y="3867912"/>
            <a:ext cx="2057400" cy="384048"/>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Two-step gate before users can launch</a:t>
            </a:r>
            <a:endParaRPr lang="en-US" sz="950" dirty="0"/>
          </a:p>
        </p:txBody>
      </p:sp>
      <p:sp>
        <p:nvSpPr>
          <p:cNvPr id="17" name="Shape 13"/>
          <p:cNvSpPr/>
          <p:nvPr/>
        </p:nvSpPr>
        <p:spPr>
          <a:xfrm>
            <a:off x="4673613" y="3433572"/>
            <a:ext cx="238430" cy="219456"/>
          </a:xfrm>
          <a:prstGeom prst="rightArrow">
            <a:avLst/>
          </a:prstGeom>
          <a:solidFill>
            <a:srgbClr val="94A3B8"/>
          </a:solidFill>
          <a:ln/>
        </p:spPr>
      </p:sp>
      <p:sp>
        <p:nvSpPr>
          <p:cNvPr id="18" name="Shape 14"/>
          <p:cNvSpPr/>
          <p:nvPr/>
        </p:nvSpPr>
        <p:spPr>
          <a:xfrm>
            <a:off x="5158588" y="2834640"/>
            <a:ext cx="1874520" cy="1417320"/>
          </a:xfrm>
          <a:prstGeom prst="rect">
            <a:avLst/>
          </a:prstGeom>
          <a:solidFill>
            <a:srgbClr val="FFFFFF"/>
          </a:solidFill>
          <a:ln w="15875">
            <a:solidFill>
              <a:srgbClr val="93C5FD"/>
            </a:solidFill>
            <a:prstDash val="solid"/>
          </a:ln>
          <a:effectLst>
            <a:outerShdw sx="100000" sy="100000" kx="0" ky="0" algn="bl" rotWithShape="0" blurRad="114300" dist="38100" dir="8100000">
              <a:srgbClr val="0F172A">
                <a:alpha val="12000"/>
              </a:srgbClr>
            </a:outerShdw>
          </a:effectLst>
        </p:spPr>
      </p:sp>
      <p:sp>
        <p:nvSpPr>
          <p:cNvPr id="19" name="Shape 15"/>
          <p:cNvSpPr/>
          <p:nvPr/>
        </p:nvSpPr>
        <p:spPr>
          <a:xfrm>
            <a:off x="5844388" y="2999232"/>
            <a:ext cx="502920" cy="502920"/>
          </a:xfrm>
          <a:prstGeom prst="ellipse">
            <a:avLst/>
          </a:prstGeom>
          <a:solidFill>
            <a:srgbClr val="EFF6FF"/>
          </a:solidFill>
          <a:ln/>
        </p:spPr>
      </p:sp>
      <p:pic>
        <p:nvPicPr>
          <p:cNvPr id="20" name="Image 2" descr="preencoded.png"/>
          <p:cNvPicPr>
            <a:picLocks noChangeAspect="1"/>
          </p:cNvPicPr>
          <p:nvPr/>
        </p:nvPicPr>
        <p:blipFill>
          <a:blip r:embed="rId3"/>
          <a:stretch>
            <a:fillRect/>
          </a:stretch>
        </p:blipFill>
        <p:spPr>
          <a:xfrm>
            <a:off x="5957545" y="3112389"/>
            <a:ext cx="276606" cy="276606"/>
          </a:xfrm>
          <a:prstGeom prst="rect">
            <a:avLst/>
          </a:prstGeom>
        </p:spPr>
      </p:pic>
      <p:sp>
        <p:nvSpPr>
          <p:cNvPr id="21" name="Text 16"/>
          <p:cNvSpPr/>
          <p:nvPr/>
        </p:nvSpPr>
        <p:spPr>
          <a:xfrm>
            <a:off x="5067148" y="3584448"/>
            <a:ext cx="2057400" cy="32004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Guided Execution</a:t>
            </a:r>
            <a:endParaRPr lang="en-US" sz="1200" dirty="0"/>
          </a:p>
        </p:txBody>
      </p:sp>
      <p:sp>
        <p:nvSpPr>
          <p:cNvPr id="22" name="Text 17"/>
          <p:cNvSpPr/>
          <p:nvPr/>
        </p:nvSpPr>
        <p:spPr>
          <a:xfrm>
            <a:off x="5067148" y="3867912"/>
            <a:ext cx="2057400" cy="384048"/>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Users override config, classify paths, launch</a:t>
            </a:r>
            <a:endParaRPr lang="en-US" sz="950" dirty="0"/>
          </a:p>
        </p:txBody>
      </p:sp>
      <p:sp>
        <p:nvSpPr>
          <p:cNvPr id="23" name="Shape 18"/>
          <p:cNvSpPr/>
          <p:nvPr/>
        </p:nvSpPr>
        <p:spPr>
          <a:xfrm>
            <a:off x="6932866" y="3433572"/>
            <a:ext cx="238430" cy="219456"/>
          </a:xfrm>
          <a:prstGeom prst="rightArrow">
            <a:avLst/>
          </a:prstGeom>
          <a:solidFill>
            <a:srgbClr val="94A3B8"/>
          </a:solidFill>
          <a:ln/>
        </p:spPr>
      </p:sp>
      <p:sp>
        <p:nvSpPr>
          <p:cNvPr id="24" name="Shape 19"/>
          <p:cNvSpPr/>
          <p:nvPr/>
        </p:nvSpPr>
        <p:spPr>
          <a:xfrm>
            <a:off x="7417841" y="2834640"/>
            <a:ext cx="1874520" cy="1417320"/>
          </a:xfrm>
          <a:prstGeom prst="rect">
            <a:avLst/>
          </a:prstGeom>
          <a:solidFill>
            <a:srgbClr val="FFFFFF"/>
          </a:solidFill>
          <a:ln w="15875">
            <a:solidFill>
              <a:srgbClr val="93C5FD"/>
            </a:solidFill>
            <a:prstDash val="solid"/>
          </a:ln>
          <a:effectLst>
            <a:outerShdw sx="100000" sy="100000" kx="0" ky="0" algn="bl" rotWithShape="0" blurRad="114300" dist="38100" dir="8100000">
              <a:srgbClr val="0F172A">
                <a:alpha val="12000"/>
              </a:srgbClr>
            </a:outerShdw>
          </a:effectLst>
        </p:spPr>
      </p:sp>
      <p:sp>
        <p:nvSpPr>
          <p:cNvPr id="25" name="Shape 20"/>
          <p:cNvSpPr/>
          <p:nvPr/>
        </p:nvSpPr>
        <p:spPr>
          <a:xfrm>
            <a:off x="8103641" y="2999232"/>
            <a:ext cx="502920" cy="502920"/>
          </a:xfrm>
          <a:prstGeom prst="ellipse">
            <a:avLst/>
          </a:prstGeom>
          <a:solidFill>
            <a:srgbClr val="EFF6FF"/>
          </a:solidFill>
          <a:ln/>
        </p:spPr>
      </p:sp>
      <p:pic>
        <p:nvPicPr>
          <p:cNvPr id="26" name="Image 3" descr="preencoded.png"/>
          <p:cNvPicPr>
            <a:picLocks noChangeAspect="1"/>
          </p:cNvPicPr>
          <p:nvPr/>
        </p:nvPicPr>
        <p:blipFill>
          <a:blip r:embed="rId4"/>
          <a:stretch>
            <a:fillRect/>
          </a:stretch>
        </p:blipFill>
        <p:spPr>
          <a:xfrm>
            <a:off x="8216798" y="3112389"/>
            <a:ext cx="276606" cy="276606"/>
          </a:xfrm>
          <a:prstGeom prst="rect">
            <a:avLst/>
          </a:prstGeom>
        </p:spPr>
      </p:pic>
      <p:sp>
        <p:nvSpPr>
          <p:cNvPr id="27" name="Text 21"/>
          <p:cNvSpPr/>
          <p:nvPr/>
        </p:nvSpPr>
        <p:spPr>
          <a:xfrm>
            <a:off x="7326401" y="3584448"/>
            <a:ext cx="2057400" cy="32004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Notify &amp; Deliver</a:t>
            </a:r>
            <a:endParaRPr lang="en-US" sz="1200" dirty="0"/>
          </a:p>
        </p:txBody>
      </p:sp>
      <p:sp>
        <p:nvSpPr>
          <p:cNvPr id="28" name="Text 22"/>
          <p:cNvSpPr/>
          <p:nvPr/>
        </p:nvSpPr>
        <p:spPr>
          <a:xfrm>
            <a:off x="7326401" y="3867912"/>
            <a:ext cx="2057400" cy="384048"/>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In-app + email reports, output files</a:t>
            </a:r>
            <a:endParaRPr lang="en-US" sz="950" dirty="0"/>
          </a:p>
        </p:txBody>
      </p:sp>
      <p:sp>
        <p:nvSpPr>
          <p:cNvPr id="29" name="Shape 23"/>
          <p:cNvSpPr/>
          <p:nvPr/>
        </p:nvSpPr>
        <p:spPr>
          <a:xfrm>
            <a:off x="9192120" y="3433572"/>
            <a:ext cx="238430" cy="219456"/>
          </a:xfrm>
          <a:prstGeom prst="rightArrow">
            <a:avLst/>
          </a:prstGeom>
          <a:solidFill>
            <a:srgbClr val="94A3B8"/>
          </a:solidFill>
          <a:ln/>
        </p:spPr>
      </p:sp>
      <p:sp>
        <p:nvSpPr>
          <p:cNvPr id="30" name="Shape 24"/>
          <p:cNvSpPr/>
          <p:nvPr/>
        </p:nvSpPr>
        <p:spPr>
          <a:xfrm>
            <a:off x="9677095" y="2834640"/>
            <a:ext cx="1874520" cy="1417320"/>
          </a:xfrm>
          <a:prstGeom prst="rect">
            <a:avLst/>
          </a:prstGeom>
          <a:solidFill>
            <a:srgbClr val="FFFFFF"/>
          </a:solidFill>
          <a:ln w="15875">
            <a:solidFill>
              <a:srgbClr val="93C5FD"/>
            </a:solidFill>
            <a:prstDash val="solid"/>
          </a:ln>
          <a:effectLst>
            <a:outerShdw sx="100000" sy="100000" kx="0" ky="0" algn="bl" rotWithShape="0" blurRad="114300" dist="38100" dir="8100000">
              <a:srgbClr val="0F172A">
                <a:alpha val="12000"/>
              </a:srgbClr>
            </a:outerShdw>
          </a:effectLst>
        </p:spPr>
      </p:sp>
      <p:sp>
        <p:nvSpPr>
          <p:cNvPr id="31" name="Shape 25"/>
          <p:cNvSpPr/>
          <p:nvPr/>
        </p:nvSpPr>
        <p:spPr>
          <a:xfrm>
            <a:off x="10362895" y="2999232"/>
            <a:ext cx="502920" cy="502920"/>
          </a:xfrm>
          <a:prstGeom prst="ellipse">
            <a:avLst/>
          </a:prstGeom>
          <a:solidFill>
            <a:srgbClr val="EFF6FF"/>
          </a:solidFill>
          <a:ln/>
        </p:spPr>
      </p:sp>
      <p:pic>
        <p:nvPicPr>
          <p:cNvPr id="32" name="Image 4" descr="preencoded.png"/>
          <p:cNvPicPr>
            <a:picLocks noChangeAspect="1"/>
          </p:cNvPicPr>
          <p:nvPr/>
        </p:nvPicPr>
        <p:blipFill>
          <a:blip r:embed="rId5"/>
          <a:stretch>
            <a:fillRect/>
          </a:stretch>
        </p:blipFill>
        <p:spPr>
          <a:xfrm>
            <a:off x="10476052" y="3112389"/>
            <a:ext cx="276606" cy="276606"/>
          </a:xfrm>
          <a:prstGeom prst="rect">
            <a:avLst/>
          </a:prstGeom>
        </p:spPr>
      </p:pic>
      <p:sp>
        <p:nvSpPr>
          <p:cNvPr id="33" name="Text 26"/>
          <p:cNvSpPr/>
          <p:nvPr/>
        </p:nvSpPr>
        <p:spPr>
          <a:xfrm>
            <a:off x="9585655" y="3584448"/>
            <a:ext cx="2057400" cy="32004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Automate</a:t>
            </a:r>
            <a:endParaRPr lang="en-US" sz="1200" dirty="0"/>
          </a:p>
        </p:txBody>
      </p:sp>
      <p:sp>
        <p:nvSpPr>
          <p:cNvPr id="34" name="Text 27"/>
          <p:cNvSpPr/>
          <p:nvPr/>
        </p:nvSpPr>
        <p:spPr>
          <a:xfrm>
            <a:off x="9585655" y="3867912"/>
            <a:ext cx="2057400" cy="384048"/>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Recurring schedules fire on their own</a:t>
            </a:r>
            <a:endParaRPr lang="en-US" sz="950" dirty="0"/>
          </a:p>
        </p:txBody>
      </p:sp>
      <p:sp>
        <p:nvSpPr>
          <p:cNvPr id="35" name="Shape 28"/>
          <p:cNvSpPr/>
          <p:nvPr/>
        </p:nvSpPr>
        <p:spPr>
          <a:xfrm>
            <a:off x="640080" y="4892040"/>
            <a:ext cx="146304" cy="146304"/>
          </a:xfrm>
          <a:prstGeom prst="ellipse">
            <a:avLst/>
          </a:prstGeom>
          <a:solidFill>
            <a:srgbClr val="16A34A"/>
          </a:solidFill>
          <a:ln/>
        </p:spPr>
      </p:sp>
      <p:sp>
        <p:nvSpPr>
          <p:cNvPr id="36" name="Text 29"/>
          <p:cNvSpPr/>
          <p:nvPr/>
        </p:nvSpPr>
        <p:spPr>
          <a:xfrm>
            <a:off x="896112" y="4736592"/>
            <a:ext cx="3383280" cy="45720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Role-based access (Admin / User)</a:t>
            </a:r>
            <a:endParaRPr lang="en-US" sz="1150" dirty="0"/>
          </a:p>
        </p:txBody>
      </p:sp>
      <p:sp>
        <p:nvSpPr>
          <p:cNvPr id="37" name="Shape 30"/>
          <p:cNvSpPr/>
          <p:nvPr/>
        </p:nvSpPr>
        <p:spPr>
          <a:xfrm>
            <a:off x="4251960" y="4892040"/>
            <a:ext cx="146304" cy="146304"/>
          </a:xfrm>
          <a:prstGeom prst="ellipse">
            <a:avLst/>
          </a:prstGeom>
          <a:solidFill>
            <a:srgbClr val="16A34A"/>
          </a:solidFill>
          <a:ln/>
        </p:spPr>
      </p:sp>
      <p:sp>
        <p:nvSpPr>
          <p:cNvPr id="38" name="Text 31"/>
          <p:cNvSpPr/>
          <p:nvPr/>
        </p:nvSpPr>
        <p:spPr>
          <a:xfrm>
            <a:off x="4507992" y="4736592"/>
            <a:ext cx="3383280" cy="45720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Supervised execution, never silent</a:t>
            </a:r>
            <a:endParaRPr lang="en-US" sz="1150" dirty="0"/>
          </a:p>
        </p:txBody>
      </p:sp>
      <p:sp>
        <p:nvSpPr>
          <p:cNvPr id="39" name="Shape 32"/>
          <p:cNvSpPr/>
          <p:nvPr/>
        </p:nvSpPr>
        <p:spPr>
          <a:xfrm>
            <a:off x="7863840" y="4892040"/>
            <a:ext cx="146304" cy="146304"/>
          </a:xfrm>
          <a:prstGeom prst="ellipse">
            <a:avLst/>
          </a:prstGeom>
          <a:solidFill>
            <a:srgbClr val="16A34A"/>
          </a:solidFill>
          <a:ln/>
        </p:spPr>
      </p:sp>
      <p:sp>
        <p:nvSpPr>
          <p:cNvPr id="40" name="Text 33"/>
          <p:cNvSpPr/>
          <p:nvPr/>
        </p:nvSpPr>
        <p:spPr>
          <a:xfrm>
            <a:off x="8119872" y="4736592"/>
            <a:ext cx="3383280" cy="45720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No CLI, no infra knowledge required</a:t>
            </a:r>
            <a:endParaRPr lang="en-US" sz="1150" dirty="0"/>
          </a:p>
        </p:txBody>
      </p:sp>
      <p:sp>
        <p:nvSpPr>
          <p:cNvPr id="41" name="Text 34"/>
          <p:cNvSpPr/>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05</a:t>
            </a:r>
            <a:endParaRPr lang="en-US" sz="10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828800" y="-2286000"/>
            <a:ext cx="5029200" cy="5029200"/>
          </a:xfrm>
          <a:prstGeom prst="ellipse">
            <a:avLst/>
          </a:prstGeom>
          <a:solidFill>
            <a:srgbClr val="1E293B">
              <a:alpha val="50000"/>
            </a:srgbClr>
          </a:solidFill>
          <a:ln/>
        </p:spPr>
      </p:sp>
      <p:sp>
        <p:nvSpPr>
          <p:cNvPr id="3" name="Shape 1"/>
          <p:cNvSpPr/>
          <p:nvPr/>
        </p:nvSpPr>
        <p:spPr>
          <a:xfrm>
            <a:off x="9875520" y="4389120"/>
            <a:ext cx="4114800" cy="4114800"/>
          </a:xfrm>
          <a:prstGeom prst="ellipse">
            <a:avLst/>
          </a:prstGeom>
          <a:solidFill>
            <a:srgbClr val="1E293B">
              <a:alpha val="42000"/>
            </a:srgbClr>
          </a:solidFill>
          <a:ln/>
        </p:spPr>
      </p:sp>
      <p:sp>
        <p:nvSpPr>
          <p:cNvPr id="4" name="Shape 2"/>
          <p:cNvSpPr/>
          <p:nvPr/>
        </p:nvSpPr>
        <p:spPr>
          <a:xfrm>
            <a:off x="822960" y="1828800"/>
            <a:ext cx="777240" cy="777240"/>
          </a:xfrm>
          <a:prstGeom prst="ellipse">
            <a:avLst/>
          </a:prstGeom>
          <a:solidFill>
            <a:srgbClr val="1E293B"/>
          </a:solidFill>
          <a:ln/>
        </p:spPr>
      </p:sp>
      <p:pic>
        <p:nvPicPr>
          <p:cNvPr id="5" name="Image 0" descr="preencoded.png"/>
          <p:cNvPicPr>
            <a:picLocks noChangeAspect="1"/>
          </p:cNvPicPr>
          <p:nvPr/>
        </p:nvPicPr>
        <p:blipFill>
          <a:blip r:embed="rId1"/>
          <a:stretch>
            <a:fillRect/>
          </a:stretch>
        </p:blipFill>
        <p:spPr>
          <a:xfrm>
            <a:off x="1017270" y="2023110"/>
            <a:ext cx="388620" cy="388620"/>
          </a:xfrm>
          <a:prstGeom prst="rect">
            <a:avLst/>
          </a:prstGeom>
        </p:spPr>
      </p:pic>
      <p:sp>
        <p:nvSpPr>
          <p:cNvPr id="6" name="Text 3"/>
          <p:cNvSpPr/>
          <p:nvPr/>
        </p:nvSpPr>
        <p:spPr>
          <a:xfrm>
            <a:off x="822960" y="2788920"/>
            <a:ext cx="9144000" cy="320040"/>
          </a:xfrm>
          <a:prstGeom prst="rect">
            <a:avLst/>
          </a:prstGeom>
          <a:noFill/>
          <a:ln/>
        </p:spPr>
        <p:txBody>
          <a:bodyPr wrap="square" lIns="0" tIns="0" rIns="0" bIns="0" rtlCol="0" anchor="ctr"/>
          <a:lstStyle/>
          <a:p>
            <a:pPr indent="0" marL="0">
              <a:buNone/>
            </a:pPr>
            <a:r>
              <a:rPr lang="en-US" sz="1300" b="1" spc="200" kern="0" dirty="0">
                <a:solidFill>
                  <a:srgbClr val="60A5FA"/>
                </a:solidFill>
                <a:latin typeface="Calibri" pitchFamily="34" charset="0"/>
                <a:ea typeface="Calibri" pitchFamily="34" charset="-122"/>
                <a:cs typeface="Calibri" pitchFamily="34" charset="-120"/>
              </a:rPr>
              <a:t>PART 03</a:t>
            </a:r>
            <a:endParaRPr lang="en-US" sz="1300" dirty="0"/>
          </a:p>
        </p:txBody>
      </p:sp>
      <p:sp>
        <p:nvSpPr>
          <p:cNvPr id="7" name="Text 4"/>
          <p:cNvSpPr/>
          <p:nvPr/>
        </p:nvSpPr>
        <p:spPr>
          <a:xfrm>
            <a:off x="777240" y="3154680"/>
            <a:ext cx="10058400" cy="100584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Project Initiation</a:t>
            </a:r>
            <a:endParaRPr lang="en-US" sz="3800" dirty="0"/>
          </a:p>
        </p:txBody>
      </p:sp>
      <p:sp>
        <p:nvSpPr>
          <p:cNvPr id="8" name="Text 5"/>
          <p:cNvSpPr/>
          <p:nvPr/>
        </p:nvSpPr>
        <p:spPr>
          <a:xfrm>
            <a:off x="822960" y="4160520"/>
            <a:ext cx="9144000" cy="548640"/>
          </a:xfrm>
          <a:prstGeom prst="rect">
            <a:avLst/>
          </a:prstGeom>
          <a:noFill/>
          <a:ln/>
        </p:spPr>
        <p:txBody>
          <a:bodyPr wrap="square" lIns="0" tIns="0" rIns="0" bIns="0" rtlCol="0" anchor="ctr"/>
          <a:lstStyle/>
          <a:p>
            <a:pPr indent="0" marL="0">
              <a:lnSpc>
                <a:spcPct val="125000"/>
              </a:lnSpc>
              <a:buNone/>
            </a:pPr>
            <a:r>
              <a:rPr lang="en-US" sz="1400" dirty="0">
                <a:solidFill>
                  <a:srgbClr val="CBD5E1"/>
                </a:solidFill>
                <a:latin typeface="Calibri" pitchFamily="34" charset="0"/>
                <a:ea typeface="Calibri" pitchFamily="34" charset="-122"/>
                <a:cs typeface="Calibri" pitchFamily="34" charset="-120"/>
              </a:rPr>
              <a:t>Methodology, environment, and the architectural choices behind the platform</a:t>
            </a:r>
            <a:endParaRPr lang="en-US" sz="14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37215" y="5120640"/>
            <a:ext cx="3291840" cy="3291840"/>
          </a:xfrm>
          <a:prstGeom prst="ellipse">
            <a:avLst/>
          </a:prstGeom>
          <a:solidFill>
            <a:srgbClr val="EFF6FF">
              <a:alpha val="45000"/>
            </a:srgbClr>
          </a:solidFill>
          <a:ln/>
        </p:spPr>
      </p:sp>
      <p:sp>
        <p:nvSpPr>
          <p:cNvPr id="3" name="Text 1"/>
          <p:cNvSpPr/>
          <p:nvPr/>
        </p:nvSpPr>
        <p:spPr>
          <a:xfrm>
            <a:off x="640080" y="411480"/>
            <a:ext cx="8229600" cy="320040"/>
          </a:xfrm>
          <a:prstGeom prst="rect">
            <a:avLst/>
          </a:prstGeom>
          <a:noFill/>
          <a:ln/>
        </p:spPr>
        <p:txBody>
          <a:bodyPr wrap="square" lIns="0" tIns="0" rIns="0" bIns="0" rtlCol="0" anchor="ctr"/>
          <a:lstStyle/>
          <a:p>
            <a:pPr indent="0" marL="0">
              <a:buNone/>
            </a:pPr>
            <a:r>
              <a:rPr lang="en-US" sz="1250" b="1" spc="200" kern="0" dirty="0">
                <a:solidFill>
                  <a:srgbClr val="2563EB"/>
                </a:solidFill>
                <a:latin typeface="Calibri" pitchFamily="34" charset="0"/>
                <a:ea typeface="Calibri" pitchFamily="34" charset="-122"/>
                <a:cs typeface="Calibri" pitchFamily="34" charset="-120"/>
              </a:rPr>
              <a:t>METHODOLOGY</a:t>
            </a:r>
            <a:endParaRPr lang="en-US" sz="1250" dirty="0"/>
          </a:p>
        </p:txBody>
      </p:sp>
      <p:sp>
        <p:nvSpPr>
          <p:cNvPr id="4" name="Text 2"/>
          <p:cNvSpPr/>
          <p:nvPr/>
        </p:nvSpPr>
        <p:spPr>
          <a:xfrm>
            <a:off x="640080" y="713232"/>
            <a:ext cx="10515600"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Scrum — roles, sprints, modules</a:t>
            </a:r>
            <a:endParaRPr lang="en-US" sz="2800" dirty="0"/>
          </a:p>
        </p:txBody>
      </p:sp>
      <p:sp>
        <p:nvSpPr>
          <p:cNvPr id="5" name="Text 3"/>
          <p:cNvSpPr/>
          <p:nvPr/>
        </p:nvSpPr>
        <p:spPr>
          <a:xfrm>
            <a:off x="640080" y="1783080"/>
            <a:ext cx="3657600" cy="274320"/>
          </a:xfrm>
          <a:prstGeom prst="rect">
            <a:avLst/>
          </a:prstGeom>
          <a:noFill/>
          <a:ln/>
        </p:spPr>
        <p:txBody>
          <a:bodyPr wrap="square" lIns="0" tIns="0" rIns="0" bIns="0" rtlCol="0" anchor="ctr"/>
          <a:lstStyle/>
          <a:p>
            <a:pPr indent="0" marL="0">
              <a:buNone/>
            </a:pPr>
            <a:r>
              <a:rPr lang="en-US" sz="1100" b="1" spc="150" kern="0" dirty="0">
                <a:solidFill>
                  <a:srgbClr val="64748B"/>
                </a:solidFill>
                <a:latin typeface="Calibri" pitchFamily="34" charset="0"/>
                <a:ea typeface="Calibri" pitchFamily="34" charset="-122"/>
                <a:cs typeface="Calibri" pitchFamily="34" charset="-120"/>
              </a:rPr>
              <a:t>TEAM ROLES</a:t>
            </a:r>
            <a:endParaRPr lang="en-US" sz="1100" dirty="0"/>
          </a:p>
        </p:txBody>
      </p:sp>
      <p:sp>
        <p:nvSpPr>
          <p:cNvPr id="6" name="Shape 4"/>
          <p:cNvSpPr/>
          <p:nvPr/>
        </p:nvSpPr>
        <p:spPr>
          <a:xfrm>
            <a:off x="640080" y="2148840"/>
            <a:ext cx="457200" cy="457200"/>
          </a:xfrm>
          <a:prstGeom prst="ellipse">
            <a:avLst/>
          </a:prstGeom>
          <a:solidFill>
            <a:srgbClr val="EFF6FF"/>
          </a:solidFill>
          <a:ln/>
        </p:spPr>
      </p:sp>
      <p:pic>
        <p:nvPicPr>
          <p:cNvPr id="7" name="Image 0" descr="preencoded.png"/>
          <p:cNvPicPr>
            <a:picLocks noChangeAspect="1"/>
          </p:cNvPicPr>
          <p:nvPr/>
        </p:nvPicPr>
        <p:blipFill>
          <a:blip r:embed="rId1"/>
          <a:stretch>
            <a:fillRect/>
          </a:stretch>
        </p:blipFill>
        <p:spPr>
          <a:xfrm>
            <a:off x="742950" y="2251710"/>
            <a:ext cx="251460" cy="251460"/>
          </a:xfrm>
          <a:prstGeom prst="rect">
            <a:avLst/>
          </a:prstGeom>
        </p:spPr>
      </p:pic>
      <p:sp>
        <p:nvSpPr>
          <p:cNvPr id="8" name="Text 5"/>
          <p:cNvSpPr/>
          <p:nvPr/>
        </p:nvSpPr>
        <p:spPr>
          <a:xfrm>
            <a:off x="1234440" y="2130552"/>
            <a:ext cx="3931920" cy="292608"/>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Scrum Master / Tech Lead</a:t>
            </a:r>
            <a:endParaRPr lang="en-US" sz="1250" dirty="0"/>
          </a:p>
        </p:txBody>
      </p:sp>
      <p:sp>
        <p:nvSpPr>
          <p:cNvPr id="9" name="Text 6"/>
          <p:cNvSpPr/>
          <p:nvPr/>
        </p:nvSpPr>
        <p:spPr>
          <a:xfrm>
            <a:off x="1234440" y="2404872"/>
            <a:ext cx="3931920" cy="41148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Technical supervision &amp; sprint planning</a:t>
            </a:r>
            <a:endParaRPr lang="en-US" sz="1050" dirty="0"/>
          </a:p>
        </p:txBody>
      </p:sp>
      <p:sp>
        <p:nvSpPr>
          <p:cNvPr id="10" name="Shape 7"/>
          <p:cNvSpPr/>
          <p:nvPr/>
        </p:nvSpPr>
        <p:spPr>
          <a:xfrm>
            <a:off x="640080" y="3017520"/>
            <a:ext cx="457200" cy="457200"/>
          </a:xfrm>
          <a:prstGeom prst="ellipse">
            <a:avLst/>
          </a:prstGeom>
          <a:solidFill>
            <a:srgbClr val="EFF6FF"/>
          </a:solidFill>
          <a:ln/>
        </p:spPr>
      </p:sp>
      <p:pic>
        <p:nvPicPr>
          <p:cNvPr id="11" name="Image 1" descr="preencoded.png"/>
          <p:cNvPicPr>
            <a:picLocks noChangeAspect="1"/>
          </p:cNvPicPr>
          <p:nvPr/>
        </p:nvPicPr>
        <p:blipFill>
          <a:blip r:embed="rId2"/>
          <a:stretch>
            <a:fillRect/>
          </a:stretch>
        </p:blipFill>
        <p:spPr>
          <a:xfrm>
            <a:off x="742950" y="3120390"/>
            <a:ext cx="251460" cy="251460"/>
          </a:xfrm>
          <a:prstGeom prst="rect">
            <a:avLst/>
          </a:prstGeom>
        </p:spPr>
      </p:pic>
      <p:sp>
        <p:nvSpPr>
          <p:cNvPr id="12" name="Text 8"/>
          <p:cNvSpPr/>
          <p:nvPr/>
        </p:nvSpPr>
        <p:spPr>
          <a:xfrm>
            <a:off x="1234440" y="2999232"/>
            <a:ext cx="3931920" cy="292608"/>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Product Owner</a:t>
            </a:r>
            <a:endParaRPr lang="en-US" sz="1250" dirty="0"/>
          </a:p>
        </p:txBody>
      </p:sp>
      <p:sp>
        <p:nvSpPr>
          <p:cNvPr id="13" name="Text 9"/>
          <p:cNvSpPr/>
          <p:nvPr/>
        </p:nvSpPr>
        <p:spPr>
          <a:xfrm>
            <a:off x="1234440" y="3273552"/>
            <a:ext cx="3931920" cy="41148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Business needs, backlog, deliverable validation</a:t>
            </a:r>
            <a:endParaRPr lang="en-US" sz="1050" dirty="0"/>
          </a:p>
        </p:txBody>
      </p:sp>
      <p:sp>
        <p:nvSpPr>
          <p:cNvPr id="14" name="Shape 10"/>
          <p:cNvSpPr/>
          <p:nvPr/>
        </p:nvSpPr>
        <p:spPr>
          <a:xfrm>
            <a:off x="640080" y="3886200"/>
            <a:ext cx="457200" cy="457200"/>
          </a:xfrm>
          <a:prstGeom prst="ellipse">
            <a:avLst/>
          </a:prstGeom>
          <a:solidFill>
            <a:srgbClr val="EFF6FF"/>
          </a:solidFill>
          <a:ln/>
        </p:spPr>
      </p:sp>
      <p:pic>
        <p:nvPicPr>
          <p:cNvPr id="15" name="Image 2" descr="preencoded.png"/>
          <p:cNvPicPr>
            <a:picLocks noChangeAspect="1"/>
          </p:cNvPicPr>
          <p:nvPr/>
        </p:nvPicPr>
        <p:blipFill>
          <a:blip r:embed="rId3"/>
          <a:stretch>
            <a:fillRect/>
          </a:stretch>
        </p:blipFill>
        <p:spPr>
          <a:xfrm>
            <a:off x="742950" y="3989070"/>
            <a:ext cx="251460" cy="251460"/>
          </a:xfrm>
          <a:prstGeom prst="rect">
            <a:avLst/>
          </a:prstGeom>
        </p:spPr>
      </p:pic>
      <p:sp>
        <p:nvSpPr>
          <p:cNvPr id="16" name="Text 11"/>
          <p:cNvSpPr/>
          <p:nvPr/>
        </p:nvSpPr>
        <p:spPr>
          <a:xfrm>
            <a:off x="1234440" y="3867912"/>
            <a:ext cx="3931920" cy="292608"/>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Development Team</a:t>
            </a:r>
            <a:endParaRPr lang="en-US" sz="1250" dirty="0"/>
          </a:p>
        </p:txBody>
      </p:sp>
      <p:sp>
        <p:nvSpPr>
          <p:cNvPr id="17" name="Text 12"/>
          <p:cNvSpPr/>
          <p:nvPr/>
        </p:nvSpPr>
        <p:spPr>
          <a:xfrm>
            <a:off x="1234440" y="4142232"/>
            <a:ext cx="3931920" cy="41148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DCI team members across Tunisia &amp; France</a:t>
            </a:r>
            <a:endParaRPr lang="en-US" sz="1050" dirty="0"/>
          </a:p>
        </p:txBody>
      </p:sp>
      <p:sp>
        <p:nvSpPr>
          <p:cNvPr id="18" name="Text 13"/>
          <p:cNvSpPr/>
          <p:nvPr/>
        </p:nvSpPr>
        <p:spPr>
          <a:xfrm>
            <a:off x="5943600" y="1783080"/>
            <a:ext cx="5669280" cy="274320"/>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5 SPRINTS  →  4 PRESENTATION MODULES</a:t>
            </a:r>
            <a:endParaRPr lang="en-US" sz="1100" dirty="0"/>
          </a:p>
        </p:txBody>
      </p:sp>
      <p:sp>
        <p:nvSpPr>
          <p:cNvPr id="19" name="Shape 14"/>
          <p:cNvSpPr/>
          <p:nvPr/>
        </p:nvSpPr>
        <p:spPr>
          <a:xfrm>
            <a:off x="5943600" y="2148840"/>
            <a:ext cx="5623560" cy="713232"/>
          </a:xfrm>
          <a:prstGeom prst="rect">
            <a:avLst/>
          </a:prstGeom>
          <a:solidFill>
            <a:srgbClr val="F8FAFC"/>
          </a:solidFill>
          <a:ln w="12700">
            <a:solidFill>
              <a:srgbClr val="E2E8F0"/>
            </a:solidFill>
            <a:prstDash val="solid"/>
          </a:ln>
        </p:spPr>
      </p:sp>
      <p:sp>
        <p:nvSpPr>
          <p:cNvPr id="20" name="Shape 15"/>
          <p:cNvSpPr/>
          <p:nvPr/>
        </p:nvSpPr>
        <p:spPr>
          <a:xfrm>
            <a:off x="5943600" y="2148840"/>
            <a:ext cx="73152" cy="713232"/>
          </a:xfrm>
          <a:prstGeom prst="rect">
            <a:avLst/>
          </a:prstGeom>
          <a:solidFill>
            <a:srgbClr val="2563EB"/>
          </a:solidFill>
          <a:ln/>
        </p:spPr>
      </p:sp>
      <p:sp>
        <p:nvSpPr>
          <p:cNvPr id="21" name="Text 16"/>
          <p:cNvSpPr/>
          <p:nvPr/>
        </p:nvSpPr>
        <p:spPr>
          <a:xfrm>
            <a:off x="6172200" y="2148840"/>
            <a:ext cx="640080" cy="713232"/>
          </a:xfrm>
          <a:prstGeom prst="rect">
            <a:avLst/>
          </a:prstGeom>
          <a:noFill/>
          <a:ln/>
        </p:spPr>
        <p:txBody>
          <a:bodyPr wrap="square" lIns="0" tIns="0" rIns="0" bIns="0" rtlCol="0" anchor="ctr"/>
          <a:lstStyle/>
          <a:p>
            <a:pPr indent="0" marL="0">
              <a:buNone/>
            </a:pPr>
            <a:r>
              <a:rPr lang="en-US" sz="1600" b="1" dirty="0">
                <a:solidFill>
                  <a:srgbClr val="2563EB"/>
                </a:solidFill>
                <a:latin typeface="Georgia" pitchFamily="34" charset="0"/>
                <a:ea typeface="Georgia" pitchFamily="34" charset="-122"/>
                <a:cs typeface="Georgia" pitchFamily="34" charset="-120"/>
              </a:rPr>
              <a:t>M1</a:t>
            </a:r>
            <a:endParaRPr lang="en-US" sz="1600" dirty="0"/>
          </a:p>
        </p:txBody>
      </p:sp>
      <p:sp>
        <p:nvSpPr>
          <p:cNvPr id="22" name="Text 17"/>
          <p:cNvSpPr/>
          <p:nvPr/>
        </p:nvSpPr>
        <p:spPr>
          <a:xfrm>
            <a:off x="6858000" y="2148840"/>
            <a:ext cx="4572000" cy="713232"/>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Auth &amp; User Management</a:t>
            </a:r>
            <a:endParaRPr lang="en-US" sz="1300" dirty="0"/>
          </a:p>
        </p:txBody>
      </p:sp>
      <p:sp>
        <p:nvSpPr>
          <p:cNvPr id="23" name="Shape 18"/>
          <p:cNvSpPr/>
          <p:nvPr/>
        </p:nvSpPr>
        <p:spPr>
          <a:xfrm>
            <a:off x="5943600" y="3044952"/>
            <a:ext cx="5623560" cy="713232"/>
          </a:xfrm>
          <a:prstGeom prst="rect">
            <a:avLst/>
          </a:prstGeom>
          <a:solidFill>
            <a:srgbClr val="F8FAFC"/>
          </a:solidFill>
          <a:ln w="12700">
            <a:solidFill>
              <a:srgbClr val="E2E8F0"/>
            </a:solidFill>
            <a:prstDash val="solid"/>
          </a:ln>
        </p:spPr>
      </p:sp>
      <p:sp>
        <p:nvSpPr>
          <p:cNvPr id="24" name="Shape 19"/>
          <p:cNvSpPr/>
          <p:nvPr/>
        </p:nvSpPr>
        <p:spPr>
          <a:xfrm>
            <a:off x="5943600" y="3044952"/>
            <a:ext cx="73152" cy="713232"/>
          </a:xfrm>
          <a:prstGeom prst="rect">
            <a:avLst/>
          </a:prstGeom>
          <a:solidFill>
            <a:srgbClr val="16A34A"/>
          </a:solidFill>
          <a:ln/>
        </p:spPr>
      </p:sp>
      <p:sp>
        <p:nvSpPr>
          <p:cNvPr id="25" name="Text 20"/>
          <p:cNvSpPr/>
          <p:nvPr/>
        </p:nvSpPr>
        <p:spPr>
          <a:xfrm>
            <a:off x="6172200" y="3044952"/>
            <a:ext cx="640080" cy="713232"/>
          </a:xfrm>
          <a:prstGeom prst="rect">
            <a:avLst/>
          </a:prstGeom>
          <a:noFill/>
          <a:ln/>
        </p:spPr>
        <p:txBody>
          <a:bodyPr wrap="square" lIns="0" tIns="0" rIns="0" bIns="0" rtlCol="0" anchor="ctr"/>
          <a:lstStyle/>
          <a:p>
            <a:pPr indent="0" marL="0">
              <a:buNone/>
            </a:pPr>
            <a:r>
              <a:rPr lang="en-US" sz="1600" b="1" dirty="0">
                <a:solidFill>
                  <a:srgbClr val="16A34A"/>
                </a:solidFill>
                <a:latin typeface="Georgia" pitchFamily="34" charset="0"/>
                <a:ea typeface="Georgia" pitchFamily="34" charset="-122"/>
                <a:cs typeface="Georgia" pitchFamily="34" charset="-120"/>
              </a:rPr>
              <a:t>M2</a:t>
            </a:r>
            <a:endParaRPr lang="en-US" sz="1600" dirty="0"/>
          </a:p>
        </p:txBody>
      </p:sp>
      <p:sp>
        <p:nvSpPr>
          <p:cNvPr id="26" name="Text 21"/>
          <p:cNvSpPr/>
          <p:nvPr/>
        </p:nvSpPr>
        <p:spPr>
          <a:xfrm>
            <a:off x="6858000" y="3044952"/>
            <a:ext cx="4572000" cy="713232"/>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ETL Pipeline Management</a:t>
            </a:r>
            <a:endParaRPr lang="en-US" sz="1300" dirty="0"/>
          </a:p>
        </p:txBody>
      </p:sp>
      <p:sp>
        <p:nvSpPr>
          <p:cNvPr id="27" name="Shape 22"/>
          <p:cNvSpPr/>
          <p:nvPr/>
        </p:nvSpPr>
        <p:spPr>
          <a:xfrm>
            <a:off x="5943600" y="3941064"/>
            <a:ext cx="5623560" cy="713232"/>
          </a:xfrm>
          <a:prstGeom prst="rect">
            <a:avLst/>
          </a:prstGeom>
          <a:solidFill>
            <a:srgbClr val="F8FAFC"/>
          </a:solidFill>
          <a:ln w="12700">
            <a:solidFill>
              <a:srgbClr val="E2E8F0"/>
            </a:solidFill>
            <a:prstDash val="solid"/>
          </a:ln>
        </p:spPr>
      </p:sp>
      <p:sp>
        <p:nvSpPr>
          <p:cNvPr id="28" name="Shape 23"/>
          <p:cNvSpPr/>
          <p:nvPr/>
        </p:nvSpPr>
        <p:spPr>
          <a:xfrm>
            <a:off x="5943600" y="3941064"/>
            <a:ext cx="73152" cy="713232"/>
          </a:xfrm>
          <a:prstGeom prst="rect">
            <a:avLst/>
          </a:prstGeom>
          <a:solidFill>
            <a:srgbClr val="D97706"/>
          </a:solidFill>
          <a:ln/>
        </p:spPr>
      </p:sp>
      <p:sp>
        <p:nvSpPr>
          <p:cNvPr id="29" name="Text 24"/>
          <p:cNvSpPr/>
          <p:nvPr/>
        </p:nvSpPr>
        <p:spPr>
          <a:xfrm>
            <a:off x="6172200" y="3941064"/>
            <a:ext cx="640080" cy="713232"/>
          </a:xfrm>
          <a:prstGeom prst="rect">
            <a:avLst/>
          </a:prstGeom>
          <a:noFill/>
          <a:ln/>
        </p:spPr>
        <p:txBody>
          <a:bodyPr wrap="square" lIns="0" tIns="0" rIns="0" bIns="0" rtlCol="0" anchor="ctr"/>
          <a:lstStyle/>
          <a:p>
            <a:pPr indent="0" marL="0">
              <a:buNone/>
            </a:pPr>
            <a:r>
              <a:rPr lang="en-US" sz="1600" b="1" dirty="0">
                <a:solidFill>
                  <a:srgbClr val="D97706"/>
                </a:solidFill>
                <a:latin typeface="Georgia" pitchFamily="34" charset="0"/>
                <a:ea typeface="Georgia" pitchFamily="34" charset="-122"/>
                <a:cs typeface="Georgia" pitchFamily="34" charset="-120"/>
              </a:rPr>
              <a:t>M3</a:t>
            </a:r>
            <a:endParaRPr lang="en-US" sz="1600" dirty="0"/>
          </a:p>
        </p:txBody>
      </p:sp>
      <p:sp>
        <p:nvSpPr>
          <p:cNvPr id="30" name="Text 25"/>
          <p:cNvSpPr/>
          <p:nvPr/>
        </p:nvSpPr>
        <p:spPr>
          <a:xfrm>
            <a:off x="6858000" y="3941064"/>
            <a:ext cx="4572000" cy="713232"/>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Execution Engine &amp; Notifications</a:t>
            </a:r>
            <a:endParaRPr lang="en-US" sz="1300" dirty="0"/>
          </a:p>
        </p:txBody>
      </p:sp>
      <p:sp>
        <p:nvSpPr>
          <p:cNvPr id="31" name="Shape 26"/>
          <p:cNvSpPr/>
          <p:nvPr/>
        </p:nvSpPr>
        <p:spPr>
          <a:xfrm>
            <a:off x="5943600" y="4837176"/>
            <a:ext cx="5623560" cy="713232"/>
          </a:xfrm>
          <a:prstGeom prst="rect">
            <a:avLst/>
          </a:prstGeom>
          <a:solidFill>
            <a:srgbClr val="F8FAFC"/>
          </a:solidFill>
          <a:ln w="12700">
            <a:solidFill>
              <a:srgbClr val="E2E8F0"/>
            </a:solidFill>
            <a:prstDash val="solid"/>
          </a:ln>
        </p:spPr>
      </p:sp>
      <p:sp>
        <p:nvSpPr>
          <p:cNvPr id="32" name="Shape 27"/>
          <p:cNvSpPr/>
          <p:nvPr/>
        </p:nvSpPr>
        <p:spPr>
          <a:xfrm>
            <a:off x="5943600" y="4837176"/>
            <a:ext cx="73152" cy="713232"/>
          </a:xfrm>
          <a:prstGeom prst="rect">
            <a:avLst/>
          </a:prstGeom>
          <a:solidFill>
            <a:srgbClr val="7C3AED"/>
          </a:solidFill>
          <a:ln/>
        </p:spPr>
      </p:sp>
      <p:sp>
        <p:nvSpPr>
          <p:cNvPr id="33" name="Text 28"/>
          <p:cNvSpPr/>
          <p:nvPr/>
        </p:nvSpPr>
        <p:spPr>
          <a:xfrm>
            <a:off x="6172200" y="4837176"/>
            <a:ext cx="640080" cy="713232"/>
          </a:xfrm>
          <a:prstGeom prst="rect">
            <a:avLst/>
          </a:prstGeom>
          <a:noFill/>
          <a:ln/>
        </p:spPr>
        <p:txBody>
          <a:bodyPr wrap="square" lIns="0" tIns="0" rIns="0" bIns="0" rtlCol="0" anchor="ctr"/>
          <a:lstStyle/>
          <a:p>
            <a:pPr indent="0" marL="0">
              <a:buNone/>
            </a:pPr>
            <a:r>
              <a:rPr lang="en-US" sz="1600" b="1" dirty="0">
                <a:solidFill>
                  <a:srgbClr val="7C3AED"/>
                </a:solidFill>
                <a:latin typeface="Georgia" pitchFamily="34" charset="0"/>
                <a:ea typeface="Georgia" pitchFamily="34" charset="-122"/>
                <a:cs typeface="Georgia" pitchFamily="34" charset="-120"/>
              </a:rPr>
              <a:t>M4</a:t>
            </a:r>
            <a:endParaRPr lang="en-US" sz="1600" dirty="0"/>
          </a:p>
        </p:txBody>
      </p:sp>
      <p:sp>
        <p:nvSpPr>
          <p:cNvPr id="34" name="Text 29"/>
          <p:cNvSpPr/>
          <p:nvPr/>
        </p:nvSpPr>
        <p:spPr>
          <a:xfrm>
            <a:off x="6858000" y="4837176"/>
            <a:ext cx="4572000" cy="713232"/>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Scheduling &amp; Analytics</a:t>
            </a:r>
            <a:endParaRPr lang="en-US" sz="1300" dirty="0"/>
          </a:p>
        </p:txBody>
      </p:sp>
      <p:sp>
        <p:nvSpPr>
          <p:cNvPr id="35" name="Text 30"/>
          <p:cNvSpPr/>
          <p:nvPr/>
        </p:nvSpPr>
        <p:spPr>
          <a:xfrm>
            <a:off x="640080" y="5897880"/>
            <a:ext cx="10881360" cy="36576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 20–21 weeks of development, tracked through daily stand-ups, sprint reviews &amp; retrospectives.</a:t>
            </a:r>
            <a:endParaRPr lang="en-US" sz="1150" dirty="0"/>
          </a:p>
        </p:txBody>
      </p:sp>
      <p:sp>
        <p:nvSpPr>
          <p:cNvPr id="36" name="Text 31"/>
          <p:cNvSpPr/>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06</a:t>
            </a:r>
            <a:endParaRPr lang="en-US" sz="10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37215" y="5120640"/>
            <a:ext cx="3291840" cy="3291840"/>
          </a:xfrm>
          <a:prstGeom prst="ellipse">
            <a:avLst/>
          </a:prstGeom>
          <a:solidFill>
            <a:srgbClr val="EFF6FF">
              <a:alpha val="45000"/>
            </a:srgbClr>
          </a:solidFill>
          <a:ln/>
        </p:spPr>
      </p:sp>
      <p:sp>
        <p:nvSpPr>
          <p:cNvPr id="3" name="Text 1"/>
          <p:cNvSpPr/>
          <p:nvPr/>
        </p:nvSpPr>
        <p:spPr>
          <a:xfrm>
            <a:off x="640080" y="411480"/>
            <a:ext cx="8229600" cy="320040"/>
          </a:xfrm>
          <a:prstGeom prst="rect">
            <a:avLst/>
          </a:prstGeom>
          <a:noFill/>
          <a:ln/>
        </p:spPr>
        <p:txBody>
          <a:bodyPr wrap="square" lIns="0" tIns="0" rIns="0" bIns="0" rtlCol="0" anchor="ctr"/>
          <a:lstStyle/>
          <a:p>
            <a:pPr indent="0" marL="0">
              <a:buNone/>
            </a:pPr>
            <a:r>
              <a:rPr lang="en-US" sz="1250" b="1" spc="200" kern="0" dirty="0">
                <a:solidFill>
                  <a:srgbClr val="2563EB"/>
                </a:solidFill>
                <a:latin typeface="Calibri" pitchFamily="34" charset="0"/>
                <a:ea typeface="Calibri" pitchFamily="34" charset="-122"/>
                <a:cs typeface="Calibri" pitchFamily="34" charset="-120"/>
              </a:rPr>
              <a:t>PROJECT INITIATION</a:t>
            </a:r>
            <a:endParaRPr lang="en-US" sz="1250" dirty="0"/>
          </a:p>
        </p:txBody>
      </p:sp>
      <p:sp>
        <p:nvSpPr>
          <p:cNvPr id="4" name="Text 2"/>
          <p:cNvSpPr/>
          <p:nvPr/>
        </p:nvSpPr>
        <p:spPr>
          <a:xfrm>
            <a:off x="640080" y="713232"/>
            <a:ext cx="10515600"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Architecture &amp; technology stack</a:t>
            </a:r>
            <a:endParaRPr lang="en-US" sz="2800" dirty="0"/>
          </a:p>
        </p:txBody>
      </p:sp>
      <p:sp>
        <p:nvSpPr>
          <p:cNvPr id="5" name="Shape 3"/>
          <p:cNvSpPr/>
          <p:nvPr/>
        </p:nvSpPr>
        <p:spPr>
          <a:xfrm>
            <a:off x="640080" y="1920240"/>
            <a:ext cx="3246120" cy="1234440"/>
          </a:xfrm>
          <a:prstGeom prst="rect">
            <a:avLst/>
          </a:prstGeom>
          <a:solidFill>
            <a:srgbClr val="FFFFFF"/>
          </a:solidFill>
          <a:ln w="19050">
            <a:solidFill>
              <a:srgbClr val="2563EB"/>
            </a:solidFill>
            <a:prstDash val="solid"/>
          </a:ln>
          <a:effectLst>
            <a:outerShdw sx="100000" sy="100000" kx="0" ky="0" algn="bl" rotWithShape="0" blurRad="114300" dist="38100" dir="8100000">
              <a:srgbClr val="0F172A">
                <a:alpha val="12000"/>
              </a:srgbClr>
            </a:outerShdw>
          </a:effectLst>
        </p:spPr>
      </p:sp>
      <p:sp>
        <p:nvSpPr>
          <p:cNvPr id="6" name="Shape 4"/>
          <p:cNvSpPr/>
          <p:nvPr/>
        </p:nvSpPr>
        <p:spPr>
          <a:xfrm>
            <a:off x="822960" y="2286000"/>
            <a:ext cx="502920" cy="502920"/>
          </a:xfrm>
          <a:prstGeom prst="ellipse">
            <a:avLst/>
          </a:prstGeom>
          <a:solidFill>
            <a:srgbClr val="F8FAFC"/>
          </a:solidFill>
          <a:ln/>
        </p:spPr>
      </p:sp>
      <p:pic>
        <p:nvPicPr>
          <p:cNvPr id="7" name="Image 0" descr="preencoded.png"/>
          <p:cNvPicPr>
            <a:picLocks noChangeAspect="1"/>
          </p:cNvPicPr>
          <p:nvPr/>
        </p:nvPicPr>
        <p:blipFill>
          <a:blip r:embed="rId1"/>
          <a:stretch>
            <a:fillRect/>
          </a:stretch>
        </p:blipFill>
        <p:spPr>
          <a:xfrm>
            <a:off x="936117" y="2399157"/>
            <a:ext cx="276606" cy="276606"/>
          </a:xfrm>
          <a:prstGeom prst="rect">
            <a:avLst/>
          </a:prstGeom>
        </p:spPr>
      </p:pic>
      <p:sp>
        <p:nvSpPr>
          <p:cNvPr id="8" name="Text 5"/>
          <p:cNvSpPr/>
          <p:nvPr/>
        </p:nvSpPr>
        <p:spPr>
          <a:xfrm>
            <a:off x="1463040" y="2084832"/>
            <a:ext cx="2331720" cy="365760"/>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Presentation</a:t>
            </a:r>
            <a:endParaRPr lang="en-US" sz="1350" dirty="0"/>
          </a:p>
        </p:txBody>
      </p:sp>
      <p:sp>
        <p:nvSpPr>
          <p:cNvPr id="9" name="Text 6"/>
          <p:cNvSpPr/>
          <p:nvPr/>
        </p:nvSpPr>
        <p:spPr>
          <a:xfrm>
            <a:off x="1463040" y="2468880"/>
            <a:ext cx="2331720" cy="594360"/>
          </a:xfrm>
          <a:prstGeom prst="rect">
            <a:avLst/>
          </a:prstGeom>
          <a:noFill/>
          <a:ln/>
        </p:spPr>
        <p:txBody>
          <a:bodyPr wrap="square" lIns="0" tIns="0" rIns="0" bIns="0" rtlCol="0" anchor="ctr"/>
          <a:lstStyle/>
          <a:p>
            <a:pPr indent="0" marL="0">
              <a:lnSpc>
                <a:spcPct val="115000"/>
              </a:lnSpc>
              <a:buNone/>
            </a:pPr>
            <a:r>
              <a:rPr lang="en-US" sz="1000" dirty="0">
                <a:solidFill>
                  <a:srgbClr val="64748B"/>
                </a:solidFill>
                <a:latin typeface="Calibri" pitchFamily="34" charset="0"/>
                <a:ea typeface="Calibri" pitchFamily="34" charset="-122"/>
                <a:cs typeface="Calibri" pitchFamily="34" charset="-120"/>
              </a:rPr>
              <a:t>React + TypeScript</a:t>
            </a:r>
            <a:endParaRPr lang="en-US" sz="1000" dirty="0"/>
          </a:p>
        </p:txBody>
      </p:sp>
      <p:sp>
        <p:nvSpPr>
          <p:cNvPr id="10" name="Shape 7"/>
          <p:cNvSpPr/>
          <p:nvPr/>
        </p:nvSpPr>
        <p:spPr>
          <a:xfrm>
            <a:off x="3973068" y="2446020"/>
            <a:ext cx="411480" cy="182880"/>
          </a:xfrm>
          <a:prstGeom prst="rightArrow">
            <a:avLst/>
          </a:prstGeom>
          <a:solidFill>
            <a:srgbClr val="94A3B8"/>
          </a:solidFill>
          <a:ln/>
        </p:spPr>
      </p:sp>
      <p:sp>
        <p:nvSpPr>
          <p:cNvPr id="11" name="Text 8"/>
          <p:cNvSpPr/>
          <p:nvPr/>
        </p:nvSpPr>
        <p:spPr>
          <a:xfrm>
            <a:off x="3703320" y="1627632"/>
            <a:ext cx="868680" cy="27432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REST / JSON</a:t>
            </a:r>
            <a:endParaRPr lang="en-US" sz="850" dirty="0"/>
          </a:p>
        </p:txBody>
      </p:sp>
      <p:sp>
        <p:nvSpPr>
          <p:cNvPr id="12" name="Shape 9"/>
          <p:cNvSpPr/>
          <p:nvPr/>
        </p:nvSpPr>
        <p:spPr>
          <a:xfrm>
            <a:off x="4389120" y="1920240"/>
            <a:ext cx="3246120" cy="1234440"/>
          </a:xfrm>
          <a:prstGeom prst="rect">
            <a:avLst/>
          </a:prstGeom>
          <a:solidFill>
            <a:srgbClr val="FFFFFF"/>
          </a:solidFill>
          <a:ln w="19050">
            <a:solidFill>
              <a:srgbClr val="D97706"/>
            </a:solidFill>
            <a:prstDash val="solid"/>
          </a:ln>
          <a:effectLst>
            <a:outerShdw sx="100000" sy="100000" kx="0" ky="0" algn="bl" rotWithShape="0" blurRad="114300" dist="38100" dir="8100000">
              <a:srgbClr val="0F172A">
                <a:alpha val="12000"/>
              </a:srgbClr>
            </a:outerShdw>
          </a:effectLst>
        </p:spPr>
      </p:sp>
      <p:sp>
        <p:nvSpPr>
          <p:cNvPr id="13" name="Shape 10"/>
          <p:cNvSpPr/>
          <p:nvPr/>
        </p:nvSpPr>
        <p:spPr>
          <a:xfrm>
            <a:off x="4572000" y="2286000"/>
            <a:ext cx="502920" cy="502920"/>
          </a:xfrm>
          <a:prstGeom prst="ellipse">
            <a:avLst/>
          </a:prstGeom>
          <a:solidFill>
            <a:srgbClr val="F8FAFC"/>
          </a:solidFill>
          <a:ln/>
        </p:spPr>
      </p:sp>
      <p:pic>
        <p:nvPicPr>
          <p:cNvPr id="14" name="Image 1" descr="preencoded.png"/>
          <p:cNvPicPr>
            <a:picLocks noChangeAspect="1"/>
          </p:cNvPicPr>
          <p:nvPr/>
        </p:nvPicPr>
        <p:blipFill>
          <a:blip r:embed="rId2"/>
          <a:stretch>
            <a:fillRect/>
          </a:stretch>
        </p:blipFill>
        <p:spPr>
          <a:xfrm>
            <a:off x="4685157" y="2399157"/>
            <a:ext cx="276606" cy="276606"/>
          </a:xfrm>
          <a:prstGeom prst="rect">
            <a:avLst/>
          </a:prstGeom>
        </p:spPr>
      </p:pic>
      <p:sp>
        <p:nvSpPr>
          <p:cNvPr id="15" name="Text 11"/>
          <p:cNvSpPr/>
          <p:nvPr/>
        </p:nvSpPr>
        <p:spPr>
          <a:xfrm>
            <a:off x="5212080" y="2084832"/>
            <a:ext cx="2331720" cy="365760"/>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Application</a:t>
            </a:r>
            <a:endParaRPr lang="en-US" sz="1350" dirty="0"/>
          </a:p>
        </p:txBody>
      </p:sp>
      <p:sp>
        <p:nvSpPr>
          <p:cNvPr id="16" name="Text 12"/>
          <p:cNvSpPr/>
          <p:nvPr/>
        </p:nvSpPr>
        <p:spPr>
          <a:xfrm>
            <a:off x="5212080" y="2468880"/>
            <a:ext cx="2331720" cy="594360"/>
          </a:xfrm>
          <a:prstGeom prst="rect">
            <a:avLst/>
          </a:prstGeom>
          <a:noFill/>
          <a:ln/>
        </p:spPr>
        <p:txBody>
          <a:bodyPr wrap="square" lIns="0" tIns="0" rIns="0" bIns="0" rtlCol="0" anchor="ctr"/>
          <a:lstStyle/>
          <a:p>
            <a:pPr indent="0" marL="0">
              <a:lnSpc>
                <a:spcPct val="115000"/>
              </a:lnSpc>
              <a:buNone/>
            </a:pPr>
            <a:r>
              <a:rPr lang="en-US" sz="1000" dirty="0">
                <a:solidFill>
                  <a:srgbClr val="64748B"/>
                </a:solidFill>
                <a:latin typeface="Calibri" pitchFamily="34" charset="0"/>
                <a:ea typeface="Calibri" pitchFamily="34" charset="-122"/>
                <a:cs typeface="Calibri" pitchFamily="34" charset="-120"/>
              </a:rPr>
              <a:t>Django + DRF · Execution Engine · Scheduler</a:t>
            </a:r>
            <a:endParaRPr lang="en-US" sz="1000" dirty="0"/>
          </a:p>
        </p:txBody>
      </p:sp>
      <p:sp>
        <p:nvSpPr>
          <p:cNvPr id="17" name="Shape 13"/>
          <p:cNvSpPr/>
          <p:nvPr/>
        </p:nvSpPr>
        <p:spPr>
          <a:xfrm>
            <a:off x="7722108" y="2446020"/>
            <a:ext cx="411480" cy="182880"/>
          </a:xfrm>
          <a:prstGeom prst="rightArrow">
            <a:avLst/>
          </a:prstGeom>
          <a:solidFill>
            <a:srgbClr val="94A3B8"/>
          </a:solidFill>
          <a:ln/>
        </p:spPr>
      </p:sp>
      <p:sp>
        <p:nvSpPr>
          <p:cNvPr id="18" name="Text 14"/>
          <p:cNvSpPr/>
          <p:nvPr/>
        </p:nvSpPr>
        <p:spPr>
          <a:xfrm>
            <a:off x="7452360" y="1627632"/>
            <a:ext cx="868680" cy="27432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Django ORM</a:t>
            </a:r>
            <a:endParaRPr lang="en-US" sz="850" dirty="0"/>
          </a:p>
        </p:txBody>
      </p:sp>
      <p:sp>
        <p:nvSpPr>
          <p:cNvPr id="19" name="Shape 15"/>
          <p:cNvSpPr/>
          <p:nvPr/>
        </p:nvSpPr>
        <p:spPr>
          <a:xfrm>
            <a:off x="8138160" y="1920240"/>
            <a:ext cx="3246120" cy="1234440"/>
          </a:xfrm>
          <a:prstGeom prst="rect">
            <a:avLst/>
          </a:prstGeom>
          <a:solidFill>
            <a:srgbClr val="FFFFFF"/>
          </a:solidFill>
          <a:ln w="19050">
            <a:solidFill>
              <a:srgbClr val="16A34A"/>
            </a:solidFill>
            <a:prstDash val="solid"/>
          </a:ln>
          <a:effectLst>
            <a:outerShdw sx="100000" sy="100000" kx="0" ky="0" algn="bl" rotWithShape="0" blurRad="114300" dist="38100" dir="8100000">
              <a:srgbClr val="0F172A">
                <a:alpha val="12000"/>
              </a:srgbClr>
            </a:outerShdw>
          </a:effectLst>
        </p:spPr>
      </p:sp>
      <p:sp>
        <p:nvSpPr>
          <p:cNvPr id="20" name="Shape 16"/>
          <p:cNvSpPr/>
          <p:nvPr/>
        </p:nvSpPr>
        <p:spPr>
          <a:xfrm>
            <a:off x="8321040" y="2286000"/>
            <a:ext cx="502920" cy="502920"/>
          </a:xfrm>
          <a:prstGeom prst="ellipse">
            <a:avLst/>
          </a:prstGeom>
          <a:solidFill>
            <a:srgbClr val="F8FAFC"/>
          </a:solidFill>
          <a:ln/>
        </p:spPr>
      </p:sp>
      <p:pic>
        <p:nvPicPr>
          <p:cNvPr id="21" name="Image 2" descr="preencoded.png"/>
          <p:cNvPicPr>
            <a:picLocks noChangeAspect="1"/>
          </p:cNvPicPr>
          <p:nvPr/>
        </p:nvPicPr>
        <p:blipFill>
          <a:blip r:embed="rId3"/>
          <a:stretch>
            <a:fillRect/>
          </a:stretch>
        </p:blipFill>
        <p:spPr>
          <a:xfrm>
            <a:off x="8434197" y="2399157"/>
            <a:ext cx="276606" cy="276606"/>
          </a:xfrm>
          <a:prstGeom prst="rect">
            <a:avLst/>
          </a:prstGeom>
        </p:spPr>
      </p:pic>
      <p:sp>
        <p:nvSpPr>
          <p:cNvPr id="22" name="Text 17"/>
          <p:cNvSpPr/>
          <p:nvPr/>
        </p:nvSpPr>
        <p:spPr>
          <a:xfrm>
            <a:off x="8961120" y="2084832"/>
            <a:ext cx="2331720" cy="365760"/>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Data</a:t>
            </a:r>
            <a:endParaRPr lang="en-US" sz="1350" dirty="0"/>
          </a:p>
        </p:txBody>
      </p:sp>
      <p:sp>
        <p:nvSpPr>
          <p:cNvPr id="23" name="Text 18"/>
          <p:cNvSpPr/>
          <p:nvPr/>
        </p:nvSpPr>
        <p:spPr>
          <a:xfrm>
            <a:off x="8961120" y="2468880"/>
            <a:ext cx="2331720" cy="594360"/>
          </a:xfrm>
          <a:prstGeom prst="rect">
            <a:avLst/>
          </a:prstGeom>
          <a:noFill/>
          <a:ln/>
        </p:spPr>
        <p:txBody>
          <a:bodyPr wrap="square" lIns="0" tIns="0" rIns="0" bIns="0" rtlCol="0" anchor="ctr"/>
          <a:lstStyle/>
          <a:p>
            <a:pPr indent="0" marL="0">
              <a:lnSpc>
                <a:spcPct val="115000"/>
              </a:lnSpc>
              <a:buNone/>
            </a:pPr>
            <a:r>
              <a:rPr lang="en-US" sz="1000" dirty="0">
                <a:solidFill>
                  <a:srgbClr val="64748B"/>
                </a:solidFill>
                <a:latin typeface="Calibri" pitchFamily="34" charset="0"/>
                <a:ea typeface="Calibri" pitchFamily="34" charset="-122"/>
                <a:cs typeface="Calibri" pitchFamily="34" charset="-120"/>
              </a:rPr>
              <a:t>PostgreSQL</a:t>
            </a:r>
            <a:endParaRPr lang="en-US" sz="1000" dirty="0"/>
          </a:p>
        </p:txBody>
      </p:sp>
      <p:sp>
        <p:nvSpPr>
          <p:cNvPr id="24" name="Text 19"/>
          <p:cNvSpPr/>
          <p:nvPr/>
        </p:nvSpPr>
        <p:spPr>
          <a:xfrm>
            <a:off x="640080" y="3520440"/>
            <a:ext cx="10881360" cy="32004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MTV pattern inside Django: Model = ORM · View = DRF ViewSets · Template = delegated entirely to React</a:t>
            </a:r>
            <a:endParaRPr lang="en-US" sz="1150" dirty="0"/>
          </a:p>
        </p:txBody>
      </p:sp>
      <p:sp>
        <p:nvSpPr>
          <p:cNvPr id="25" name="Shape 20"/>
          <p:cNvSpPr/>
          <p:nvPr/>
        </p:nvSpPr>
        <p:spPr>
          <a:xfrm>
            <a:off x="1035427" y="4206240"/>
            <a:ext cx="777240" cy="777240"/>
          </a:xfrm>
          <a:prstGeom prst="ellipse">
            <a:avLst/>
          </a:prstGeom>
          <a:solidFill>
            <a:srgbClr val="0F172A"/>
          </a:solidFill>
          <a:ln/>
        </p:spPr>
      </p:sp>
      <p:pic>
        <p:nvPicPr>
          <p:cNvPr id="26" name="Image 3" descr="preencoded.png"/>
          <p:cNvPicPr>
            <a:picLocks noChangeAspect="1"/>
          </p:cNvPicPr>
          <p:nvPr/>
        </p:nvPicPr>
        <p:blipFill>
          <a:blip r:embed="rId4"/>
          <a:stretch>
            <a:fillRect/>
          </a:stretch>
        </p:blipFill>
        <p:spPr>
          <a:xfrm>
            <a:off x="1229737" y="4400550"/>
            <a:ext cx="388620" cy="388620"/>
          </a:xfrm>
          <a:prstGeom prst="rect">
            <a:avLst/>
          </a:prstGeom>
        </p:spPr>
      </p:pic>
      <p:sp>
        <p:nvSpPr>
          <p:cNvPr id="27" name="Text 21"/>
          <p:cNvSpPr/>
          <p:nvPr/>
        </p:nvSpPr>
        <p:spPr>
          <a:xfrm>
            <a:off x="640080" y="5074920"/>
            <a:ext cx="1558791" cy="548640"/>
          </a:xfrm>
          <a:prstGeom prst="rect">
            <a:avLst/>
          </a:prstGeom>
          <a:noFill/>
          <a:ln/>
        </p:spPr>
        <p:txBody>
          <a:bodyPr wrap="square" lIns="0" tIns="0" rIns="0" bIns="0" rtlCol="0" anchor="ctr"/>
          <a:lstStyle/>
          <a:p>
            <a:pPr algn="ctr" indent="0" marL="0">
              <a:lnSpc>
                <a:spcPct val="110000"/>
              </a:lnSpc>
              <a:buNone/>
            </a:pPr>
            <a:r>
              <a:rPr lang="en-US" sz="1000" dirty="0">
                <a:solidFill>
                  <a:srgbClr val="475569"/>
                </a:solidFill>
                <a:latin typeface="Calibri" pitchFamily="34" charset="0"/>
                <a:ea typeface="Calibri" pitchFamily="34" charset="-122"/>
                <a:cs typeface="Calibri" pitchFamily="34" charset="-120"/>
              </a:rPr>
              <a:t>Python</a:t>
            </a:r>
            <a:endParaRPr lang="en-US" sz="1000" dirty="0"/>
          </a:p>
        </p:txBody>
      </p:sp>
      <p:sp>
        <p:nvSpPr>
          <p:cNvPr id="28" name="Shape 22"/>
          <p:cNvSpPr/>
          <p:nvPr/>
        </p:nvSpPr>
        <p:spPr>
          <a:xfrm>
            <a:off x="2594218" y="4206240"/>
            <a:ext cx="777240" cy="777240"/>
          </a:xfrm>
          <a:prstGeom prst="ellipse">
            <a:avLst/>
          </a:prstGeom>
          <a:solidFill>
            <a:srgbClr val="0F172A"/>
          </a:solidFill>
          <a:ln/>
        </p:spPr>
      </p:sp>
      <p:pic>
        <p:nvPicPr>
          <p:cNvPr id="29" name="Image 4" descr="preencoded.png"/>
          <p:cNvPicPr>
            <a:picLocks noChangeAspect="1"/>
          </p:cNvPicPr>
          <p:nvPr/>
        </p:nvPicPr>
        <p:blipFill>
          <a:blip r:embed="rId5"/>
          <a:stretch>
            <a:fillRect/>
          </a:stretch>
        </p:blipFill>
        <p:spPr>
          <a:xfrm>
            <a:off x="2788528" y="4400550"/>
            <a:ext cx="388620" cy="388620"/>
          </a:xfrm>
          <a:prstGeom prst="rect">
            <a:avLst/>
          </a:prstGeom>
        </p:spPr>
      </p:pic>
      <p:sp>
        <p:nvSpPr>
          <p:cNvPr id="30" name="Text 23"/>
          <p:cNvSpPr/>
          <p:nvPr/>
        </p:nvSpPr>
        <p:spPr>
          <a:xfrm>
            <a:off x="2198871" y="5074920"/>
            <a:ext cx="1558791" cy="548640"/>
          </a:xfrm>
          <a:prstGeom prst="rect">
            <a:avLst/>
          </a:prstGeom>
          <a:noFill/>
          <a:ln/>
        </p:spPr>
        <p:txBody>
          <a:bodyPr wrap="square" lIns="0" tIns="0" rIns="0" bIns="0" rtlCol="0" anchor="ctr"/>
          <a:lstStyle/>
          <a:p>
            <a:pPr algn="ctr" indent="0" marL="0">
              <a:lnSpc>
                <a:spcPct val="110000"/>
              </a:lnSpc>
              <a:buNone/>
            </a:pPr>
            <a:r>
              <a:rPr lang="en-US" sz="1000" dirty="0">
                <a:solidFill>
                  <a:srgbClr val="475569"/>
                </a:solidFill>
                <a:latin typeface="Calibri" pitchFamily="34" charset="0"/>
                <a:ea typeface="Calibri" pitchFamily="34" charset="-122"/>
                <a:cs typeface="Calibri" pitchFamily="34" charset="-120"/>
              </a:rPr>
              <a:t>Django + DRF</a:t>
            </a:r>
            <a:endParaRPr lang="en-US" sz="1000" dirty="0"/>
          </a:p>
        </p:txBody>
      </p:sp>
      <p:sp>
        <p:nvSpPr>
          <p:cNvPr id="31" name="Shape 24"/>
          <p:cNvSpPr/>
          <p:nvPr/>
        </p:nvSpPr>
        <p:spPr>
          <a:xfrm>
            <a:off x="4153009" y="4206240"/>
            <a:ext cx="777240" cy="777240"/>
          </a:xfrm>
          <a:prstGeom prst="ellipse">
            <a:avLst/>
          </a:prstGeom>
          <a:solidFill>
            <a:srgbClr val="0F172A"/>
          </a:solidFill>
          <a:ln/>
        </p:spPr>
      </p:sp>
      <p:pic>
        <p:nvPicPr>
          <p:cNvPr id="32" name="Image 5" descr="preencoded.png"/>
          <p:cNvPicPr>
            <a:picLocks noChangeAspect="1"/>
          </p:cNvPicPr>
          <p:nvPr/>
        </p:nvPicPr>
        <p:blipFill>
          <a:blip r:embed="rId6"/>
          <a:stretch>
            <a:fillRect/>
          </a:stretch>
        </p:blipFill>
        <p:spPr>
          <a:xfrm>
            <a:off x="4347319" y="4400550"/>
            <a:ext cx="388620" cy="388620"/>
          </a:xfrm>
          <a:prstGeom prst="rect">
            <a:avLst/>
          </a:prstGeom>
        </p:spPr>
      </p:pic>
      <p:sp>
        <p:nvSpPr>
          <p:cNvPr id="33" name="Text 25"/>
          <p:cNvSpPr/>
          <p:nvPr/>
        </p:nvSpPr>
        <p:spPr>
          <a:xfrm>
            <a:off x="3757661" y="5074920"/>
            <a:ext cx="1558791" cy="548640"/>
          </a:xfrm>
          <a:prstGeom prst="rect">
            <a:avLst/>
          </a:prstGeom>
          <a:noFill/>
          <a:ln/>
        </p:spPr>
        <p:txBody>
          <a:bodyPr wrap="square" lIns="0" tIns="0" rIns="0" bIns="0" rtlCol="0" anchor="ctr"/>
          <a:lstStyle/>
          <a:p>
            <a:pPr algn="ctr" indent="0" marL="0">
              <a:lnSpc>
                <a:spcPct val="110000"/>
              </a:lnSpc>
              <a:buNone/>
            </a:pPr>
            <a:r>
              <a:rPr lang="en-US" sz="1000" dirty="0">
                <a:solidFill>
                  <a:srgbClr val="475569"/>
                </a:solidFill>
                <a:latin typeface="Calibri" pitchFamily="34" charset="0"/>
                <a:ea typeface="Calibri" pitchFamily="34" charset="-122"/>
                <a:cs typeface="Calibri" pitchFamily="34" charset="-120"/>
              </a:rPr>
              <a:t>PostgreSQL</a:t>
            </a:r>
            <a:endParaRPr lang="en-US" sz="1000" dirty="0"/>
          </a:p>
        </p:txBody>
      </p:sp>
      <p:sp>
        <p:nvSpPr>
          <p:cNvPr id="34" name="Shape 26"/>
          <p:cNvSpPr/>
          <p:nvPr/>
        </p:nvSpPr>
        <p:spPr>
          <a:xfrm>
            <a:off x="5711800" y="4206240"/>
            <a:ext cx="777240" cy="777240"/>
          </a:xfrm>
          <a:prstGeom prst="ellipse">
            <a:avLst/>
          </a:prstGeom>
          <a:solidFill>
            <a:srgbClr val="0F172A"/>
          </a:solidFill>
          <a:ln/>
        </p:spPr>
      </p:sp>
      <p:pic>
        <p:nvPicPr>
          <p:cNvPr id="35" name="Image 6" descr="preencoded.png"/>
          <p:cNvPicPr>
            <a:picLocks noChangeAspect="1"/>
          </p:cNvPicPr>
          <p:nvPr/>
        </p:nvPicPr>
        <p:blipFill>
          <a:blip r:embed="rId7"/>
          <a:stretch>
            <a:fillRect/>
          </a:stretch>
        </p:blipFill>
        <p:spPr>
          <a:xfrm>
            <a:off x="5906110" y="4400550"/>
            <a:ext cx="388620" cy="388620"/>
          </a:xfrm>
          <a:prstGeom prst="rect">
            <a:avLst/>
          </a:prstGeom>
        </p:spPr>
      </p:pic>
      <p:sp>
        <p:nvSpPr>
          <p:cNvPr id="36" name="Text 27"/>
          <p:cNvSpPr/>
          <p:nvPr/>
        </p:nvSpPr>
        <p:spPr>
          <a:xfrm>
            <a:off x="5316452" y="5074920"/>
            <a:ext cx="1558791" cy="548640"/>
          </a:xfrm>
          <a:prstGeom prst="rect">
            <a:avLst/>
          </a:prstGeom>
          <a:noFill/>
          <a:ln/>
        </p:spPr>
        <p:txBody>
          <a:bodyPr wrap="square" lIns="0" tIns="0" rIns="0" bIns="0" rtlCol="0" anchor="ctr"/>
          <a:lstStyle/>
          <a:p>
            <a:pPr algn="ctr" indent="0" marL="0">
              <a:lnSpc>
                <a:spcPct val="110000"/>
              </a:lnSpc>
              <a:buNone/>
            </a:pPr>
            <a:r>
              <a:rPr lang="en-US" sz="1000" dirty="0">
                <a:solidFill>
                  <a:srgbClr val="475569"/>
                </a:solidFill>
                <a:latin typeface="Calibri" pitchFamily="34" charset="0"/>
                <a:ea typeface="Calibri" pitchFamily="34" charset="-122"/>
                <a:cs typeface="Calibri" pitchFamily="34" charset="-120"/>
              </a:rPr>
              <a:t>React + TS</a:t>
            </a:r>
            <a:endParaRPr lang="en-US" sz="1000" dirty="0"/>
          </a:p>
        </p:txBody>
      </p:sp>
      <p:sp>
        <p:nvSpPr>
          <p:cNvPr id="37" name="Shape 28"/>
          <p:cNvSpPr/>
          <p:nvPr/>
        </p:nvSpPr>
        <p:spPr>
          <a:xfrm>
            <a:off x="7270590" y="4206240"/>
            <a:ext cx="777240" cy="777240"/>
          </a:xfrm>
          <a:prstGeom prst="ellipse">
            <a:avLst/>
          </a:prstGeom>
          <a:solidFill>
            <a:srgbClr val="0F172A"/>
          </a:solidFill>
          <a:ln/>
        </p:spPr>
      </p:sp>
      <p:pic>
        <p:nvPicPr>
          <p:cNvPr id="38" name="Image 7" descr="preencoded.png"/>
          <p:cNvPicPr>
            <a:picLocks noChangeAspect="1"/>
          </p:cNvPicPr>
          <p:nvPr/>
        </p:nvPicPr>
        <p:blipFill>
          <a:blip r:embed="rId8"/>
          <a:stretch>
            <a:fillRect/>
          </a:stretch>
        </p:blipFill>
        <p:spPr>
          <a:xfrm>
            <a:off x="7464900" y="4400550"/>
            <a:ext cx="388620" cy="388620"/>
          </a:xfrm>
          <a:prstGeom prst="rect">
            <a:avLst/>
          </a:prstGeom>
        </p:spPr>
      </p:pic>
      <p:sp>
        <p:nvSpPr>
          <p:cNvPr id="39" name="Text 29"/>
          <p:cNvSpPr/>
          <p:nvPr/>
        </p:nvSpPr>
        <p:spPr>
          <a:xfrm>
            <a:off x="6875243" y="5074920"/>
            <a:ext cx="1558791" cy="548640"/>
          </a:xfrm>
          <a:prstGeom prst="rect">
            <a:avLst/>
          </a:prstGeom>
          <a:noFill/>
          <a:ln/>
        </p:spPr>
        <p:txBody>
          <a:bodyPr wrap="square" lIns="0" tIns="0" rIns="0" bIns="0" rtlCol="0" anchor="ctr"/>
          <a:lstStyle/>
          <a:p>
            <a:pPr algn="ctr" indent="0" marL="0">
              <a:lnSpc>
                <a:spcPct val="110000"/>
              </a:lnSpc>
              <a:buNone/>
            </a:pPr>
            <a:r>
              <a:rPr lang="en-US" sz="1000" dirty="0">
                <a:solidFill>
                  <a:srgbClr val="475569"/>
                </a:solidFill>
                <a:latin typeface="Calibri" pitchFamily="34" charset="0"/>
                <a:ea typeface="Calibri" pitchFamily="34" charset="-122"/>
                <a:cs typeface="Calibri" pitchFamily="34" charset="-120"/>
              </a:rPr>
              <a:t>Recharts</a:t>
            </a:r>
            <a:endParaRPr lang="en-US" sz="1000" dirty="0"/>
          </a:p>
        </p:txBody>
      </p:sp>
      <p:sp>
        <p:nvSpPr>
          <p:cNvPr id="40" name="Shape 30"/>
          <p:cNvSpPr/>
          <p:nvPr/>
        </p:nvSpPr>
        <p:spPr>
          <a:xfrm>
            <a:off x="8829381" y="4206240"/>
            <a:ext cx="777240" cy="777240"/>
          </a:xfrm>
          <a:prstGeom prst="ellipse">
            <a:avLst/>
          </a:prstGeom>
          <a:solidFill>
            <a:srgbClr val="0F172A"/>
          </a:solidFill>
          <a:ln/>
        </p:spPr>
      </p:sp>
      <p:pic>
        <p:nvPicPr>
          <p:cNvPr id="41" name="Image 8" descr="preencoded.png"/>
          <p:cNvPicPr>
            <a:picLocks noChangeAspect="1"/>
          </p:cNvPicPr>
          <p:nvPr/>
        </p:nvPicPr>
        <p:blipFill>
          <a:blip r:embed="rId9"/>
          <a:stretch>
            <a:fillRect/>
          </a:stretch>
        </p:blipFill>
        <p:spPr>
          <a:xfrm>
            <a:off x="9023691" y="4400550"/>
            <a:ext cx="388620" cy="388620"/>
          </a:xfrm>
          <a:prstGeom prst="rect">
            <a:avLst/>
          </a:prstGeom>
        </p:spPr>
      </p:pic>
      <p:sp>
        <p:nvSpPr>
          <p:cNvPr id="42" name="Text 31"/>
          <p:cNvSpPr/>
          <p:nvPr/>
        </p:nvSpPr>
        <p:spPr>
          <a:xfrm>
            <a:off x="8434034" y="5074920"/>
            <a:ext cx="1558791" cy="548640"/>
          </a:xfrm>
          <a:prstGeom prst="rect">
            <a:avLst/>
          </a:prstGeom>
          <a:noFill/>
          <a:ln/>
        </p:spPr>
        <p:txBody>
          <a:bodyPr wrap="square" lIns="0" tIns="0" rIns="0" bIns="0" rtlCol="0" anchor="ctr"/>
          <a:lstStyle/>
          <a:p>
            <a:pPr algn="ctr" indent="0" marL="0">
              <a:lnSpc>
                <a:spcPct val="110000"/>
              </a:lnSpc>
              <a:buNone/>
            </a:pPr>
            <a:r>
              <a:rPr lang="en-US" sz="1000" dirty="0">
                <a:solidFill>
                  <a:srgbClr val="475569"/>
                </a:solidFill>
                <a:latin typeface="Calibri" pitchFamily="34" charset="0"/>
                <a:ea typeface="Calibri" pitchFamily="34" charset="-122"/>
                <a:cs typeface="Calibri" pitchFamily="34" charset="-120"/>
              </a:rPr>
              <a:t>Git / GitHub</a:t>
            </a:r>
            <a:endParaRPr lang="en-US" sz="1000" dirty="0"/>
          </a:p>
        </p:txBody>
      </p:sp>
      <p:sp>
        <p:nvSpPr>
          <p:cNvPr id="43" name="Shape 32"/>
          <p:cNvSpPr/>
          <p:nvPr/>
        </p:nvSpPr>
        <p:spPr>
          <a:xfrm>
            <a:off x="10388172" y="4206240"/>
            <a:ext cx="777240" cy="777240"/>
          </a:xfrm>
          <a:prstGeom prst="ellipse">
            <a:avLst/>
          </a:prstGeom>
          <a:solidFill>
            <a:srgbClr val="0F172A"/>
          </a:solidFill>
          <a:ln/>
        </p:spPr>
      </p:sp>
      <p:pic>
        <p:nvPicPr>
          <p:cNvPr id="44" name="Image 9" descr="preencoded.png"/>
          <p:cNvPicPr>
            <a:picLocks noChangeAspect="1"/>
          </p:cNvPicPr>
          <p:nvPr/>
        </p:nvPicPr>
        <p:blipFill>
          <a:blip r:embed="rId10"/>
          <a:stretch>
            <a:fillRect/>
          </a:stretch>
        </p:blipFill>
        <p:spPr>
          <a:xfrm>
            <a:off x="10582482" y="4400550"/>
            <a:ext cx="388620" cy="388620"/>
          </a:xfrm>
          <a:prstGeom prst="rect">
            <a:avLst/>
          </a:prstGeom>
        </p:spPr>
      </p:pic>
      <p:sp>
        <p:nvSpPr>
          <p:cNvPr id="45" name="Text 33"/>
          <p:cNvSpPr/>
          <p:nvPr/>
        </p:nvSpPr>
        <p:spPr>
          <a:xfrm>
            <a:off x="9992824" y="5074920"/>
            <a:ext cx="1558791" cy="548640"/>
          </a:xfrm>
          <a:prstGeom prst="rect">
            <a:avLst/>
          </a:prstGeom>
          <a:noFill/>
          <a:ln/>
        </p:spPr>
        <p:txBody>
          <a:bodyPr wrap="square" lIns="0" tIns="0" rIns="0" bIns="0" rtlCol="0" anchor="ctr"/>
          <a:lstStyle/>
          <a:p>
            <a:pPr algn="ctr" indent="0" marL="0">
              <a:lnSpc>
                <a:spcPct val="110000"/>
              </a:lnSpc>
              <a:buNone/>
            </a:pPr>
            <a:r>
              <a:rPr lang="en-US" sz="1000" dirty="0">
                <a:solidFill>
                  <a:srgbClr val="475569"/>
                </a:solidFill>
                <a:latin typeface="Calibri" pitchFamily="34" charset="0"/>
                <a:ea typeface="Calibri" pitchFamily="34" charset="-122"/>
                <a:cs typeface="Calibri" pitchFamily="34" charset="-120"/>
              </a:rPr>
              <a:t>venv</a:t>
            </a:r>
            <a:endParaRPr lang="en-US" sz="1000" dirty="0"/>
          </a:p>
        </p:txBody>
      </p:sp>
      <p:sp>
        <p:nvSpPr>
          <p:cNvPr id="46" name="Text 34"/>
          <p:cNvSpPr/>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07</a:t>
            </a:r>
            <a:endParaRPr lang="en-US" sz="10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828800" y="-2286000"/>
            <a:ext cx="5029200" cy="5029200"/>
          </a:xfrm>
          <a:prstGeom prst="ellipse">
            <a:avLst/>
          </a:prstGeom>
          <a:solidFill>
            <a:srgbClr val="1E293B">
              <a:alpha val="50000"/>
            </a:srgbClr>
          </a:solidFill>
          <a:ln/>
        </p:spPr>
      </p:sp>
      <p:sp>
        <p:nvSpPr>
          <p:cNvPr id="3" name="Shape 1"/>
          <p:cNvSpPr/>
          <p:nvPr/>
        </p:nvSpPr>
        <p:spPr>
          <a:xfrm>
            <a:off x="9875520" y="4389120"/>
            <a:ext cx="4114800" cy="4114800"/>
          </a:xfrm>
          <a:prstGeom prst="ellipse">
            <a:avLst/>
          </a:prstGeom>
          <a:solidFill>
            <a:srgbClr val="1E293B">
              <a:alpha val="42000"/>
            </a:srgbClr>
          </a:solidFill>
          <a:ln/>
        </p:spPr>
      </p:sp>
      <p:sp>
        <p:nvSpPr>
          <p:cNvPr id="4" name="Shape 2"/>
          <p:cNvSpPr/>
          <p:nvPr/>
        </p:nvSpPr>
        <p:spPr>
          <a:xfrm>
            <a:off x="822960" y="1828800"/>
            <a:ext cx="777240" cy="777240"/>
          </a:xfrm>
          <a:prstGeom prst="ellipse">
            <a:avLst/>
          </a:prstGeom>
          <a:solidFill>
            <a:srgbClr val="1E293B"/>
          </a:solidFill>
          <a:ln/>
        </p:spPr>
      </p:sp>
      <p:pic>
        <p:nvPicPr>
          <p:cNvPr id="5" name="Image 0" descr="preencoded.png"/>
          <p:cNvPicPr>
            <a:picLocks noChangeAspect="1"/>
          </p:cNvPicPr>
          <p:nvPr/>
        </p:nvPicPr>
        <p:blipFill>
          <a:blip r:embed="rId1"/>
          <a:stretch>
            <a:fillRect/>
          </a:stretch>
        </p:blipFill>
        <p:spPr>
          <a:xfrm>
            <a:off x="1017270" y="2023110"/>
            <a:ext cx="388620" cy="388620"/>
          </a:xfrm>
          <a:prstGeom prst="rect">
            <a:avLst/>
          </a:prstGeom>
        </p:spPr>
      </p:pic>
      <p:sp>
        <p:nvSpPr>
          <p:cNvPr id="6" name="Text 3"/>
          <p:cNvSpPr/>
          <p:nvPr/>
        </p:nvSpPr>
        <p:spPr>
          <a:xfrm>
            <a:off x="822960" y="2788920"/>
            <a:ext cx="9144000" cy="320040"/>
          </a:xfrm>
          <a:prstGeom prst="rect">
            <a:avLst/>
          </a:prstGeom>
          <a:noFill/>
          <a:ln/>
        </p:spPr>
        <p:txBody>
          <a:bodyPr wrap="square" lIns="0" tIns="0" rIns="0" bIns="0" rtlCol="0" anchor="ctr"/>
          <a:lstStyle/>
          <a:p>
            <a:pPr indent="0" marL="0">
              <a:buNone/>
            </a:pPr>
            <a:r>
              <a:rPr lang="en-US" sz="1300" b="1" spc="200" kern="0" dirty="0">
                <a:solidFill>
                  <a:srgbClr val="60A5FA"/>
                </a:solidFill>
                <a:latin typeface="Calibri" pitchFamily="34" charset="0"/>
                <a:ea typeface="Calibri" pitchFamily="34" charset="-122"/>
                <a:cs typeface="Calibri" pitchFamily="34" charset="-120"/>
              </a:rPr>
              <a:t>PART 04</a:t>
            </a:r>
            <a:endParaRPr lang="en-US" sz="1300" dirty="0"/>
          </a:p>
        </p:txBody>
      </p:sp>
      <p:sp>
        <p:nvSpPr>
          <p:cNvPr id="7" name="Text 4"/>
          <p:cNvSpPr/>
          <p:nvPr/>
        </p:nvSpPr>
        <p:spPr>
          <a:xfrm>
            <a:off x="777240" y="3154680"/>
            <a:ext cx="10058400" cy="100584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The Platform</a:t>
            </a:r>
            <a:endParaRPr lang="en-US" sz="3800" dirty="0"/>
          </a:p>
        </p:txBody>
      </p:sp>
      <p:sp>
        <p:nvSpPr>
          <p:cNvPr id="8" name="Text 5"/>
          <p:cNvSpPr/>
          <p:nvPr/>
        </p:nvSpPr>
        <p:spPr>
          <a:xfrm>
            <a:off x="822960" y="4160520"/>
            <a:ext cx="9144000" cy="548640"/>
          </a:xfrm>
          <a:prstGeom prst="rect">
            <a:avLst/>
          </a:prstGeom>
          <a:noFill/>
          <a:ln/>
        </p:spPr>
        <p:txBody>
          <a:bodyPr wrap="square" lIns="0" tIns="0" rIns="0" bIns="0" rtlCol="0" anchor="ctr"/>
          <a:lstStyle/>
          <a:p>
            <a:pPr indent="0" marL="0">
              <a:lnSpc>
                <a:spcPct val="125000"/>
              </a:lnSpc>
              <a:buNone/>
            </a:pPr>
            <a:r>
              <a:rPr lang="en-US" sz="1400" dirty="0">
                <a:solidFill>
                  <a:srgbClr val="CBD5E1"/>
                </a:solidFill>
                <a:latin typeface="Calibri" pitchFamily="34" charset="0"/>
                <a:ea typeface="Calibri" pitchFamily="34" charset="-122"/>
                <a:cs typeface="Calibri" pitchFamily="34" charset="-120"/>
              </a:rPr>
              <a:t>Four modules — and the technical core of this project: execution and scheduling</a:t>
            </a:r>
            <a:endParaRPr lang="en-US" sz="14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37215" y="5120640"/>
            <a:ext cx="3291840" cy="3291840"/>
          </a:xfrm>
          <a:prstGeom prst="ellipse">
            <a:avLst/>
          </a:prstGeom>
          <a:solidFill>
            <a:srgbClr val="EFF6FF">
              <a:alpha val="45000"/>
            </a:srgbClr>
          </a:solidFill>
          <a:ln/>
        </p:spPr>
      </p:sp>
      <p:sp>
        <p:nvSpPr>
          <p:cNvPr id="3" name="Text 1"/>
          <p:cNvSpPr/>
          <p:nvPr/>
        </p:nvSpPr>
        <p:spPr>
          <a:xfrm>
            <a:off x="640080" y="411480"/>
            <a:ext cx="8229600" cy="320040"/>
          </a:xfrm>
          <a:prstGeom prst="rect">
            <a:avLst/>
          </a:prstGeom>
          <a:noFill/>
          <a:ln/>
        </p:spPr>
        <p:txBody>
          <a:bodyPr wrap="square" lIns="0" tIns="0" rIns="0" bIns="0" rtlCol="0" anchor="ctr"/>
          <a:lstStyle/>
          <a:p>
            <a:pPr indent="0" marL="0">
              <a:buNone/>
            </a:pPr>
            <a:r>
              <a:rPr lang="en-US" sz="1250" b="1" spc="200" kern="0" dirty="0">
                <a:solidFill>
                  <a:srgbClr val="2563EB"/>
                </a:solidFill>
                <a:latin typeface="Calibri" pitchFamily="34" charset="0"/>
                <a:ea typeface="Calibri" pitchFamily="34" charset="-122"/>
                <a:cs typeface="Calibri" pitchFamily="34" charset="-120"/>
              </a:rPr>
              <a:t>MODULE 1</a:t>
            </a:r>
            <a:endParaRPr lang="en-US" sz="1250" dirty="0"/>
          </a:p>
        </p:txBody>
      </p:sp>
      <p:sp>
        <p:nvSpPr>
          <p:cNvPr id="4" name="Text 2"/>
          <p:cNvSpPr/>
          <p:nvPr/>
        </p:nvSpPr>
        <p:spPr>
          <a:xfrm>
            <a:off x="640080" y="713232"/>
            <a:ext cx="10515600"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Authentication &amp; Access Management</a:t>
            </a:r>
            <a:endParaRPr lang="en-US" sz="2800" dirty="0"/>
          </a:p>
        </p:txBody>
      </p:sp>
      <p:sp>
        <p:nvSpPr>
          <p:cNvPr id="5" name="Shape 3"/>
          <p:cNvSpPr/>
          <p:nvPr/>
        </p:nvSpPr>
        <p:spPr>
          <a:xfrm>
            <a:off x="640080" y="2011680"/>
            <a:ext cx="566928" cy="566928"/>
          </a:xfrm>
          <a:prstGeom prst="ellipse">
            <a:avLst/>
          </a:prstGeom>
          <a:solidFill>
            <a:srgbClr val="EFF6FF"/>
          </a:solidFill>
          <a:ln/>
        </p:spPr>
      </p:sp>
      <p:pic>
        <p:nvPicPr>
          <p:cNvPr id="6" name="Image 0" descr="preencoded.png"/>
          <p:cNvPicPr>
            <a:picLocks noChangeAspect="1"/>
          </p:cNvPicPr>
          <p:nvPr/>
        </p:nvPicPr>
        <p:blipFill>
          <a:blip r:embed="rId1"/>
          <a:stretch>
            <a:fillRect/>
          </a:stretch>
        </p:blipFill>
        <p:spPr>
          <a:xfrm>
            <a:off x="767639" y="2139239"/>
            <a:ext cx="311810" cy="311810"/>
          </a:xfrm>
          <a:prstGeom prst="rect">
            <a:avLst/>
          </a:prstGeom>
        </p:spPr>
      </p:pic>
      <p:sp>
        <p:nvSpPr>
          <p:cNvPr id="7" name="Text 4"/>
          <p:cNvSpPr/>
          <p:nvPr/>
        </p:nvSpPr>
        <p:spPr>
          <a:xfrm>
            <a:off x="1371600" y="2029968"/>
            <a:ext cx="4297680" cy="329184"/>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JWT authentication</a:t>
            </a:r>
            <a:endParaRPr lang="en-US" sz="1400" dirty="0"/>
          </a:p>
        </p:txBody>
      </p:sp>
      <p:sp>
        <p:nvSpPr>
          <p:cNvPr id="8" name="Text 5"/>
          <p:cNvSpPr/>
          <p:nvPr/>
        </p:nvSpPr>
        <p:spPr>
          <a:xfrm>
            <a:off x="1371600" y="2359152"/>
            <a:ext cx="4297680" cy="457200"/>
          </a:xfrm>
          <a:prstGeom prst="rect">
            <a:avLst/>
          </a:prstGeom>
          <a:noFill/>
          <a:ln/>
        </p:spPr>
        <p:txBody>
          <a:bodyPr wrap="square" lIns="0" tIns="0" rIns="0" bIns="0" rtlCol="0" anchor="ctr"/>
          <a:lstStyle/>
          <a:p>
            <a:pPr indent="0" marL="0">
              <a:lnSpc>
                <a:spcPct val="115000"/>
              </a:lnSpc>
              <a:buNone/>
            </a:pPr>
            <a:r>
              <a:rPr lang="en-US" sz="1150" dirty="0">
                <a:solidFill>
                  <a:srgbClr val="64748B"/>
                </a:solidFill>
                <a:latin typeface="Calibri" pitchFamily="34" charset="0"/>
                <a:ea typeface="Calibri" pitchFamily="34" charset="-122"/>
                <a:cs typeface="Calibri" pitchFamily="34" charset="-120"/>
              </a:rPr>
              <a:t>Short-lived access token + silent refresh</a:t>
            </a:r>
            <a:endParaRPr lang="en-US" sz="1150" dirty="0"/>
          </a:p>
        </p:txBody>
      </p:sp>
      <p:sp>
        <p:nvSpPr>
          <p:cNvPr id="9" name="Shape 6"/>
          <p:cNvSpPr/>
          <p:nvPr/>
        </p:nvSpPr>
        <p:spPr>
          <a:xfrm>
            <a:off x="640080" y="3090672"/>
            <a:ext cx="566928" cy="566928"/>
          </a:xfrm>
          <a:prstGeom prst="ellipse">
            <a:avLst/>
          </a:prstGeom>
          <a:solidFill>
            <a:srgbClr val="EFF6FF"/>
          </a:solidFill>
          <a:ln/>
        </p:spPr>
      </p:sp>
      <p:pic>
        <p:nvPicPr>
          <p:cNvPr id="10" name="Image 1" descr="preencoded.png"/>
          <p:cNvPicPr>
            <a:picLocks noChangeAspect="1"/>
          </p:cNvPicPr>
          <p:nvPr/>
        </p:nvPicPr>
        <p:blipFill>
          <a:blip r:embed="rId2"/>
          <a:stretch>
            <a:fillRect/>
          </a:stretch>
        </p:blipFill>
        <p:spPr>
          <a:xfrm>
            <a:off x="767639" y="3218231"/>
            <a:ext cx="311810" cy="311810"/>
          </a:xfrm>
          <a:prstGeom prst="rect">
            <a:avLst/>
          </a:prstGeom>
        </p:spPr>
      </p:pic>
      <p:sp>
        <p:nvSpPr>
          <p:cNvPr id="11" name="Text 7"/>
          <p:cNvSpPr/>
          <p:nvPr/>
        </p:nvSpPr>
        <p:spPr>
          <a:xfrm>
            <a:off x="1371600" y="3108960"/>
            <a:ext cx="4297680" cy="329184"/>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Role-based access</a:t>
            </a:r>
            <a:endParaRPr lang="en-US" sz="1400" dirty="0"/>
          </a:p>
        </p:txBody>
      </p:sp>
      <p:sp>
        <p:nvSpPr>
          <p:cNvPr id="12" name="Text 8"/>
          <p:cNvSpPr/>
          <p:nvPr/>
        </p:nvSpPr>
        <p:spPr>
          <a:xfrm>
            <a:off x="1371600" y="3438144"/>
            <a:ext cx="4297680" cy="457200"/>
          </a:xfrm>
          <a:prstGeom prst="rect">
            <a:avLst/>
          </a:prstGeom>
          <a:noFill/>
          <a:ln/>
        </p:spPr>
        <p:txBody>
          <a:bodyPr wrap="square" lIns="0" tIns="0" rIns="0" bIns="0" rtlCol="0" anchor="ctr"/>
          <a:lstStyle/>
          <a:p>
            <a:pPr indent="0" marL="0">
              <a:lnSpc>
                <a:spcPct val="115000"/>
              </a:lnSpc>
              <a:buNone/>
            </a:pPr>
            <a:r>
              <a:rPr lang="en-US" sz="1150" dirty="0">
                <a:solidFill>
                  <a:srgbClr val="64748B"/>
                </a:solidFill>
                <a:latin typeface="Calibri" pitchFamily="34" charset="0"/>
                <a:ea typeface="Calibri" pitchFamily="34" charset="-122"/>
                <a:cs typeface="Calibri" pitchFamily="34" charset="-120"/>
              </a:rPr>
              <a:t>Admin inherits every User capability, plus privileged ops</a:t>
            </a:r>
            <a:endParaRPr lang="en-US" sz="1150" dirty="0"/>
          </a:p>
        </p:txBody>
      </p:sp>
      <p:sp>
        <p:nvSpPr>
          <p:cNvPr id="13" name="Shape 9"/>
          <p:cNvSpPr/>
          <p:nvPr/>
        </p:nvSpPr>
        <p:spPr>
          <a:xfrm>
            <a:off x="640080" y="4169664"/>
            <a:ext cx="566928" cy="566928"/>
          </a:xfrm>
          <a:prstGeom prst="ellipse">
            <a:avLst/>
          </a:prstGeom>
          <a:solidFill>
            <a:srgbClr val="EFF6FF"/>
          </a:solidFill>
          <a:ln/>
        </p:spPr>
      </p:sp>
      <p:pic>
        <p:nvPicPr>
          <p:cNvPr id="14" name="Image 2" descr="preencoded.png"/>
          <p:cNvPicPr>
            <a:picLocks noChangeAspect="1"/>
          </p:cNvPicPr>
          <p:nvPr/>
        </p:nvPicPr>
        <p:blipFill>
          <a:blip r:embed="rId3"/>
          <a:stretch>
            <a:fillRect/>
          </a:stretch>
        </p:blipFill>
        <p:spPr>
          <a:xfrm>
            <a:off x="767639" y="4297223"/>
            <a:ext cx="311810" cy="311810"/>
          </a:xfrm>
          <a:prstGeom prst="rect">
            <a:avLst/>
          </a:prstGeom>
        </p:spPr>
      </p:pic>
      <p:sp>
        <p:nvSpPr>
          <p:cNvPr id="15" name="Text 10"/>
          <p:cNvSpPr/>
          <p:nvPr/>
        </p:nvSpPr>
        <p:spPr>
          <a:xfrm>
            <a:off x="1371600" y="4187952"/>
            <a:ext cx="4297680" cy="329184"/>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Group-based visibility</a:t>
            </a:r>
            <a:endParaRPr lang="en-US" sz="1400" dirty="0"/>
          </a:p>
        </p:txBody>
      </p:sp>
      <p:sp>
        <p:nvSpPr>
          <p:cNvPr id="16" name="Text 11"/>
          <p:cNvSpPr/>
          <p:nvPr/>
        </p:nvSpPr>
        <p:spPr>
          <a:xfrm>
            <a:off x="1371600" y="4517136"/>
            <a:ext cx="4297680" cy="457200"/>
          </a:xfrm>
          <a:prstGeom prst="rect">
            <a:avLst/>
          </a:prstGeom>
          <a:noFill/>
          <a:ln/>
        </p:spPr>
        <p:txBody>
          <a:bodyPr wrap="square" lIns="0" tIns="0" rIns="0" bIns="0" rtlCol="0" anchor="ctr"/>
          <a:lstStyle/>
          <a:p>
            <a:pPr indent="0" marL="0">
              <a:lnSpc>
                <a:spcPct val="115000"/>
              </a:lnSpc>
              <a:buNone/>
            </a:pPr>
            <a:r>
              <a:rPr lang="en-US" sz="1150" dirty="0">
                <a:solidFill>
                  <a:srgbClr val="64748B"/>
                </a:solidFill>
                <a:latin typeface="Calibri" pitchFamily="34" charset="0"/>
                <a:ea typeface="Calibri" pitchFamily="34" charset="-122"/>
                <a:cs typeface="Calibri" pitchFamily="34" charset="-120"/>
              </a:rPr>
              <a:t>Users see only ETLs assigned to their group(s)</a:t>
            </a:r>
            <a:endParaRPr lang="en-US" sz="1150" dirty="0"/>
          </a:p>
        </p:txBody>
      </p:sp>
      <p:sp>
        <p:nvSpPr>
          <p:cNvPr id="17" name="Shape 12"/>
          <p:cNvSpPr/>
          <p:nvPr/>
        </p:nvSpPr>
        <p:spPr>
          <a:xfrm>
            <a:off x="6309360" y="1965960"/>
            <a:ext cx="5257800" cy="3063240"/>
          </a:xfrm>
          <a:prstGeom prst="rect">
            <a:avLst/>
          </a:prstGeom>
          <a:solidFill>
            <a:srgbClr val="0F172A"/>
          </a:solidFill>
          <a:ln/>
        </p:spPr>
      </p:sp>
      <p:sp>
        <p:nvSpPr>
          <p:cNvPr id="18" name="Text 13"/>
          <p:cNvSpPr/>
          <p:nvPr/>
        </p:nvSpPr>
        <p:spPr>
          <a:xfrm>
            <a:off x="6675120" y="2194560"/>
            <a:ext cx="4572000" cy="274320"/>
          </a:xfrm>
          <a:prstGeom prst="rect">
            <a:avLst/>
          </a:prstGeom>
          <a:noFill/>
          <a:ln/>
        </p:spPr>
        <p:txBody>
          <a:bodyPr wrap="square" lIns="0" tIns="0" rIns="0" bIns="0" rtlCol="0" anchor="ctr"/>
          <a:lstStyle/>
          <a:p>
            <a:pPr indent="0" marL="0">
              <a:buNone/>
            </a:pPr>
            <a:r>
              <a:rPr lang="en-US" sz="1100" b="1" spc="150" kern="0" dirty="0">
                <a:solidFill>
                  <a:srgbClr val="60A5FA"/>
                </a:solidFill>
                <a:latin typeface="Calibri" pitchFamily="34" charset="0"/>
                <a:ea typeface="Calibri" pitchFamily="34" charset="-122"/>
                <a:cs typeface="Calibri" pitchFamily="34" charset="-120"/>
              </a:rPr>
              <a:t>ETL VISIBILITY RULE</a:t>
            </a:r>
            <a:endParaRPr lang="en-US" sz="1100" dirty="0"/>
          </a:p>
        </p:txBody>
      </p:sp>
      <p:sp>
        <p:nvSpPr>
          <p:cNvPr id="19" name="Text 14"/>
          <p:cNvSpPr/>
          <p:nvPr/>
        </p:nvSpPr>
        <p:spPr>
          <a:xfrm>
            <a:off x="6675120" y="2542032"/>
            <a:ext cx="4663440" cy="45720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No groups assigned  →  </a:t>
            </a:r>
            <a:pPr indent="0" marL="0">
              <a:buNone/>
            </a:pPr>
            <a:r>
              <a:rPr lang="en-US" sz="1300" b="1" dirty="0">
                <a:solidFill>
                  <a:srgbClr val="F0FDF4"/>
                </a:solidFill>
                <a:latin typeface="Calibri" pitchFamily="34" charset="0"/>
                <a:ea typeface="Calibri" pitchFamily="34" charset="-122"/>
                <a:cs typeface="Calibri" pitchFamily="34" charset="-120"/>
              </a:rPr>
              <a:t>visible to everyone</a:t>
            </a:r>
            <a:endParaRPr lang="en-US" sz="1300" dirty="0"/>
          </a:p>
        </p:txBody>
      </p:sp>
      <p:sp>
        <p:nvSpPr>
          <p:cNvPr id="20" name="Text 15"/>
          <p:cNvSpPr/>
          <p:nvPr/>
        </p:nvSpPr>
        <p:spPr>
          <a:xfrm>
            <a:off x="6675120" y="2962656"/>
            <a:ext cx="4663440" cy="45720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Groups assigned  →  </a:t>
            </a:r>
            <a:pPr indent="0" marL="0">
              <a:buNone/>
            </a:pPr>
            <a:r>
              <a:rPr lang="en-US" sz="1300" b="1" dirty="0">
                <a:solidFill>
                  <a:srgbClr val="FCA5A5"/>
                </a:solidFill>
                <a:latin typeface="Calibri" pitchFamily="34" charset="0"/>
                <a:ea typeface="Calibri" pitchFamily="34" charset="-122"/>
                <a:cs typeface="Calibri" pitchFamily="34" charset="-120"/>
              </a:rPr>
              <a:t>restricted to members only</a:t>
            </a:r>
            <a:endParaRPr lang="en-US" sz="1300" dirty="0"/>
          </a:p>
        </p:txBody>
      </p:sp>
      <p:sp>
        <p:nvSpPr>
          <p:cNvPr id="21" name="Shape 16"/>
          <p:cNvSpPr/>
          <p:nvPr/>
        </p:nvSpPr>
        <p:spPr>
          <a:xfrm>
            <a:off x="6675120" y="3520440"/>
            <a:ext cx="4526280" cy="0"/>
          </a:xfrm>
          <a:prstGeom prst="line">
            <a:avLst/>
          </a:prstGeom>
          <a:noFill/>
          <a:ln w="12700">
            <a:solidFill>
              <a:srgbClr val="334155"/>
            </a:solidFill>
            <a:prstDash val="solid"/>
          </a:ln>
        </p:spPr>
      </p:sp>
      <p:sp>
        <p:nvSpPr>
          <p:cNvPr id="22" name="Text 17"/>
          <p:cNvSpPr/>
          <p:nvPr/>
        </p:nvSpPr>
        <p:spPr>
          <a:xfrm>
            <a:off x="6675120" y="3657600"/>
            <a:ext cx="4526280" cy="1234440"/>
          </a:xfrm>
          <a:prstGeom prst="rect">
            <a:avLst/>
          </a:prstGeom>
          <a:noFill/>
          <a:ln/>
        </p:spPr>
        <p:txBody>
          <a:bodyPr wrap="square" lIns="0" tIns="0" rIns="0" bIns="0" rtlCol="0" anchor="ctr"/>
          <a:lstStyle/>
          <a:p>
            <a:pPr indent="0" marL="0">
              <a:lnSpc>
                <a:spcPct val="130000"/>
              </a:lnSpc>
              <a:buNone/>
            </a:pPr>
            <a:r>
              <a:rPr lang="en-US" sz="1150" i="1" dirty="0">
                <a:solidFill>
                  <a:srgbClr val="94A3B8"/>
                </a:solidFill>
                <a:latin typeface="Calibri" pitchFamily="34" charset="0"/>
                <a:ea typeface="Calibri" pitchFamily="34" charset="-122"/>
                <a:cs typeface="Calibri" pitchFamily="34" charset="-120"/>
              </a:rPr>
              <a:t>Enforced inside ETLViewSet.get_queryset() — a single Django ORM query, not an after-the-fact filter.</a:t>
            </a:r>
            <a:endParaRPr lang="en-US" sz="1150" dirty="0"/>
          </a:p>
        </p:txBody>
      </p:sp>
      <p:sp>
        <p:nvSpPr>
          <p:cNvPr id="23" name="Shape 18"/>
          <p:cNvSpPr/>
          <p:nvPr/>
        </p:nvSpPr>
        <p:spPr>
          <a:xfrm>
            <a:off x="640080" y="5257800"/>
            <a:ext cx="10927080" cy="914400"/>
          </a:xfrm>
          <a:prstGeom prst="rect">
            <a:avLst/>
          </a:prstGeom>
          <a:solidFill>
            <a:srgbClr val="F8FAFC"/>
          </a:solidFill>
          <a:ln w="15875">
            <a:solidFill>
              <a:srgbClr val="CBD5E1"/>
            </a:solidFill>
            <a:prstDash val="dash"/>
          </a:ln>
        </p:spPr>
      </p:sp>
      <p:sp>
        <p:nvSpPr>
          <p:cNvPr id="24" name="Shape 19"/>
          <p:cNvSpPr/>
          <p:nvPr/>
        </p:nvSpPr>
        <p:spPr>
          <a:xfrm>
            <a:off x="5957316" y="5294376"/>
            <a:ext cx="292608" cy="292608"/>
          </a:xfrm>
          <a:prstGeom prst="ellipse">
            <a:avLst/>
          </a:prstGeom>
          <a:solidFill>
            <a:srgbClr val="FFFFFF"/>
          </a:solidFill>
          <a:ln/>
        </p:spPr>
      </p:sp>
      <p:pic>
        <p:nvPicPr>
          <p:cNvPr id="25" name="Image 3" descr="preencoded.png"/>
          <p:cNvPicPr>
            <a:picLocks noChangeAspect="1"/>
          </p:cNvPicPr>
          <p:nvPr/>
        </p:nvPicPr>
        <p:blipFill>
          <a:blip r:embed="rId4"/>
          <a:stretch>
            <a:fillRect/>
          </a:stretch>
        </p:blipFill>
        <p:spPr>
          <a:xfrm>
            <a:off x="6023153" y="5360213"/>
            <a:ext cx="160934" cy="160934"/>
          </a:xfrm>
          <a:prstGeom prst="rect">
            <a:avLst/>
          </a:prstGeom>
        </p:spPr>
      </p:pic>
      <p:sp>
        <p:nvSpPr>
          <p:cNvPr id="26" name="Text 20"/>
          <p:cNvSpPr/>
          <p:nvPr/>
        </p:nvSpPr>
        <p:spPr>
          <a:xfrm>
            <a:off x="822960" y="5715000"/>
            <a:ext cx="10561320" cy="411480"/>
          </a:xfrm>
          <a:prstGeom prst="rect">
            <a:avLst/>
          </a:prstGeom>
          <a:noFill/>
          <a:ln/>
        </p:spPr>
        <p:txBody>
          <a:bodyPr wrap="square" lIns="0" tIns="0" rIns="0" bIns="0" rtlCol="0" anchor="ctr"/>
          <a:lstStyle/>
          <a:p>
            <a:pPr algn="ctr" indent="0" marL="0">
              <a:lnSpc>
                <a:spcPct val="120000"/>
              </a:lnSpc>
              <a:buNone/>
            </a:pPr>
            <a:r>
              <a:rPr lang="en-US" sz="1050" i="1" dirty="0">
                <a:solidFill>
                  <a:srgbClr val="94A3B8"/>
                </a:solidFill>
                <a:latin typeface="Calibri" pitchFamily="34" charset="0"/>
                <a:ea typeface="Calibri" pitchFamily="34" charset="-122"/>
                <a:cs typeface="Calibri" pitchFamily="34" charset="-120"/>
              </a:rPr>
              <a:t>Screenshot — Login screen &amp; User / Group management</a:t>
            </a:r>
            <a:endParaRPr lang="en-US" sz="1050" dirty="0"/>
          </a:p>
        </p:txBody>
      </p:sp>
      <p:sp>
        <p:nvSpPr>
          <p:cNvPr id="27" name="Text 21"/>
          <p:cNvSpPr/>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08</a:t>
            </a:r>
            <a:endParaRPr lang="en-US" sz="10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37215" y="5120640"/>
            <a:ext cx="3291840" cy="3291840"/>
          </a:xfrm>
          <a:prstGeom prst="ellipse">
            <a:avLst/>
          </a:prstGeom>
          <a:solidFill>
            <a:srgbClr val="EFF6FF">
              <a:alpha val="45000"/>
            </a:srgbClr>
          </a:solidFill>
          <a:ln/>
        </p:spPr>
      </p:sp>
      <p:sp>
        <p:nvSpPr>
          <p:cNvPr id="3" name="Text 1"/>
          <p:cNvSpPr/>
          <p:nvPr/>
        </p:nvSpPr>
        <p:spPr>
          <a:xfrm>
            <a:off x="640080" y="411480"/>
            <a:ext cx="8229600" cy="320040"/>
          </a:xfrm>
          <a:prstGeom prst="rect">
            <a:avLst/>
          </a:prstGeom>
          <a:noFill/>
          <a:ln/>
        </p:spPr>
        <p:txBody>
          <a:bodyPr wrap="square" lIns="0" tIns="0" rIns="0" bIns="0" rtlCol="0" anchor="ctr"/>
          <a:lstStyle/>
          <a:p>
            <a:pPr indent="0" marL="0">
              <a:buNone/>
            </a:pPr>
            <a:r>
              <a:rPr lang="en-US" sz="1250" b="1" spc="200" kern="0" dirty="0">
                <a:solidFill>
                  <a:srgbClr val="2563EB"/>
                </a:solidFill>
                <a:latin typeface="Calibri" pitchFamily="34" charset="0"/>
                <a:ea typeface="Calibri" pitchFamily="34" charset="-122"/>
                <a:cs typeface="Calibri" pitchFamily="34" charset="-120"/>
              </a:rPr>
              <a:t>MODULE 2</a:t>
            </a:r>
            <a:endParaRPr lang="en-US" sz="1250" dirty="0"/>
          </a:p>
        </p:txBody>
      </p:sp>
      <p:sp>
        <p:nvSpPr>
          <p:cNvPr id="4" name="Text 2"/>
          <p:cNvSpPr/>
          <p:nvPr/>
        </p:nvSpPr>
        <p:spPr>
          <a:xfrm>
            <a:off x="640080" y="713232"/>
            <a:ext cx="10515600"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ETL Pipeline Management</a:t>
            </a:r>
            <a:endParaRPr lang="en-US" sz="2800" dirty="0"/>
          </a:p>
        </p:txBody>
      </p:sp>
      <p:sp>
        <p:nvSpPr>
          <p:cNvPr id="5" name="Text 3"/>
          <p:cNvSpPr/>
          <p:nvPr/>
        </p:nvSpPr>
        <p:spPr>
          <a:xfrm>
            <a:off x="640080" y="1417320"/>
            <a:ext cx="10058400" cy="36576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Every pipeline goes through a strict, three-step gate before anyone can run it</a:t>
            </a:r>
            <a:endParaRPr lang="en-US" sz="1350" dirty="0"/>
          </a:p>
        </p:txBody>
      </p:sp>
      <p:sp>
        <p:nvSpPr>
          <p:cNvPr id="6" name="Shape 4"/>
          <p:cNvSpPr/>
          <p:nvPr/>
        </p:nvSpPr>
        <p:spPr>
          <a:xfrm>
            <a:off x="640080" y="2057400"/>
            <a:ext cx="3246120" cy="2286000"/>
          </a:xfrm>
          <a:prstGeom prst="rect">
            <a:avLst/>
          </a:prstGeom>
          <a:solidFill>
            <a:srgbClr val="FFFFFF"/>
          </a:solidFill>
          <a:ln w="12700">
            <a:solidFill>
              <a:srgbClr val="E2E8F0"/>
            </a:solidFill>
            <a:prstDash val="solid"/>
          </a:ln>
          <a:effectLst>
            <a:outerShdw sx="100000" sy="100000" kx="0" ky="0" algn="bl" rotWithShape="0" blurRad="114300" dist="38100" dir="8100000">
              <a:srgbClr val="0F172A">
                <a:alpha val="12000"/>
              </a:srgbClr>
            </a:outerShdw>
          </a:effectLst>
        </p:spPr>
      </p:sp>
      <p:sp>
        <p:nvSpPr>
          <p:cNvPr id="7" name="Shape 5"/>
          <p:cNvSpPr/>
          <p:nvPr/>
        </p:nvSpPr>
        <p:spPr>
          <a:xfrm>
            <a:off x="640080" y="2057400"/>
            <a:ext cx="3246120" cy="73152"/>
          </a:xfrm>
          <a:prstGeom prst="rect">
            <a:avLst/>
          </a:prstGeom>
          <a:solidFill>
            <a:srgbClr val="64748B"/>
          </a:solidFill>
          <a:ln/>
        </p:spPr>
      </p:sp>
      <p:sp>
        <p:nvSpPr>
          <p:cNvPr id="8" name="Shape 6"/>
          <p:cNvSpPr/>
          <p:nvPr/>
        </p:nvSpPr>
        <p:spPr>
          <a:xfrm>
            <a:off x="1943100" y="2377440"/>
            <a:ext cx="640080" cy="640080"/>
          </a:xfrm>
          <a:prstGeom prst="ellipse">
            <a:avLst/>
          </a:prstGeom>
          <a:solidFill>
            <a:srgbClr val="F1F5F9"/>
          </a:solidFill>
          <a:ln/>
        </p:spPr>
      </p:sp>
      <p:pic>
        <p:nvPicPr>
          <p:cNvPr id="9" name="Image 0" descr="preencoded.png"/>
          <p:cNvPicPr>
            <a:picLocks noChangeAspect="1"/>
          </p:cNvPicPr>
          <p:nvPr/>
        </p:nvPicPr>
        <p:blipFill>
          <a:blip r:embed="rId1"/>
          <a:stretch>
            <a:fillRect/>
          </a:stretch>
        </p:blipFill>
        <p:spPr>
          <a:xfrm>
            <a:off x="2087118" y="2521458"/>
            <a:ext cx="352044" cy="352044"/>
          </a:xfrm>
          <a:prstGeom prst="rect">
            <a:avLst/>
          </a:prstGeom>
        </p:spPr>
      </p:pic>
      <p:sp>
        <p:nvSpPr>
          <p:cNvPr id="10" name="Text 7"/>
          <p:cNvSpPr/>
          <p:nvPr/>
        </p:nvSpPr>
        <p:spPr>
          <a:xfrm>
            <a:off x="640080" y="3154680"/>
            <a:ext cx="3246120" cy="36576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1.  Upload</a:t>
            </a:r>
            <a:endParaRPr lang="en-US" sz="1500" dirty="0"/>
          </a:p>
        </p:txBody>
      </p:sp>
      <p:sp>
        <p:nvSpPr>
          <p:cNvPr id="11" name="Text 8"/>
          <p:cNvSpPr/>
          <p:nvPr/>
        </p:nvSpPr>
        <p:spPr>
          <a:xfrm>
            <a:off x="868680" y="3538728"/>
            <a:ext cx="2788920" cy="731520"/>
          </a:xfrm>
          <a:prstGeom prst="rect">
            <a:avLst/>
          </a:prstGeom>
          <a:noFill/>
          <a:ln/>
        </p:spPr>
        <p:txBody>
          <a:bodyPr wrap="square" lIns="0" tIns="0" rIns="0" bIns="0" rtlCol="0" anchor="ctr"/>
          <a:lstStyle/>
          <a:p>
            <a:pPr algn="ctr" indent="0" marL="0">
              <a:lnSpc>
                <a:spcPct val="120000"/>
              </a:lnSpc>
              <a:buNone/>
            </a:pPr>
            <a:r>
              <a:rPr lang="en-US" sz="1050" dirty="0">
                <a:solidFill>
                  <a:srgbClr val="64748B"/>
                </a:solidFill>
                <a:latin typeface="Calibri" pitchFamily="34" charset="0"/>
                <a:ea typeface="Calibri" pitchFamily="34" charset="-122"/>
                <a:cs typeface="Calibri" pitchFamily="34" charset="-120"/>
              </a:rPr>
              <a:t>ZIP extracted safely — path-traversal filtered, files searched recursively</a:t>
            </a:r>
            <a:endParaRPr lang="en-US" sz="1050" dirty="0"/>
          </a:p>
        </p:txBody>
      </p:sp>
      <p:sp>
        <p:nvSpPr>
          <p:cNvPr id="12" name="Shape 9"/>
          <p:cNvSpPr/>
          <p:nvPr/>
        </p:nvSpPr>
        <p:spPr>
          <a:xfrm>
            <a:off x="3973068" y="3108960"/>
            <a:ext cx="411480" cy="182880"/>
          </a:xfrm>
          <a:prstGeom prst="rightArrow">
            <a:avLst/>
          </a:prstGeom>
          <a:solidFill>
            <a:srgbClr val="94A3B8"/>
          </a:solidFill>
          <a:ln/>
        </p:spPr>
      </p:sp>
      <p:sp>
        <p:nvSpPr>
          <p:cNvPr id="13" name="Shape 10"/>
          <p:cNvSpPr/>
          <p:nvPr/>
        </p:nvSpPr>
        <p:spPr>
          <a:xfrm>
            <a:off x="4389120" y="2057400"/>
            <a:ext cx="3246120" cy="2286000"/>
          </a:xfrm>
          <a:prstGeom prst="rect">
            <a:avLst/>
          </a:prstGeom>
          <a:solidFill>
            <a:srgbClr val="FFFFFF"/>
          </a:solidFill>
          <a:ln w="12700">
            <a:solidFill>
              <a:srgbClr val="E2E8F0"/>
            </a:solidFill>
            <a:prstDash val="solid"/>
          </a:ln>
          <a:effectLst>
            <a:outerShdw sx="100000" sy="100000" kx="0" ky="0" algn="bl" rotWithShape="0" blurRad="114300" dist="38100" dir="8100000">
              <a:srgbClr val="0F172A">
                <a:alpha val="12000"/>
              </a:srgbClr>
            </a:outerShdw>
          </a:effectLst>
        </p:spPr>
      </p:sp>
      <p:sp>
        <p:nvSpPr>
          <p:cNvPr id="14" name="Shape 11"/>
          <p:cNvSpPr/>
          <p:nvPr/>
        </p:nvSpPr>
        <p:spPr>
          <a:xfrm>
            <a:off x="4389120" y="2057400"/>
            <a:ext cx="3246120" cy="73152"/>
          </a:xfrm>
          <a:prstGeom prst="rect">
            <a:avLst/>
          </a:prstGeom>
          <a:solidFill>
            <a:srgbClr val="D97706"/>
          </a:solidFill>
          <a:ln/>
        </p:spPr>
      </p:sp>
      <p:sp>
        <p:nvSpPr>
          <p:cNvPr id="15" name="Shape 12"/>
          <p:cNvSpPr/>
          <p:nvPr/>
        </p:nvSpPr>
        <p:spPr>
          <a:xfrm>
            <a:off x="5692140" y="2377440"/>
            <a:ext cx="640080" cy="640080"/>
          </a:xfrm>
          <a:prstGeom prst="ellipse">
            <a:avLst/>
          </a:prstGeom>
          <a:solidFill>
            <a:srgbClr val="FFFBEB"/>
          </a:solidFill>
          <a:ln/>
        </p:spPr>
      </p:sp>
      <p:pic>
        <p:nvPicPr>
          <p:cNvPr id="16" name="Image 1" descr="preencoded.png"/>
          <p:cNvPicPr>
            <a:picLocks noChangeAspect="1"/>
          </p:cNvPicPr>
          <p:nvPr/>
        </p:nvPicPr>
        <p:blipFill>
          <a:blip r:embed="rId2"/>
          <a:stretch>
            <a:fillRect/>
          </a:stretch>
        </p:blipFill>
        <p:spPr>
          <a:xfrm>
            <a:off x="5836158" y="2521458"/>
            <a:ext cx="352044" cy="352044"/>
          </a:xfrm>
          <a:prstGeom prst="rect">
            <a:avLst/>
          </a:prstGeom>
        </p:spPr>
      </p:pic>
      <p:sp>
        <p:nvSpPr>
          <p:cNvPr id="17" name="Text 13"/>
          <p:cNvSpPr/>
          <p:nvPr/>
        </p:nvSpPr>
        <p:spPr>
          <a:xfrm>
            <a:off x="4389120" y="3154680"/>
            <a:ext cx="3246120" cy="36576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2.  Validate</a:t>
            </a:r>
            <a:endParaRPr lang="en-US" sz="1500" dirty="0"/>
          </a:p>
        </p:txBody>
      </p:sp>
      <p:sp>
        <p:nvSpPr>
          <p:cNvPr id="18" name="Text 14"/>
          <p:cNvSpPr/>
          <p:nvPr/>
        </p:nvSpPr>
        <p:spPr>
          <a:xfrm>
            <a:off x="4617720" y="3538728"/>
            <a:ext cx="2788920" cy="731520"/>
          </a:xfrm>
          <a:prstGeom prst="rect">
            <a:avLst/>
          </a:prstGeom>
          <a:noFill/>
          <a:ln/>
        </p:spPr>
        <p:txBody>
          <a:bodyPr wrap="square" lIns="0" tIns="0" rIns="0" bIns="0" rtlCol="0" anchor="ctr"/>
          <a:lstStyle/>
          <a:p>
            <a:pPr algn="ctr" indent="0" marL="0">
              <a:lnSpc>
                <a:spcPct val="120000"/>
              </a:lnSpc>
              <a:buNone/>
            </a:pPr>
            <a:r>
              <a:rPr lang="en-US" sz="1050" dirty="0">
                <a:solidFill>
                  <a:srgbClr val="64748B"/>
                </a:solidFill>
                <a:latin typeface="Calibri" pitchFamily="34" charset="0"/>
                <a:ea typeface="Calibri" pitchFamily="34" charset="-122"/>
                <a:cs typeface="Calibri" pitchFamily="34" charset="-120"/>
              </a:rPr>
              <a:t>Entry point, config &amp; requirements re-resolved — strict, blocks on failure</a:t>
            </a:r>
            <a:endParaRPr lang="en-US" sz="1050" dirty="0"/>
          </a:p>
        </p:txBody>
      </p:sp>
      <p:sp>
        <p:nvSpPr>
          <p:cNvPr id="19" name="Shape 15"/>
          <p:cNvSpPr/>
          <p:nvPr/>
        </p:nvSpPr>
        <p:spPr>
          <a:xfrm>
            <a:off x="7722108" y="3108960"/>
            <a:ext cx="411480" cy="182880"/>
          </a:xfrm>
          <a:prstGeom prst="rightArrow">
            <a:avLst/>
          </a:prstGeom>
          <a:solidFill>
            <a:srgbClr val="94A3B8"/>
          </a:solidFill>
          <a:ln/>
        </p:spPr>
      </p:sp>
      <p:sp>
        <p:nvSpPr>
          <p:cNvPr id="20" name="Shape 16"/>
          <p:cNvSpPr/>
          <p:nvPr/>
        </p:nvSpPr>
        <p:spPr>
          <a:xfrm>
            <a:off x="8138160" y="2057400"/>
            <a:ext cx="3246120" cy="2286000"/>
          </a:xfrm>
          <a:prstGeom prst="rect">
            <a:avLst/>
          </a:prstGeom>
          <a:solidFill>
            <a:srgbClr val="FFFFFF"/>
          </a:solidFill>
          <a:ln w="12700">
            <a:solidFill>
              <a:srgbClr val="E2E8F0"/>
            </a:solidFill>
            <a:prstDash val="solid"/>
          </a:ln>
          <a:effectLst>
            <a:outerShdw sx="100000" sy="100000" kx="0" ky="0" algn="bl" rotWithShape="0" blurRad="114300" dist="38100" dir="8100000">
              <a:srgbClr val="0F172A">
                <a:alpha val="12000"/>
              </a:srgbClr>
            </a:outerShdw>
          </a:effectLst>
        </p:spPr>
      </p:sp>
      <p:sp>
        <p:nvSpPr>
          <p:cNvPr id="21" name="Shape 17"/>
          <p:cNvSpPr/>
          <p:nvPr/>
        </p:nvSpPr>
        <p:spPr>
          <a:xfrm>
            <a:off x="8138160" y="2057400"/>
            <a:ext cx="3246120" cy="73152"/>
          </a:xfrm>
          <a:prstGeom prst="rect">
            <a:avLst/>
          </a:prstGeom>
          <a:solidFill>
            <a:srgbClr val="16A34A"/>
          </a:solidFill>
          <a:ln/>
        </p:spPr>
      </p:sp>
      <p:sp>
        <p:nvSpPr>
          <p:cNvPr id="22" name="Shape 18"/>
          <p:cNvSpPr/>
          <p:nvPr/>
        </p:nvSpPr>
        <p:spPr>
          <a:xfrm>
            <a:off x="9441180" y="2377440"/>
            <a:ext cx="640080" cy="640080"/>
          </a:xfrm>
          <a:prstGeom prst="ellipse">
            <a:avLst/>
          </a:prstGeom>
          <a:solidFill>
            <a:srgbClr val="F0FDF4"/>
          </a:solidFill>
          <a:ln/>
        </p:spPr>
      </p:sp>
      <p:pic>
        <p:nvPicPr>
          <p:cNvPr id="23" name="Image 2" descr="preencoded.png"/>
          <p:cNvPicPr>
            <a:picLocks noChangeAspect="1"/>
          </p:cNvPicPr>
          <p:nvPr/>
        </p:nvPicPr>
        <p:blipFill>
          <a:blip r:embed="rId3"/>
          <a:stretch>
            <a:fillRect/>
          </a:stretch>
        </p:blipFill>
        <p:spPr>
          <a:xfrm>
            <a:off x="9585198" y="2521458"/>
            <a:ext cx="352044" cy="352044"/>
          </a:xfrm>
          <a:prstGeom prst="rect">
            <a:avLst/>
          </a:prstGeom>
        </p:spPr>
      </p:pic>
      <p:sp>
        <p:nvSpPr>
          <p:cNvPr id="24" name="Text 19"/>
          <p:cNvSpPr/>
          <p:nvPr/>
        </p:nvSpPr>
        <p:spPr>
          <a:xfrm>
            <a:off x="8138160" y="3154680"/>
            <a:ext cx="3246120" cy="36576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3.  Activate</a:t>
            </a:r>
            <a:endParaRPr lang="en-US" sz="1500" dirty="0"/>
          </a:p>
        </p:txBody>
      </p:sp>
      <p:sp>
        <p:nvSpPr>
          <p:cNvPr id="25" name="Text 20"/>
          <p:cNvSpPr/>
          <p:nvPr/>
        </p:nvSpPr>
        <p:spPr>
          <a:xfrm>
            <a:off x="8366760" y="3538728"/>
            <a:ext cx="2788920" cy="731520"/>
          </a:xfrm>
          <a:prstGeom prst="rect">
            <a:avLst/>
          </a:prstGeom>
          <a:noFill/>
          <a:ln/>
        </p:spPr>
        <p:txBody>
          <a:bodyPr wrap="square" lIns="0" tIns="0" rIns="0" bIns="0" rtlCol="0" anchor="ctr"/>
          <a:lstStyle/>
          <a:p>
            <a:pPr algn="ctr" indent="0" marL="0">
              <a:lnSpc>
                <a:spcPct val="120000"/>
              </a:lnSpc>
              <a:buNone/>
            </a:pPr>
            <a:r>
              <a:rPr lang="en-US" sz="1050" dirty="0">
                <a:solidFill>
                  <a:srgbClr val="64748B"/>
                </a:solidFill>
                <a:latin typeface="Calibri" pitchFamily="34" charset="0"/>
                <a:ea typeface="Calibri" pitchFamily="34" charset="-122"/>
                <a:cs typeface="Calibri" pitchFamily="34" charset="-120"/>
              </a:rPr>
              <a:t>Becomes visible &amp; launchable to its assigned groups</a:t>
            </a:r>
            <a:endParaRPr lang="en-US" sz="1050" dirty="0"/>
          </a:p>
        </p:txBody>
      </p:sp>
      <p:sp>
        <p:nvSpPr>
          <p:cNvPr id="26" name="Text 21"/>
          <p:cNvSpPr/>
          <p:nvPr/>
        </p:nvSpPr>
        <p:spPr>
          <a:xfrm>
            <a:off x="640080" y="4572000"/>
            <a:ext cx="10927080" cy="594360"/>
          </a:xfrm>
          <a:prstGeom prst="rect">
            <a:avLst/>
          </a:prstGeom>
          <a:noFill/>
          <a:ln/>
        </p:spPr>
        <p:txBody>
          <a:bodyPr wrap="square" lIns="0" tIns="0" rIns="0" bIns="0" rtlCol="0" anchor="ctr"/>
          <a:lstStyle/>
          <a:p>
            <a:pPr indent="0" marL="0">
              <a:lnSpc>
                <a:spcPct val="130000"/>
              </a:lnSpc>
              <a:buNone/>
            </a:pPr>
            <a:r>
              <a:rPr lang="en-US" sz="1150" b="1" dirty="0">
                <a:solidFill>
                  <a:srgbClr val="0F172A"/>
                </a:solidFill>
                <a:latin typeface="Calibri" pitchFamily="34" charset="0"/>
                <a:ea typeface="Calibri" pitchFamily="34" charset="-122"/>
                <a:cs typeface="Calibri" pitchFamily="34" charset="-120"/>
              </a:rPr>
              <a:t xml:space="preserve">Key detail:  </a:t>
            </a:r>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 xml:space="preserve">admin types a filename (e.g. main.py) — resolved recursively to an absolute path, regardless of folder depth.   </a:t>
            </a:r>
            <a:pPr indent="0" marL="0">
              <a:lnSpc>
                <a:spcPct val="130000"/>
              </a:lnSpc>
              <a:buNone/>
            </a:pPr>
            <a:r>
              <a:rPr lang="en-US" sz="1150" b="1" dirty="0">
                <a:solidFill>
                  <a:srgbClr val="0F172A"/>
                </a:solidFill>
                <a:latin typeface="Calibri" pitchFamily="34" charset="0"/>
                <a:ea typeface="Calibri" pitchFamily="34" charset="-122"/>
                <a:cs typeface="Calibri" pitchFamily="34" charset="-120"/>
              </a:rPr>
              <a:t xml:space="preserve">Security:  </a:t>
            </a:r>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every ZIP entry is checked against the target directory before extraction — path-traversal entries are silently skipped.</a:t>
            </a:r>
            <a:endParaRPr lang="en-US" sz="1150" dirty="0"/>
          </a:p>
        </p:txBody>
      </p:sp>
      <p:sp>
        <p:nvSpPr>
          <p:cNvPr id="27" name="Shape 22"/>
          <p:cNvSpPr/>
          <p:nvPr/>
        </p:nvSpPr>
        <p:spPr>
          <a:xfrm>
            <a:off x="640080" y="5257800"/>
            <a:ext cx="10927080" cy="914400"/>
          </a:xfrm>
          <a:prstGeom prst="rect">
            <a:avLst/>
          </a:prstGeom>
          <a:solidFill>
            <a:srgbClr val="F8FAFC"/>
          </a:solidFill>
          <a:ln w="15875">
            <a:solidFill>
              <a:srgbClr val="CBD5E1"/>
            </a:solidFill>
            <a:prstDash val="dash"/>
          </a:ln>
        </p:spPr>
      </p:sp>
      <p:sp>
        <p:nvSpPr>
          <p:cNvPr id="28" name="Shape 23"/>
          <p:cNvSpPr/>
          <p:nvPr/>
        </p:nvSpPr>
        <p:spPr>
          <a:xfrm>
            <a:off x="5957316" y="5294376"/>
            <a:ext cx="292608" cy="292608"/>
          </a:xfrm>
          <a:prstGeom prst="ellipse">
            <a:avLst/>
          </a:prstGeom>
          <a:solidFill>
            <a:srgbClr val="FFFFFF"/>
          </a:solidFill>
          <a:ln/>
        </p:spPr>
      </p:sp>
      <p:pic>
        <p:nvPicPr>
          <p:cNvPr id="29" name="Image 3" descr="preencoded.png"/>
          <p:cNvPicPr>
            <a:picLocks noChangeAspect="1"/>
          </p:cNvPicPr>
          <p:nvPr/>
        </p:nvPicPr>
        <p:blipFill>
          <a:blip r:embed="rId4"/>
          <a:stretch>
            <a:fillRect/>
          </a:stretch>
        </p:blipFill>
        <p:spPr>
          <a:xfrm>
            <a:off x="6023153" y="5360213"/>
            <a:ext cx="160934" cy="160934"/>
          </a:xfrm>
          <a:prstGeom prst="rect">
            <a:avLst/>
          </a:prstGeom>
        </p:spPr>
      </p:pic>
      <p:sp>
        <p:nvSpPr>
          <p:cNvPr id="30" name="Text 24"/>
          <p:cNvSpPr/>
          <p:nvPr/>
        </p:nvSpPr>
        <p:spPr>
          <a:xfrm>
            <a:off x="822960" y="5715000"/>
            <a:ext cx="10561320" cy="411480"/>
          </a:xfrm>
          <a:prstGeom prst="rect">
            <a:avLst/>
          </a:prstGeom>
          <a:noFill/>
          <a:ln/>
        </p:spPr>
        <p:txBody>
          <a:bodyPr wrap="square" lIns="0" tIns="0" rIns="0" bIns="0" rtlCol="0" anchor="ctr"/>
          <a:lstStyle/>
          <a:p>
            <a:pPr algn="ctr" indent="0" marL="0">
              <a:lnSpc>
                <a:spcPct val="120000"/>
              </a:lnSpc>
              <a:buNone/>
            </a:pPr>
            <a:r>
              <a:rPr lang="en-US" sz="1050" i="1" dirty="0">
                <a:solidFill>
                  <a:srgbClr val="94A3B8"/>
                </a:solidFill>
                <a:latin typeface="Calibri" pitchFamily="34" charset="0"/>
                <a:ea typeface="Calibri" pitchFamily="34" charset="-122"/>
                <a:cs typeface="Calibri" pitchFamily="34" charset="-120"/>
              </a:rPr>
              <a:t>Screenshot — ETL upload form &amp; ETL card (validate / activate)</a:t>
            </a:r>
            <a:endParaRPr lang="en-US" sz="1050" dirty="0"/>
          </a:p>
        </p:txBody>
      </p:sp>
      <p:sp>
        <p:nvSpPr>
          <p:cNvPr id="31" name="Text 25"/>
          <p:cNvSpPr/>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09</a:t>
            </a:r>
            <a:endParaRPr lang="en-US" sz="10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37215" y="5120640"/>
            <a:ext cx="3291840" cy="3291840"/>
          </a:xfrm>
          <a:prstGeom prst="ellipse">
            <a:avLst/>
          </a:prstGeom>
          <a:solidFill>
            <a:srgbClr val="EFF6FF">
              <a:alpha val="45000"/>
            </a:srgbClr>
          </a:solidFill>
          <a:ln/>
        </p:spPr>
      </p:sp>
      <p:sp>
        <p:nvSpPr>
          <p:cNvPr id="3" name="Text 1"/>
          <p:cNvSpPr/>
          <p:nvPr/>
        </p:nvSpPr>
        <p:spPr>
          <a:xfrm>
            <a:off x="640080" y="411480"/>
            <a:ext cx="8229600" cy="320040"/>
          </a:xfrm>
          <a:prstGeom prst="rect">
            <a:avLst/>
          </a:prstGeom>
          <a:noFill/>
          <a:ln/>
        </p:spPr>
        <p:txBody>
          <a:bodyPr wrap="square" lIns="0" tIns="0" rIns="0" bIns="0" rtlCol="0" anchor="ctr"/>
          <a:lstStyle/>
          <a:p>
            <a:pPr indent="0" marL="0">
              <a:buNone/>
            </a:pPr>
            <a:r>
              <a:rPr lang="en-US" sz="1250" b="1" spc="200" kern="0" dirty="0">
                <a:solidFill>
                  <a:srgbClr val="2563EB"/>
                </a:solidFill>
                <a:latin typeface="Calibri" pitchFamily="34" charset="0"/>
                <a:ea typeface="Calibri" pitchFamily="34" charset="-122"/>
                <a:cs typeface="Calibri" pitchFamily="34" charset="-120"/>
              </a:rPr>
              <a:t>MODULE 3</a:t>
            </a:r>
            <a:endParaRPr lang="en-US" sz="1250" dirty="0"/>
          </a:p>
        </p:txBody>
      </p:sp>
      <p:sp>
        <p:nvSpPr>
          <p:cNvPr id="4" name="Text 2"/>
          <p:cNvSpPr/>
          <p:nvPr/>
        </p:nvSpPr>
        <p:spPr>
          <a:xfrm>
            <a:off x="640080" y="713232"/>
            <a:ext cx="10515600"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Execution Engine — lifecycle &amp; isolation</a:t>
            </a:r>
            <a:endParaRPr lang="en-US" sz="2800" dirty="0"/>
          </a:p>
        </p:txBody>
      </p:sp>
      <p:sp>
        <p:nvSpPr>
          <p:cNvPr id="5" name="Text 3"/>
          <p:cNvSpPr/>
          <p:nvPr/>
        </p:nvSpPr>
        <p:spPr>
          <a:xfrm>
            <a:off x="640080" y="1417320"/>
            <a:ext cx="10058400" cy="36576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Every run is isolated, traceable, and supervised end-to-end</a:t>
            </a:r>
            <a:endParaRPr lang="en-US" sz="1350" dirty="0"/>
          </a:p>
        </p:txBody>
      </p:sp>
      <p:sp>
        <p:nvSpPr>
          <p:cNvPr id="6" name="Shape 4"/>
          <p:cNvSpPr/>
          <p:nvPr/>
        </p:nvSpPr>
        <p:spPr>
          <a:xfrm>
            <a:off x="640080" y="2057400"/>
            <a:ext cx="1783080" cy="777240"/>
          </a:xfrm>
          <a:prstGeom prst="rect">
            <a:avLst/>
          </a:prstGeom>
          <a:solidFill>
            <a:srgbClr val="FFFFFF"/>
          </a:solidFill>
          <a:ln w="19050">
            <a:solidFill>
              <a:srgbClr val="64748B"/>
            </a:solidFill>
            <a:prstDash val="solid"/>
          </a:ln>
        </p:spPr>
      </p:sp>
      <p:sp>
        <p:nvSpPr>
          <p:cNvPr id="7" name="Text 5"/>
          <p:cNvSpPr/>
          <p:nvPr/>
        </p:nvSpPr>
        <p:spPr>
          <a:xfrm>
            <a:off x="640080" y="2057400"/>
            <a:ext cx="1783080" cy="777240"/>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PENDING</a:t>
            </a:r>
            <a:endParaRPr lang="en-US" sz="1100" dirty="0"/>
          </a:p>
        </p:txBody>
      </p:sp>
      <p:sp>
        <p:nvSpPr>
          <p:cNvPr id="8" name="Shape 6"/>
          <p:cNvSpPr/>
          <p:nvPr/>
        </p:nvSpPr>
        <p:spPr>
          <a:xfrm>
            <a:off x="2450592" y="2363724"/>
            <a:ext cx="219456" cy="164592"/>
          </a:xfrm>
          <a:prstGeom prst="rightArrow">
            <a:avLst/>
          </a:prstGeom>
          <a:solidFill>
            <a:srgbClr val="94A3B8"/>
          </a:solidFill>
          <a:ln/>
        </p:spPr>
      </p:sp>
      <p:sp>
        <p:nvSpPr>
          <p:cNvPr id="9" name="Shape 7"/>
          <p:cNvSpPr/>
          <p:nvPr/>
        </p:nvSpPr>
        <p:spPr>
          <a:xfrm>
            <a:off x="2697480" y="2057400"/>
            <a:ext cx="1783080" cy="777240"/>
          </a:xfrm>
          <a:prstGeom prst="rect">
            <a:avLst/>
          </a:prstGeom>
          <a:solidFill>
            <a:srgbClr val="FFFFFF"/>
          </a:solidFill>
          <a:ln w="19050">
            <a:solidFill>
              <a:srgbClr val="2563EB"/>
            </a:solidFill>
            <a:prstDash val="solid"/>
          </a:ln>
        </p:spPr>
      </p:sp>
      <p:sp>
        <p:nvSpPr>
          <p:cNvPr id="10" name="Text 8"/>
          <p:cNvSpPr/>
          <p:nvPr/>
        </p:nvSpPr>
        <p:spPr>
          <a:xfrm>
            <a:off x="2697480" y="2057400"/>
            <a:ext cx="1783080" cy="777240"/>
          </a:xfrm>
          <a:prstGeom prst="rect">
            <a:avLst/>
          </a:prstGeom>
          <a:no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VALIDATED</a:t>
            </a:r>
            <a:endParaRPr lang="en-US" sz="1100" dirty="0"/>
          </a:p>
        </p:txBody>
      </p:sp>
      <p:sp>
        <p:nvSpPr>
          <p:cNvPr id="11" name="Shape 9"/>
          <p:cNvSpPr/>
          <p:nvPr/>
        </p:nvSpPr>
        <p:spPr>
          <a:xfrm>
            <a:off x="4507992" y="2363724"/>
            <a:ext cx="219456" cy="164592"/>
          </a:xfrm>
          <a:prstGeom prst="rightArrow">
            <a:avLst/>
          </a:prstGeom>
          <a:solidFill>
            <a:srgbClr val="94A3B8"/>
          </a:solidFill>
          <a:ln/>
        </p:spPr>
      </p:sp>
      <p:sp>
        <p:nvSpPr>
          <p:cNvPr id="12" name="Shape 10"/>
          <p:cNvSpPr/>
          <p:nvPr/>
        </p:nvSpPr>
        <p:spPr>
          <a:xfrm>
            <a:off x="4754880" y="2057400"/>
            <a:ext cx="1783080" cy="777240"/>
          </a:xfrm>
          <a:prstGeom prst="rect">
            <a:avLst/>
          </a:prstGeom>
          <a:solidFill>
            <a:srgbClr val="FFFFFF"/>
          </a:solidFill>
          <a:ln w="19050">
            <a:solidFill>
              <a:srgbClr val="D97706"/>
            </a:solidFill>
            <a:prstDash val="solid"/>
          </a:ln>
        </p:spPr>
      </p:sp>
      <p:sp>
        <p:nvSpPr>
          <p:cNvPr id="13" name="Text 11"/>
          <p:cNvSpPr/>
          <p:nvPr/>
        </p:nvSpPr>
        <p:spPr>
          <a:xfrm>
            <a:off x="4754880" y="2057400"/>
            <a:ext cx="1783080" cy="777240"/>
          </a:xfrm>
          <a:prstGeom prst="rect">
            <a:avLst/>
          </a:prstGeom>
          <a:noFill/>
          <a:ln/>
        </p:spPr>
        <p:txBody>
          <a:bodyPr wrap="square" lIns="0" tIns="0" rIns="0" bIns="0" rtlCol="0" anchor="ctr"/>
          <a:lstStyle/>
          <a:p>
            <a:pPr algn="ctr" indent="0" marL="0">
              <a:buNone/>
            </a:pPr>
            <a:r>
              <a:rPr lang="en-US" sz="1100" b="1" dirty="0">
                <a:solidFill>
                  <a:srgbClr val="D97706"/>
                </a:solidFill>
                <a:latin typeface="Calibri" pitchFamily="34" charset="0"/>
                <a:ea typeface="Calibri" pitchFamily="34" charset="-122"/>
                <a:cs typeface="Calibri" pitchFamily="34" charset="-120"/>
              </a:rPr>
              <a:t>INSTALLING_DEPS</a:t>
            </a:r>
            <a:endParaRPr lang="en-US" sz="1100" dirty="0"/>
          </a:p>
        </p:txBody>
      </p:sp>
      <p:sp>
        <p:nvSpPr>
          <p:cNvPr id="14" name="Shape 12"/>
          <p:cNvSpPr/>
          <p:nvPr/>
        </p:nvSpPr>
        <p:spPr>
          <a:xfrm>
            <a:off x="6565392" y="2363724"/>
            <a:ext cx="219456" cy="164592"/>
          </a:xfrm>
          <a:prstGeom prst="rightArrow">
            <a:avLst/>
          </a:prstGeom>
          <a:solidFill>
            <a:srgbClr val="94A3B8"/>
          </a:solidFill>
          <a:ln/>
        </p:spPr>
      </p:sp>
      <p:sp>
        <p:nvSpPr>
          <p:cNvPr id="15" name="Shape 13"/>
          <p:cNvSpPr/>
          <p:nvPr/>
        </p:nvSpPr>
        <p:spPr>
          <a:xfrm>
            <a:off x="6812280" y="2057400"/>
            <a:ext cx="1783080" cy="777240"/>
          </a:xfrm>
          <a:prstGeom prst="rect">
            <a:avLst/>
          </a:prstGeom>
          <a:solidFill>
            <a:srgbClr val="FFFFFF"/>
          </a:solidFill>
          <a:ln w="19050">
            <a:solidFill>
              <a:srgbClr val="D97706"/>
            </a:solidFill>
            <a:prstDash val="solid"/>
          </a:ln>
        </p:spPr>
      </p:sp>
      <p:sp>
        <p:nvSpPr>
          <p:cNvPr id="16" name="Text 14"/>
          <p:cNvSpPr/>
          <p:nvPr/>
        </p:nvSpPr>
        <p:spPr>
          <a:xfrm>
            <a:off x="6812280" y="2057400"/>
            <a:ext cx="1783080" cy="777240"/>
          </a:xfrm>
          <a:prstGeom prst="rect">
            <a:avLst/>
          </a:prstGeom>
          <a:noFill/>
          <a:ln/>
        </p:spPr>
        <p:txBody>
          <a:bodyPr wrap="square" lIns="0" tIns="0" rIns="0" bIns="0" rtlCol="0" anchor="ctr"/>
          <a:lstStyle/>
          <a:p>
            <a:pPr algn="ctr" indent="0" marL="0">
              <a:buNone/>
            </a:pPr>
            <a:r>
              <a:rPr lang="en-US" sz="1100" b="1" dirty="0">
                <a:solidFill>
                  <a:srgbClr val="D97706"/>
                </a:solidFill>
                <a:latin typeface="Calibri" pitchFamily="34" charset="0"/>
                <a:ea typeface="Calibri" pitchFamily="34" charset="-122"/>
                <a:cs typeface="Calibri" pitchFamily="34" charset="-120"/>
              </a:rPr>
              <a:t>RUNNING</a:t>
            </a:r>
            <a:endParaRPr lang="en-US" sz="1100" dirty="0"/>
          </a:p>
        </p:txBody>
      </p:sp>
      <p:sp>
        <p:nvSpPr>
          <p:cNvPr id="17" name="Shape 15"/>
          <p:cNvSpPr/>
          <p:nvPr/>
        </p:nvSpPr>
        <p:spPr>
          <a:xfrm>
            <a:off x="8915400" y="2363724"/>
            <a:ext cx="365760" cy="164592"/>
          </a:xfrm>
          <a:prstGeom prst="rightArrow">
            <a:avLst/>
          </a:prstGeom>
          <a:solidFill>
            <a:srgbClr val="94A3B8"/>
          </a:solidFill>
          <a:ln/>
        </p:spPr>
      </p:sp>
      <p:sp>
        <p:nvSpPr>
          <p:cNvPr id="18" name="Shape 16"/>
          <p:cNvSpPr/>
          <p:nvPr/>
        </p:nvSpPr>
        <p:spPr>
          <a:xfrm>
            <a:off x="9326880" y="1554480"/>
            <a:ext cx="1554480" cy="640080"/>
          </a:xfrm>
          <a:prstGeom prst="rect">
            <a:avLst/>
          </a:prstGeom>
          <a:solidFill>
            <a:srgbClr val="F0FDF4"/>
          </a:solidFill>
          <a:ln w="19050">
            <a:solidFill>
              <a:srgbClr val="16A34A"/>
            </a:solidFill>
            <a:prstDash val="solid"/>
          </a:ln>
        </p:spPr>
      </p:sp>
      <p:sp>
        <p:nvSpPr>
          <p:cNvPr id="19" name="Text 17"/>
          <p:cNvSpPr/>
          <p:nvPr/>
        </p:nvSpPr>
        <p:spPr>
          <a:xfrm>
            <a:off x="9326880" y="1554480"/>
            <a:ext cx="1554480" cy="640080"/>
          </a:xfrm>
          <a:prstGeom prst="rect">
            <a:avLst/>
          </a:prstGeom>
          <a:noFill/>
          <a:ln/>
        </p:spPr>
        <p:txBody>
          <a:bodyPr wrap="square" lIns="0" tIns="0" rIns="0" bIns="0" rtlCol="0" anchor="ctr"/>
          <a:lstStyle/>
          <a:p>
            <a:pPr algn="ctr" indent="0" marL="0">
              <a:buNone/>
            </a:pPr>
            <a:r>
              <a:rPr lang="en-US" sz="1200" b="1" dirty="0">
                <a:solidFill>
                  <a:srgbClr val="16A34A"/>
                </a:solidFill>
                <a:latin typeface="Calibri" pitchFamily="34" charset="0"/>
                <a:ea typeface="Calibri" pitchFamily="34" charset="-122"/>
                <a:cs typeface="Calibri" pitchFamily="34" charset="-120"/>
              </a:rPr>
              <a:t>SUCCESS</a:t>
            </a:r>
            <a:endParaRPr lang="en-US" sz="1200" dirty="0"/>
          </a:p>
        </p:txBody>
      </p:sp>
      <p:sp>
        <p:nvSpPr>
          <p:cNvPr id="20" name="Shape 18"/>
          <p:cNvSpPr/>
          <p:nvPr/>
        </p:nvSpPr>
        <p:spPr>
          <a:xfrm>
            <a:off x="9326880" y="2560320"/>
            <a:ext cx="1554480" cy="640080"/>
          </a:xfrm>
          <a:prstGeom prst="rect">
            <a:avLst/>
          </a:prstGeom>
          <a:solidFill>
            <a:srgbClr val="FEF2F2"/>
          </a:solidFill>
          <a:ln w="19050">
            <a:solidFill>
              <a:srgbClr val="DC2626"/>
            </a:solidFill>
            <a:prstDash val="solid"/>
          </a:ln>
        </p:spPr>
      </p:sp>
      <p:sp>
        <p:nvSpPr>
          <p:cNvPr id="21" name="Text 19"/>
          <p:cNvSpPr/>
          <p:nvPr/>
        </p:nvSpPr>
        <p:spPr>
          <a:xfrm>
            <a:off x="9326880" y="2560320"/>
            <a:ext cx="1554480" cy="640080"/>
          </a:xfrm>
          <a:prstGeom prst="rect">
            <a:avLst/>
          </a:prstGeom>
          <a:noFill/>
          <a:ln/>
        </p:spPr>
        <p:txBody>
          <a:bodyPr wrap="square" lIns="0" tIns="0" rIns="0" bIns="0" rtlCol="0" anchor="ctr"/>
          <a:lstStyle/>
          <a:p>
            <a:pPr algn="ctr" indent="0" marL="0">
              <a:buNone/>
            </a:pPr>
            <a:r>
              <a:rPr lang="en-US" sz="1200" b="1" dirty="0">
                <a:solidFill>
                  <a:srgbClr val="DC2626"/>
                </a:solidFill>
                <a:latin typeface="Calibri" pitchFamily="34" charset="0"/>
                <a:ea typeface="Calibri" pitchFamily="34" charset="-122"/>
                <a:cs typeface="Calibri" pitchFamily="34" charset="-120"/>
              </a:rPr>
              <a:t>FAILED</a:t>
            </a:r>
            <a:endParaRPr lang="en-US" sz="1200" dirty="0"/>
          </a:p>
        </p:txBody>
      </p:sp>
      <p:sp>
        <p:nvSpPr>
          <p:cNvPr id="22" name="Text 20"/>
          <p:cNvSpPr/>
          <p:nvPr/>
        </p:nvSpPr>
        <p:spPr>
          <a:xfrm>
            <a:off x="640080" y="3246120"/>
            <a:ext cx="10515600" cy="320040"/>
          </a:xfrm>
          <a:prstGeom prst="rect">
            <a:avLst/>
          </a:prstGeom>
          <a:noFill/>
          <a:ln/>
        </p:spPr>
        <p:txBody>
          <a:bodyPr wrap="square" lIns="0" tIns="0" rIns="0" bIns="0" rtlCol="0" anchor="ctr"/>
          <a:lstStyle/>
          <a:p>
            <a:pPr indent="0" marL="0">
              <a:buNone/>
            </a:pPr>
            <a:r>
              <a:rPr lang="en-US" sz="1050" i="1" dirty="0">
                <a:solidFill>
                  <a:srgbClr val="94A3B8"/>
                </a:solidFill>
                <a:latin typeface="Calibri" pitchFamily="34" charset="0"/>
                <a:ea typeface="Calibri" pitchFamily="34" charset="-122"/>
                <a:cs typeface="Calibri" pitchFamily="34" charset="-120"/>
              </a:rPr>
              <a:t>(CANCELLED reachable from any non-terminal state — user can stop a run at any time)</a:t>
            </a:r>
            <a:endParaRPr lang="en-US" sz="1050" dirty="0"/>
          </a:p>
        </p:txBody>
      </p:sp>
      <p:sp>
        <p:nvSpPr>
          <p:cNvPr id="23" name="Shape 21"/>
          <p:cNvSpPr/>
          <p:nvPr/>
        </p:nvSpPr>
        <p:spPr>
          <a:xfrm>
            <a:off x="640080" y="3977640"/>
            <a:ext cx="457200" cy="457200"/>
          </a:xfrm>
          <a:prstGeom prst="ellipse">
            <a:avLst/>
          </a:prstGeom>
          <a:solidFill>
            <a:srgbClr val="EFF6FF"/>
          </a:solidFill>
          <a:ln/>
        </p:spPr>
      </p:sp>
      <p:pic>
        <p:nvPicPr>
          <p:cNvPr id="24" name="Image 0" descr="preencoded.png"/>
          <p:cNvPicPr>
            <a:picLocks noChangeAspect="1"/>
          </p:cNvPicPr>
          <p:nvPr/>
        </p:nvPicPr>
        <p:blipFill>
          <a:blip r:embed="rId1"/>
          <a:stretch>
            <a:fillRect/>
          </a:stretch>
        </p:blipFill>
        <p:spPr>
          <a:xfrm>
            <a:off x="742950" y="4080510"/>
            <a:ext cx="251460" cy="251460"/>
          </a:xfrm>
          <a:prstGeom prst="rect">
            <a:avLst/>
          </a:prstGeom>
        </p:spPr>
      </p:pic>
      <p:sp>
        <p:nvSpPr>
          <p:cNvPr id="25" name="Text 22"/>
          <p:cNvSpPr/>
          <p:nvPr/>
        </p:nvSpPr>
        <p:spPr>
          <a:xfrm>
            <a:off x="640080" y="4544568"/>
            <a:ext cx="2522144" cy="502920"/>
          </a:xfrm>
          <a:prstGeom prst="rect">
            <a:avLst/>
          </a:prstGeom>
          <a:noFill/>
          <a:ln/>
        </p:spPr>
        <p:txBody>
          <a:bodyPr wrap="square" lIns="0" tIns="0" rIns="0" bIns="0" rtlCol="0" anchor="ctr"/>
          <a:lstStyle/>
          <a:p>
            <a:pPr indent="0" marL="0">
              <a:lnSpc>
                <a:spcPct val="110000"/>
              </a:lnSpc>
              <a:buNone/>
            </a:pPr>
            <a:r>
              <a:rPr lang="en-US" sz="1150" b="1" dirty="0">
                <a:solidFill>
                  <a:srgbClr val="0F172A"/>
                </a:solidFill>
                <a:latin typeface="Calibri" pitchFamily="34" charset="0"/>
                <a:ea typeface="Calibri" pitchFamily="34" charset="-122"/>
                <a:cs typeface="Calibri" pitchFamily="34" charset="-120"/>
              </a:rPr>
              <a:t>Isolated working directory</a:t>
            </a:r>
            <a:endParaRPr lang="en-US" sz="1150" dirty="0"/>
          </a:p>
        </p:txBody>
      </p:sp>
      <p:sp>
        <p:nvSpPr>
          <p:cNvPr id="26" name="Text 23"/>
          <p:cNvSpPr/>
          <p:nvPr/>
        </p:nvSpPr>
        <p:spPr>
          <a:xfrm>
            <a:off x="640080" y="5074920"/>
            <a:ext cx="2522144" cy="868680"/>
          </a:xfrm>
          <a:prstGeom prst="rect">
            <a:avLst/>
          </a:prstGeom>
          <a:noFill/>
          <a:ln/>
        </p:spPr>
        <p:txBody>
          <a:bodyPr wrap="square" lIns="0" tIns="0" rIns="0" bIns="0" rtlCol="0" anchor="ctr"/>
          <a:lstStyle/>
          <a:p>
            <a:pPr indent="0" marL="0">
              <a:lnSpc>
                <a:spcPct val="115000"/>
              </a:lnSpc>
              <a:buNone/>
            </a:pPr>
            <a:r>
              <a:rPr lang="en-US" sz="1000" dirty="0">
                <a:solidFill>
                  <a:srgbClr val="64748B"/>
                </a:solidFill>
                <a:latin typeface="Calibri" pitchFamily="34" charset="0"/>
                <a:ea typeface="Calibri" pitchFamily="34" charset="-122"/>
                <a:cs typeface="Calibri" pitchFamily="34" charset="-120"/>
              </a:rPr>
              <a:t>Per-execution copy — concurrent runs never collide</a:t>
            </a:r>
            <a:endParaRPr lang="en-US" sz="1000" dirty="0"/>
          </a:p>
        </p:txBody>
      </p:sp>
      <p:sp>
        <p:nvSpPr>
          <p:cNvPr id="27" name="Shape 24"/>
          <p:cNvSpPr/>
          <p:nvPr/>
        </p:nvSpPr>
        <p:spPr>
          <a:xfrm>
            <a:off x="3436544" y="3977640"/>
            <a:ext cx="457200" cy="457200"/>
          </a:xfrm>
          <a:prstGeom prst="ellipse">
            <a:avLst/>
          </a:prstGeom>
          <a:solidFill>
            <a:srgbClr val="EFF6FF"/>
          </a:solidFill>
          <a:ln/>
        </p:spPr>
      </p:sp>
      <p:pic>
        <p:nvPicPr>
          <p:cNvPr id="28" name="Image 1" descr="preencoded.png"/>
          <p:cNvPicPr>
            <a:picLocks noChangeAspect="1"/>
          </p:cNvPicPr>
          <p:nvPr/>
        </p:nvPicPr>
        <p:blipFill>
          <a:blip r:embed="rId2"/>
          <a:stretch>
            <a:fillRect/>
          </a:stretch>
        </p:blipFill>
        <p:spPr>
          <a:xfrm>
            <a:off x="3539414" y="4080510"/>
            <a:ext cx="251460" cy="251460"/>
          </a:xfrm>
          <a:prstGeom prst="rect">
            <a:avLst/>
          </a:prstGeom>
        </p:spPr>
      </p:pic>
      <p:sp>
        <p:nvSpPr>
          <p:cNvPr id="29" name="Text 25"/>
          <p:cNvSpPr/>
          <p:nvPr/>
        </p:nvSpPr>
        <p:spPr>
          <a:xfrm>
            <a:off x="3436544" y="4544568"/>
            <a:ext cx="2522144" cy="502920"/>
          </a:xfrm>
          <a:prstGeom prst="rect">
            <a:avLst/>
          </a:prstGeom>
          <a:noFill/>
          <a:ln/>
        </p:spPr>
        <p:txBody>
          <a:bodyPr wrap="square" lIns="0" tIns="0" rIns="0" bIns="0" rtlCol="0" anchor="ctr"/>
          <a:lstStyle/>
          <a:p>
            <a:pPr indent="0" marL="0">
              <a:lnSpc>
                <a:spcPct val="110000"/>
              </a:lnSpc>
              <a:buNone/>
            </a:pPr>
            <a:r>
              <a:rPr lang="en-US" sz="1150" b="1" dirty="0">
                <a:solidFill>
                  <a:srgbClr val="0F172A"/>
                </a:solidFill>
                <a:latin typeface="Calibri" pitchFamily="34" charset="0"/>
                <a:ea typeface="Calibri" pitchFamily="34" charset="-122"/>
                <a:cs typeface="Calibri" pitchFamily="34" charset="-120"/>
              </a:rPr>
              <a:t>Shared venv per ETL</a:t>
            </a:r>
            <a:endParaRPr lang="en-US" sz="1150" dirty="0"/>
          </a:p>
        </p:txBody>
      </p:sp>
      <p:sp>
        <p:nvSpPr>
          <p:cNvPr id="30" name="Text 26"/>
          <p:cNvSpPr/>
          <p:nvPr/>
        </p:nvSpPr>
        <p:spPr>
          <a:xfrm>
            <a:off x="3436544" y="5074920"/>
            <a:ext cx="2522144" cy="868680"/>
          </a:xfrm>
          <a:prstGeom prst="rect">
            <a:avLst/>
          </a:prstGeom>
          <a:noFill/>
          <a:ln/>
        </p:spPr>
        <p:txBody>
          <a:bodyPr wrap="square" lIns="0" tIns="0" rIns="0" bIns="0" rtlCol="0" anchor="ctr"/>
          <a:lstStyle/>
          <a:p>
            <a:pPr indent="0" marL="0">
              <a:lnSpc>
                <a:spcPct val="115000"/>
              </a:lnSpc>
              <a:buNone/>
            </a:pPr>
            <a:r>
              <a:rPr lang="en-US" sz="1000" dirty="0">
                <a:solidFill>
                  <a:srgbClr val="64748B"/>
                </a:solidFill>
                <a:latin typeface="Calibri" pitchFamily="34" charset="0"/>
                <a:ea typeface="Calibri" pitchFamily="34" charset="-122"/>
                <a:cs typeface="Calibri" pitchFamily="34" charset="-120"/>
              </a:rPr>
              <a:t>Created once, reused — installed only when deps change</a:t>
            </a:r>
            <a:endParaRPr lang="en-US" sz="1000" dirty="0"/>
          </a:p>
        </p:txBody>
      </p:sp>
      <p:sp>
        <p:nvSpPr>
          <p:cNvPr id="31" name="Shape 27"/>
          <p:cNvSpPr/>
          <p:nvPr/>
        </p:nvSpPr>
        <p:spPr>
          <a:xfrm>
            <a:off x="6233008" y="3977640"/>
            <a:ext cx="457200" cy="457200"/>
          </a:xfrm>
          <a:prstGeom prst="ellipse">
            <a:avLst/>
          </a:prstGeom>
          <a:solidFill>
            <a:srgbClr val="EFF6FF"/>
          </a:solidFill>
          <a:ln/>
        </p:spPr>
      </p:sp>
      <p:pic>
        <p:nvPicPr>
          <p:cNvPr id="32" name="Image 2" descr="preencoded.png"/>
          <p:cNvPicPr>
            <a:picLocks noChangeAspect="1"/>
          </p:cNvPicPr>
          <p:nvPr/>
        </p:nvPicPr>
        <p:blipFill>
          <a:blip r:embed="rId3"/>
          <a:stretch>
            <a:fillRect/>
          </a:stretch>
        </p:blipFill>
        <p:spPr>
          <a:xfrm>
            <a:off x="6335878" y="4080510"/>
            <a:ext cx="251460" cy="251460"/>
          </a:xfrm>
          <a:prstGeom prst="rect">
            <a:avLst/>
          </a:prstGeom>
        </p:spPr>
      </p:pic>
      <p:sp>
        <p:nvSpPr>
          <p:cNvPr id="33" name="Text 28"/>
          <p:cNvSpPr/>
          <p:nvPr/>
        </p:nvSpPr>
        <p:spPr>
          <a:xfrm>
            <a:off x="6233008" y="4544568"/>
            <a:ext cx="2522144" cy="502920"/>
          </a:xfrm>
          <a:prstGeom prst="rect">
            <a:avLst/>
          </a:prstGeom>
          <a:noFill/>
          <a:ln/>
        </p:spPr>
        <p:txBody>
          <a:bodyPr wrap="square" lIns="0" tIns="0" rIns="0" bIns="0" rtlCol="0" anchor="ctr"/>
          <a:lstStyle/>
          <a:p>
            <a:pPr indent="0" marL="0">
              <a:lnSpc>
                <a:spcPct val="110000"/>
              </a:lnSpc>
              <a:buNone/>
            </a:pPr>
            <a:r>
              <a:rPr lang="en-US" sz="1150" b="1" dirty="0">
                <a:solidFill>
                  <a:srgbClr val="0F172A"/>
                </a:solidFill>
                <a:latin typeface="Calibri" pitchFamily="34" charset="0"/>
                <a:ea typeface="Calibri" pitchFamily="34" charset="-122"/>
                <a:cs typeface="Calibri" pitchFamily="34" charset="-120"/>
              </a:rPr>
              <a:t>3-criteria outcome detection</a:t>
            </a:r>
            <a:endParaRPr lang="en-US" sz="1150" dirty="0"/>
          </a:p>
        </p:txBody>
      </p:sp>
      <p:sp>
        <p:nvSpPr>
          <p:cNvPr id="34" name="Text 29"/>
          <p:cNvSpPr/>
          <p:nvPr/>
        </p:nvSpPr>
        <p:spPr>
          <a:xfrm>
            <a:off x="6233008" y="5074920"/>
            <a:ext cx="2522144" cy="868680"/>
          </a:xfrm>
          <a:prstGeom prst="rect">
            <a:avLst/>
          </a:prstGeom>
          <a:noFill/>
          <a:ln/>
        </p:spPr>
        <p:txBody>
          <a:bodyPr wrap="square" lIns="0" tIns="0" rIns="0" bIns="0" rtlCol="0" anchor="ctr"/>
          <a:lstStyle/>
          <a:p>
            <a:pPr indent="0" marL="0">
              <a:lnSpc>
                <a:spcPct val="115000"/>
              </a:lnSpc>
              <a:buNone/>
            </a:pPr>
            <a:r>
              <a:rPr lang="en-US" sz="1000" dirty="0">
                <a:solidFill>
                  <a:srgbClr val="64748B"/>
                </a:solidFill>
                <a:latin typeface="Calibri" pitchFamily="34" charset="0"/>
                <a:ea typeface="Calibri" pitchFamily="34" charset="-122"/>
                <a:cs typeface="Calibri" pitchFamily="34" charset="-120"/>
              </a:rPr>
              <a:t>Return code · stderr exceptions · output file presence</a:t>
            </a:r>
            <a:endParaRPr lang="en-US" sz="1000" dirty="0"/>
          </a:p>
        </p:txBody>
      </p:sp>
      <p:sp>
        <p:nvSpPr>
          <p:cNvPr id="35" name="Shape 30"/>
          <p:cNvSpPr/>
          <p:nvPr/>
        </p:nvSpPr>
        <p:spPr>
          <a:xfrm>
            <a:off x="9029471" y="3977640"/>
            <a:ext cx="457200" cy="457200"/>
          </a:xfrm>
          <a:prstGeom prst="ellipse">
            <a:avLst/>
          </a:prstGeom>
          <a:solidFill>
            <a:srgbClr val="EFF6FF"/>
          </a:solidFill>
          <a:ln/>
        </p:spPr>
      </p:sp>
      <p:pic>
        <p:nvPicPr>
          <p:cNvPr id="36" name="Image 3" descr="preencoded.png"/>
          <p:cNvPicPr>
            <a:picLocks noChangeAspect="1"/>
          </p:cNvPicPr>
          <p:nvPr/>
        </p:nvPicPr>
        <p:blipFill>
          <a:blip r:embed="rId4"/>
          <a:stretch>
            <a:fillRect/>
          </a:stretch>
        </p:blipFill>
        <p:spPr>
          <a:xfrm>
            <a:off x="9132341" y="4080510"/>
            <a:ext cx="251460" cy="251460"/>
          </a:xfrm>
          <a:prstGeom prst="rect">
            <a:avLst/>
          </a:prstGeom>
        </p:spPr>
      </p:pic>
      <p:sp>
        <p:nvSpPr>
          <p:cNvPr id="37" name="Text 31"/>
          <p:cNvSpPr/>
          <p:nvPr/>
        </p:nvSpPr>
        <p:spPr>
          <a:xfrm>
            <a:off x="9029471" y="4544568"/>
            <a:ext cx="2522144" cy="502920"/>
          </a:xfrm>
          <a:prstGeom prst="rect">
            <a:avLst/>
          </a:prstGeom>
          <a:noFill/>
          <a:ln/>
        </p:spPr>
        <p:txBody>
          <a:bodyPr wrap="square" lIns="0" tIns="0" rIns="0" bIns="0" rtlCol="0" anchor="ctr"/>
          <a:lstStyle/>
          <a:p>
            <a:pPr indent="0" marL="0">
              <a:lnSpc>
                <a:spcPct val="110000"/>
              </a:lnSpc>
              <a:buNone/>
            </a:pPr>
            <a:r>
              <a:rPr lang="en-US" sz="1150" b="1" dirty="0">
                <a:solidFill>
                  <a:srgbClr val="0F172A"/>
                </a:solidFill>
                <a:latin typeface="Calibri" pitchFamily="34" charset="0"/>
                <a:ea typeface="Calibri" pitchFamily="34" charset="-122"/>
                <a:cs typeface="Calibri" pitchFamily="34" charset="-120"/>
              </a:rPr>
              <a:t>Thread pool concurrency</a:t>
            </a:r>
            <a:endParaRPr lang="en-US" sz="1150" dirty="0"/>
          </a:p>
        </p:txBody>
      </p:sp>
      <p:sp>
        <p:nvSpPr>
          <p:cNvPr id="38" name="Text 32"/>
          <p:cNvSpPr/>
          <p:nvPr/>
        </p:nvSpPr>
        <p:spPr>
          <a:xfrm>
            <a:off x="9029471" y="5074920"/>
            <a:ext cx="2522144" cy="868680"/>
          </a:xfrm>
          <a:prstGeom prst="rect">
            <a:avLst/>
          </a:prstGeom>
          <a:noFill/>
          <a:ln/>
        </p:spPr>
        <p:txBody>
          <a:bodyPr wrap="square" lIns="0" tIns="0" rIns="0" bIns="0" rtlCol="0" anchor="ctr"/>
          <a:lstStyle/>
          <a:p>
            <a:pPr indent="0" marL="0">
              <a:lnSpc>
                <a:spcPct val="115000"/>
              </a:lnSpc>
              <a:buNone/>
            </a:pPr>
            <a:r>
              <a:rPr lang="en-US" sz="1000" dirty="0">
                <a:solidFill>
                  <a:srgbClr val="64748B"/>
                </a:solidFill>
                <a:latin typeface="Calibri" pitchFamily="34" charset="0"/>
                <a:ea typeface="Calibri" pitchFamily="34" charset="-122"/>
                <a:cs typeface="Calibri" pitchFamily="34" charset="-120"/>
              </a:rPr>
              <a:t>Different ETLs run in parallel; 1 run per ETL per user</a:t>
            </a:r>
            <a:endParaRPr lang="en-US" sz="1000" dirty="0"/>
          </a:p>
        </p:txBody>
      </p:sp>
      <p:sp>
        <p:nvSpPr>
          <p:cNvPr id="39" name="Text 33"/>
          <p:cNvSpPr/>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10</a:t>
            </a:r>
            <a:endParaRPr lang="en-US" sz="10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37215" y="5120640"/>
            <a:ext cx="3291840" cy="3291840"/>
          </a:xfrm>
          <a:prstGeom prst="ellipse">
            <a:avLst/>
          </a:prstGeom>
          <a:solidFill>
            <a:srgbClr val="EFF6FF">
              <a:alpha val="45000"/>
            </a:srgbClr>
          </a:solidFill>
          <a:ln/>
        </p:spPr>
      </p:sp>
      <p:sp>
        <p:nvSpPr>
          <p:cNvPr id="3" name="Text 1"/>
          <p:cNvSpPr/>
          <p:nvPr/>
        </p:nvSpPr>
        <p:spPr>
          <a:xfrm>
            <a:off x="640080" y="411480"/>
            <a:ext cx="8229600" cy="320040"/>
          </a:xfrm>
          <a:prstGeom prst="rect">
            <a:avLst/>
          </a:prstGeom>
          <a:noFill/>
          <a:ln/>
        </p:spPr>
        <p:txBody>
          <a:bodyPr wrap="square" lIns="0" tIns="0" rIns="0" bIns="0" rtlCol="0" anchor="ctr"/>
          <a:lstStyle/>
          <a:p>
            <a:pPr indent="0" marL="0">
              <a:buNone/>
            </a:pPr>
            <a:r>
              <a:rPr lang="en-US" sz="1250" b="1" spc="200" kern="0" dirty="0">
                <a:solidFill>
                  <a:srgbClr val="2563EB"/>
                </a:solidFill>
                <a:latin typeface="Calibri" pitchFamily="34" charset="0"/>
                <a:ea typeface="Calibri" pitchFamily="34" charset="-122"/>
                <a:cs typeface="Calibri" pitchFamily="34" charset="-120"/>
              </a:rPr>
              <a:t>MODULE 3</a:t>
            </a:r>
            <a:endParaRPr lang="en-US" sz="1250" dirty="0"/>
          </a:p>
        </p:txBody>
      </p:sp>
      <p:sp>
        <p:nvSpPr>
          <p:cNvPr id="4" name="Text 2"/>
          <p:cNvSpPr/>
          <p:nvPr/>
        </p:nvSpPr>
        <p:spPr>
          <a:xfrm>
            <a:off x="640080" y="713232"/>
            <a:ext cx="10515600"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Execution Engine — running it in the background</a:t>
            </a:r>
            <a:endParaRPr lang="en-US" sz="2800" dirty="0"/>
          </a:p>
        </p:txBody>
      </p:sp>
      <p:sp>
        <p:nvSpPr>
          <p:cNvPr id="5" name="Text 3"/>
          <p:cNvSpPr/>
          <p:nvPr/>
        </p:nvSpPr>
        <p:spPr>
          <a:xfrm>
            <a:off x="640080" y="1417320"/>
            <a:ext cx="105156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A background thread launches a real OS process — and the browser polls it live</a:t>
            </a:r>
            <a:endParaRPr lang="en-US" sz="1300" dirty="0"/>
          </a:p>
        </p:txBody>
      </p:sp>
      <p:sp>
        <p:nvSpPr>
          <p:cNvPr id="6" name="Text 4"/>
          <p:cNvSpPr/>
          <p:nvPr/>
        </p:nvSpPr>
        <p:spPr>
          <a:xfrm>
            <a:off x="640080" y="1874520"/>
            <a:ext cx="4572000" cy="228600"/>
          </a:xfrm>
          <a:prstGeom prst="rect">
            <a:avLst/>
          </a:prstGeom>
          <a:noFill/>
          <a:ln/>
        </p:spPr>
        <p:txBody>
          <a:bodyPr wrap="square" lIns="0" tIns="0" rIns="0" bIns="0" rtlCol="0" anchor="ctr"/>
          <a:lstStyle/>
          <a:p>
            <a:pPr indent="0" marL="0">
              <a:buNone/>
            </a:pPr>
            <a:r>
              <a:rPr lang="en-US" sz="1000" b="1" spc="150" kern="0" dirty="0">
                <a:solidFill>
                  <a:srgbClr val="64748B"/>
                </a:solidFill>
                <a:latin typeface="Calibri" pitchFamily="34" charset="0"/>
                <a:ea typeface="Calibri" pitchFamily="34" charset="-122"/>
                <a:cs typeface="Calibri" pitchFamily="34" charset="-120"/>
              </a:rPr>
              <a:t>LAUNCH PATH</a:t>
            </a:r>
            <a:endParaRPr lang="en-US" sz="1000" dirty="0"/>
          </a:p>
        </p:txBody>
      </p:sp>
      <p:sp>
        <p:nvSpPr>
          <p:cNvPr id="7" name="Shape 5"/>
          <p:cNvSpPr/>
          <p:nvPr/>
        </p:nvSpPr>
        <p:spPr>
          <a:xfrm>
            <a:off x="640080" y="2148840"/>
            <a:ext cx="2377440" cy="777240"/>
          </a:xfrm>
          <a:prstGeom prst="rect">
            <a:avLst/>
          </a:prstGeom>
          <a:solidFill>
            <a:srgbClr val="FFFFFF"/>
          </a:solidFill>
          <a:ln w="15875">
            <a:solidFill>
              <a:srgbClr val="E2E8F0"/>
            </a:solidFill>
            <a:prstDash val="solid"/>
          </a:ln>
        </p:spPr>
      </p:sp>
      <p:sp>
        <p:nvSpPr>
          <p:cNvPr id="8" name="Text 6"/>
          <p:cNvSpPr/>
          <p:nvPr/>
        </p:nvSpPr>
        <p:spPr>
          <a:xfrm>
            <a:off x="694944" y="2221992"/>
            <a:ext cx="2267712" cy="404165"/>
          </a:xfrm>
          <a:prstGeom prst="rect">
            <a:avLst/>
          </a:prstGeom>
          <a:noFill/>
          <a:ln/>
        </p:spPr>
        <p:txBody>
          <a:bodyPr wrap="square" lIns="0" tIns="0" rIns="0" bIns="0" rtlCol="0" anchor="t"/>
          <a:lstStyle/>
          <a:p>
            <a:pPr algn="ctr" indent="0" marL="0">
              <a:lnSpc>
                <a:spcPct val="105000"/>
              </a:lnSpc>
              <a:buNone/>
            </a:pPr>
            <a:r>
              <a:rPr lang="en-US" sz="1100" b="1" dirty="0">
                <a:solidFill>
                  <a:srgbClr val="0F172A"/>
                </a:solidFill>
                <a:latin typeface="Calibri" pitchFamily="34" charset="0"/>
                <a:ea typeface="Calibri" pitchFamily="34" charset="-122"/>
                <a:cs typeface="Calibri" pitchFamily="34" charset="-120"/>
              </a:rPr>
              <a:t>Browser</a:t>
            </a:r>
            <a:endParaRPr lang="en-US" sz="1100" dirty="0"/>
          </a:p>
        </p:txBody>
      </p:sp>
      <p:sp>
        <p:nvSpPr>
          <p:cNvPr id="9" name="Text 7"/>
          <p:cNvSpPr/>
          <p:nvPr/>
        </p:nvSpPr>
        <p:spPr>
          <a:xfrm>
            <a:off x="694944" y="2537460"/>
            <a:ext cx="2267712" cy="349758"/>
          </a:xfrm>
          <a:prstGeom prst="rect">
            <a:avLst/>
          </a:prstGeom>
          <a:noFill/>
          <a:ln/>
        </p:spPr>
        <p:txBody>
          <a:bodyPr wrap="square" lIns="0" tIns="0" rIns="0" bIns="0" rtlCol="0" anchor="t"/>
          <a:lstStyle/>
          <a:p>
            <a:pPr algn="ctr" indent="0" marL="0">
              <a:lnSpc>
                <a:spcPct val="105000"/>
              </a:lnSpc>
              <a:buNone/>
            </a:pPr>
            <a:r>
              <a:rPr lang="en-US" sz="780" dirty="0">
                <a:solidFill>
                  <a:srgbClr val="64748B"/>
                </a:solidFill>
                <a:latin typeface="Calibri" pitchFamily="34" charset="0"/>
                <a:ea typeface="Calibri" pitchFamily="34" charset="-122"/>
                <a:cs typeface="Calibri" pitchFamily="34" charset="-120"/>
              </a:rPr>
              <a:t>clicks Launch</a:t>
            </a:r>
            <a:endParaRPr lang="en-US" sz="780" dirty="0"/>
          </a:p>
        </p:txBody>
      </p:sp>
      <p:sp>
        <p:nvSpPr>
          <p:cNvPr id="10" name="Shape 8"/>
          <p:cNvSpPr/>
          <p:nvPr/>
        </p:nvSpPr>
        <p:spPr>
          <a:xfrm>
            <a:off x="3049524" y="2464308"/>
            <a:ext cx="192024" cy="146304"/>
          </a:xfrm>
          <a:prstGeom prst="rightArrow">
            <a:avLst/>
          </a:prstGeom>
          <a:solidFill>
            <a:srgbClr val="94A3B8"/>
          </a:solidFill>
          <a:ln/>
        </p:spPr>
      </p:sp>
      <p:sp>
        <p:nvSpPr>
          <p:cNvPr id="11" name="Shape 9"/>
          <p:cNvSpPr/>
          <p:nvPr/>
        </p:nvSpPr>
        <p:spPr>
          <a:xfrm>
            <a:off x="3246120" y="2148840"/>
            <a:ext cx="2377440" cy="777240"/>
          </a:xfrm>
          <a:prstGeom prst="rect">
            <a:avLst/>
          </a:prstGeom>
          <a:solidFill>
            <a:srgbClr val="EFF6FF"/>
          </a:solidFill>
          <a:ln w="15875">
            <a:solidFill>
              <a:srgbClr val="93C5FD"/>
            </a:solidFill>
            <a:prstDash val="solid"/>
          </a:ln>
        </p:spPr>
      </p:sp>
      <p:sp>
        <p:nvSpPr>
          <p:cNvPr id="12" name="Text 10"/>
          <p:cNvSpPr/>
          <p:nvPr/>
        </p:nvSpPr>
        <p:spPr>
          <a:xfrm>
            <a:off x="3300984" y="2221992"/>
            <a:ext cx="2267712" cy="404165"/>
          </a:xfrm>
          <a:prstGeom prst="rect">
            <a:avLst/>
          </a:prstGeom>
          <a:noFill/>
          <a:ln/>
        </p:spPr>
        <p:txBody>
          <a:bodyPr wrap="square" lIns="0" tIns="0" rIns="0" bIns="0" rtlCol="0" anchor="t"/>
          <a:lstStyle/>
          <a:p>
            <a:pPr algn="ctr" indent="0" marL="0">
              <a:lnSpc>
                <a:spcPct val="105000"/>
              </a:lnSpc>
              <a:buNone/>
            </a:pPr>
            <a:r>
              <a:rPr lang="en-US" sz="1100" b="1" dirty="0">
                <a:solidFill>
                  <a:srgbClr val="0F172A"/>
                </a:solidFill>
                <a:latin typeface="Calibri" pitchFamily="34" charset="0"/>
                <a:ea typeface="Calibri" pitchFamily="34" charset="-122"/>
                <a:cs typeface="Calibri" pitchFamily="34" charset="-120"/>
              </a:rPr>
              <a:t>API thread</a:t>
            </a:r>
            <a:endParaRPr lang="en-US" sz="1100" dirty="0"/>
          </a:p>
        </p:txBody>
      </p:sp>
      <p:sp>
        <p:nvSpPr>
          <p:cNvPr id="13" name="Text 11"/>
          <p:cNvSpPr/>
          <p:nvPr/>
        </p:nvSpPr>
        <p:spPr>
          <a:xfrm>
            <a:off x="3300984" y="2537460"/>
            <a:ext cx="2267712" cy="349758"/>
          </a:xfrm>
          <a:prstGeom prst="rect">
            <a:avLst/>
          </a:prstGeom>
          <a:noFill/>
          <a:ln/>
        </p:spPr>
        <p:txBody>
          <a:bodyPr wrap="square" lIns="0" tIns="0" rIns="0" bIns="0" rtlCol="0" anchor="t"/>
          <a:lstStyle/>
          <a:p>
            <a:pPr algn="ctr" indent="0" marL="0">
              <a:lnSpc>
                <a:spcPct val="105000"/>
              </a:lnSpc>
              <a:buNone/>
            </a:pPr>
            <a:r>
              <a:rPr lang="en-US" sz="780" dirty="0">
                <a:solidFill>
                  <a:srgbClr val="64748B"/>
                </a:solidFill>
                <a:latin typeface="Calibri" pitchFamily="34" charset="0"/>
                <a:ea typeface="Calibri" pitchFamily="34" charset="-122"/>
                <a:cs typeface="Calibri" pitchFamily="34" charset="-120"/>
              </a:rPr>
              <a:t>returns instantly</a:t>
            </a:r>
            <a:endParaRPr lang="en-US" sz="780" dirty="0"/>
          </a:p>
        </p:txBody>
      </p:sp>
      <p:sp>
        <p:nvSpPr>
          <p:cNvPr id="14" name="Shape 12"/>
          <p:cNvSpPr/>
          <p:nvPr/>
        </p:nvSpPr>
        <p:spPr>
          <a:xfrm>
            <a:off x="5655564" y="2464308"/>
            <a:ext cx="192024" cy="146304"/>
          </a:xfrm>
          <a:prstGeom prst="rightArrow">
            <a:avLst/>
          </a:prstGeom>
          <a:solidFill>
            <a:srgbClr val="94A3B8"/>
          </a:solidFill>
          <a:ln/>
        </p:spPr>
      </p:sp>
      <p:sp>
        <p:nvSpPr>
          <p:cNvPr id="15" name="Shape 13"/>
          <p:cNvSpPr/>
          <p:nvPr/>
        </p:nvSpPr>
        <p:spPr>
          <a:xfrm>
            <a:off x="5852160" y="2148840"/>
            <a:ext cx="2377440" cy="777240"/>
          </a:xfrm>
          <a:prstGeom prst="rect">
            <a:avLst/>
          </a:prstGeom>
          <a:solidFill>
            <a:srgbClr val="FFFBEB"/>
          </a:solidFill>
          <a:ln w="15875">
            <a:solidFill>
              <a:srgbClr val="D97706"/>
            </a:solidFill>
            <a:prstDash val="solid"/>
          </a:ln>
        </p:spPr>
      </p:sp>
      <p:sp>
        <p:nvSpPr>
          <p:cNvPr id="16" name="Text 14"/>
          <p:cNvSpPr/>
          <p:nvPr/>
        </p:nvSpPr>
        <p:spPr>
          <a:xfrm>
            <a:off x="5907024" y="2221992"/>
            <a:ext cx="2267712" cy="404165"/>
          </a:xfrm>
          <a:prstGeom prst="rect">
            <a:avLst/>
          </a:prstGeom>
          <a:noFill/>
          <a:ln/>
        </p:spPr>
        <p:txBody>
          <a:bodyPr wrap="square" lIns="0" tIns="0" rIns="0" bIns="0" rtlCol="0" anchor="t"/>
          <a:lstStyle/>
          <a:p>
            <a:pPr algn="ctr" indent="0" marL="0">
              <a:lnSpc>
                <a:spcPct val="105000"/>
              </a:lnSpc>
              <a:buNone/>
            </a:pPr>
            <a:r>
              <a:rPr lang="en-US" sz="1000" b="1" dirty="0">
                <a:solidFill>
                  <a:srgbClr val="0F172A"/>
                </a:solidFill>
                <a:latin typeface="Calibri" pitchFamily="34" charset="0"/>
                <a:ea typeface="Calibri" pitchFamily="34" charset="-122"/>
                <a:cs typeface="Calibri" pitchFamily="34" charset="-120"/>
              </a:rPr>
              <a:t>Background thread</a:t>
            </a:r>
            <a:endParaRPr lang="en-US" sz="1000" dirty="0"/>
          </a:p>
        </p:txBody>
      </p:sp>
      <p:sp>
        <p:nvSpPr>
          <p:cNvPr id="17" name="Text 15"/>
          <p:cNvSpPr/>
          <p:nvPr/>
        </p:nvSpPr>
        <p:spPr>
          <a:xfrm>
            <a:off x="5907024" y="2537460"/>
            <a:ext cx="2267712" cy="349758"/>
          </a:xfrm>
          <a:prstGeom prst="rect">
            <a:avLst/>
          </a:prstGeom>
          <a:noFill/>
          <a:ln/>
        </p:spPr>
        <p:txBody>
          <a:bodyPr wrap="square" lIns="0" tIns="0" rIns="0" bIns="0" rtlCol="0" anchor="t"/>
          <a:lstStyle/>
          <a:p>
            <a:pPr algn="ctr" indent="0" marL="0">
              <a:lnSpc>
                <a:spcPct val="105000"/>
              </a:lnSpc>
              <a:buNone/>
            </a:pPr>
            <a:r>
              <a:rPr lang="en-US" sz="780" dirty="0">
                <a:solidFill>
                  <a:srgbClr val="64748B"/>
                </a:solidFill>
                <a:latin typeface="Calibri" pitchFamily="34" charset="0"/>
                <a:ea typeface="Calibri" pitchFamily="34" charset="-122"/>
                <a:cs typeface="Calibri" pitchFamily="34" charset="-120"/>
              </a:rPr>
              <a:t>subprocess.Popen( )</a:t>
            </a:r>
            <a:endParaRPr lang="en-US" sz="780" dirty="0"/>
          </a:p>
        </p:txBody>
      </p:sp>
      <p:sp>
        <p:nvSpPr>
          <p:cNvPr id="18" name="Shape 16"/>
          <p:cNvSpPr/>
          <p:nvPr/>
        </p:nvSpPr>
        <p:spPr>
          <a:xfrm>
            <a:off x="8261604" y="2464308"/>
            <a:ext cx="192024" cy="146304"/>
          </a:xfrm>
          <a:prstGeom prst="rightArrow">
            <a:avLst/>
          </a:prstGeom>
          <a:solidFill>
            <a:srgbClr val="94A3B8"/>
          </a:solidFill>
          <a:ln/>
        </p:spPr>
      </p:sp>
      <p:sp>
        <p:nvSpPr>
          <p:cNvPr id="19" name="Shape 17"/>
          <p:cNvSpPr/>
          <p:nvPr/>
        </p:nvSpPr>
        <p:spPr>
          <a:xfrm>
            <a:off x="8458200" y="2148840"/>
            <a:ext cx="2377440" cy="777240"/>
          </a:xfrm>
          <a:prstGeom prst="rect">
            <a:avLst/>
          </a:prstGeom>
          <a:solidFill>
            <a:srgbClr val="0F172A"/>
          </a:solidFill>
          <a:ln w="15875">
            <a:solidFill>
              <a:srgbClr val="0F172A"/>
            </a:solidFill>
            <a:prstDash val="solid"/>
          </a:ln>
        </p:spPr>
      </p:sp>
      <p:sp>
        <p:nvSpPr>
          <p:cNvPr id="20" name="Text 18"/>
          <p:cNvSpPr/>
          <p:nvPr/>
        </p:nvSpPr>
        <p:spPr>
          <a:xfrm>
            <a:off x="8513064" y="2221992"/>
            <a:ext cx="2267712" cy="404165"/>
          </a:xfrm>
          <a:prstGeom prst="rect">
            <a:avLst/>
          </a:prstGeom>
          <a:noFill/>
          <a:ln/>
        </p:spPr>
        <p:txBody>
          <a:bodyPr wrap="square" lIns="0" tIns="0" rIns="0" bIns="0" rtlCol="0" anchor="t"/>
          <a:lstStyle/>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OS Process</a:t>
            </a:r>
            <a:endParaRPr lang="en-US" sz="1100" dirty="0"/>
          </a:p>
        </p:txBody>
      </p:sp>
      <p:sp>
        <p:nvSpPr>
          <p:cNvPr id="21" name="Text 19"/>
          <p:cNvSpPr/>
          <p:nvPr/>
        </p:nvSpPr>
        <p:spPr>
          <a:xfrm>
            <a:off x="8513064" y="2537460"/>
            <a:ext cx="2267712" cy="349758"/>
          </a:xfrm>
          <a:prstGeom prst="rect">
            <a:avLst/>
          </a:prstGeom>
          <a:noFill/>
          <a:ln/>
        </p:spPr>
        <p:txBody>
          <a:bodyPr wrap="square" lIns="0" tIns="0" rIns="0" bIns="0" rtlCol="0" anchor="t"/>
          <a:lstStyle/>
          <a:p>
            <a:pPr algn="ctr" indent="0" marL="0">
              <a:lnSpc>
                <a:spcPct val="105000"/>
              </a:lnSpc>
              <a:buNone/>
            </a:pPr>
            <a:r>
              <a:rPr lang="en-US" sz="780" dirty="0">
                <a:solidFill>
                  <a:srgbClr val="64748B"/>
                </a:solidFill>
                <a:latin typeface="Calibri" pitchFamily="34" charset="0"/>
                <a:ea typeface="Calibri" pitchFamily="34" charset="-122"/>
                <a:cs typeface="Calibri" pitchFamily="34" charset="-120"/>
              </a:rPr>
              <a:t>PID stored on Execution</a:t>
            </a:r>
            <a:endParaRPr lang="en-US" sz="780" dirty="0"/>
          </a:p>
        </p:txBody>
      </p:sp>
      <p:sp>
        <p:nvSpPr>
          <p:cNvPr id="22" name="Text 20"/>
          <p:cNvSpPr/>
          <p:nvPr/>
        </p:nvSpPr>
        <p:spPr>
          <a:xfrm>
            <a:off x="640080" y="3127248"/>
            <a:ext cx="7315200" cy="228600"/>
          </a:xfrm>
          <a:prstGeom prst="rect">
            <a:avLst/>
          </a:prstGeom>
          <a:noFill/>
          <a:ln/>
        </p:spPr>
        <p:txBody>
          <a:bodyPr wrap="square" lIns="0" tIns="0" rIns="0" bIns="0" rtlCol="0" anchor="ctr"/>
          <a:lstStyle/>
          <a:p>
            <a:pPr indent="0" marL="0">
              <a:buNone/>
            </a:pPr>
            <a:r>
              <a:rPr lang="en-US" sz="1000" b="1" spc="150" kern="0" dirty="0">
                <a:solidFill>
                  <a:srgbClr val="64748B"/>
                </a:solidFill>
                <a:latin typeface="Calibri" pitchFamily="34" charset="0"/>
                <a:ea typeface="Calibri" pitchFamily="34" charset="-122"/>
                <a:cs typeface="Calibri" pitchFamily="34" charset="-120"/>
              </a:rPr>
              <a:t>LIVE STATUS — POLLED FROM THE BROWSER</a:t>
            </a:r>
            <a:endParaRPr lang="en-US" sz="1000" dirty="0"/>
          </a:p>
        </p:txBody>
      </p:sp>
      <p:sp>
        <p:nvSpPr>
          <p:cNvPr id="23" name="Shape 21"/>
          <p:cNvSpPr/>
          <p:nvPr/>
        </p:nvSpPr>
        <p:spPr>
          <a:xfrm>
            <a:off x="640080" y="3401568"/>
            <a:ext cx="3200400" cy="777240"/>
          </a:xfrm>
          <a:prstGeom prst="rect">
            <a:avLst/>
          </a:prstGeom>
          <a:solidFill>
            <a:srgbClr val="FFFFFF"/>
          </a:solidFill>
          <a:ln w="15875">
            <a:solidFill>
              <a:srgbClr val="E2E8F0"/>
            </a:solidFill>
            <a:prstDash val="solid"/>
          </a:ln>
        </p:spPr>
      </p:sp>
      <p:sp>
        <p:nvSpPr>
          <p:cNvPr id="24" name="Text 22"/>
          <p:cNvSpPr/>
          <p:nvPr/>
        </p:nvSpPr>
        <p:spPr>
          <a:xfrm>
            <a:off x="694944" y="3474720"/>
            <a:ext cx="3090672" cy="404165"/>
          </a:xfrm>
          <a:prstGeom prst="rect">
            <a:avLst/>
          </a:prstGeom>
          <a:noFill/>
          <a:ln/>
        </p:spPr>
        <p:txBody>
          <a:bodyPr wrap="square" lIns="0" tIns="0" rIns="0" bIns="0" rtlCol="0" anchor="t"/>
          <a:lstStyle/>
          <a:p>
            <a:pPr algn="ctr" indent="0" marL="0">
              <a:lnSpc>
                <a:spcPct val="105000"/>
              </a:lnSpc>
              <a:buNone/>
            </a:pPr>
            <a:r>
              <a:rPr lang="en-US" sz="1050" b="1" dirty="0">
                <a:solidFill>
                  <a:srgbClr val="0F172A"/>
                </a:solidFill>
                <a:latin typeface="Calibri" pitchFamily="34" charset="0"/>
                <a:ea typeface="Calibri" pitchFamily="34" charset="-122"/>
                <a:cs typeface="Calibri" pitchFamily="34" charset="-120"/>
              </a:rPr>
              <a:t>Execution row (DB)</a:t>
            </a:r>
            <a:endParaRPr lang="en-US" sz="1050" dirty="0"/>
          </a:p>
        </p:txBody>
      </p:sp>
      <p:sp>
        <p:nvSpPr>
          <p:cNvPr id="25" name="Text 23"/>
          <p:cNvSpPr/>
          <p:nvPr/>
        </p:nvSpPr>
        <p:spPr>
          <a:xfrm>
            <a:off x="694944" y="3790188"/>
            <a:ext cx="3090672" cy="349758"/>
          </a:xfrm>
          <a:prstGeom prst="rect">
            <a:avLst/>
          </a:prstGeom>
          <a:noFill/>
          <a:ln/>
        </p:spPr>
        <p:txBody>
          <a:bodyPr wrap="square" lIns="0" tIns="0" rIns="0" bIns="0" rtlCol="0" anchor="t"/>
          <a:lstStyle/>
          <a:p>
            <a:pPr algn="ctr" indent="0" marL="0">
              <a:lnSpc>
                <a:spcPct val="105000"/>
              </a:lnSpc>
              <a:buNone/>
            </a:pPr>
            <a:r>
              <a:rPr lang="en-US" sz="780" dirty="0">
                <a:solidFill>
                  <a:srgbClr val="64748B"/>
                </a:solidFill>
                <a:latin typeface="Calibri" pitchFamily="34" charset="0"/>
                <a:ea typeface="Calibri" pitchFamily="34" charset="-122"/>
                <a:cs typeface="Calibri" pitchFamily="34" charset="-120"/>
              </a:rPr>
              <a:t>status column updated at each step</a:t>
            </a:r>
            <a:endParaRPr lang="en-US" sz="780" dirty="0"/>
          </a:p>
        </p:txBody>
      </p:sp>
      <p:sp>
        <p:nvSpPr>
          <p:cNvPr id="26" name="Shape 24"/>
          <p:cNvSpPr/>
          <p:nvPr/>
        </p:nvSpPr>
        <p:spPr>
          <a:xfrm>
            <a:off x="3895344" y="3717036"/>
            <a:ext cx="237744" cy="146304"/>
          </a:xfrm>
          <a:prstGeom prst="rightArrow">
            <a:avLst/>
          </a:prstGeom>
          <a:solidFill>
            <a:srgbClr val="94A3B8"/>
          </a:solidFill>
          <a:ln/>
        </p:spPr>
      </p:sp>
      <p:sp>
        <p:nvSpPr>
          <p:cNvPr id="27" name="Shape 25"/>
          <p:cNvSpPr/>
          <p:nvPr/>
        </p:nvSpPr>
        <p:spPr>
          <a:xfrm>
            <a:off x="4114800" y="3401568"/>
            <a:ext cx="3200400" cy="777240"/>
          </a:xfrm>
          <a:prstGeom prst="rect">
            <a:avLst/>
          </a:prstGeom>
          <a:solidFill>
            <a:srgbClr val="EFF6FF"/>
          </a:solidFill>
          <a:ln w="15875">
            <a:solidFill>
              <a:srgbClr val="93C5FD"/>
            </a:solidFill>
            <a:prstDash val="solid"/>
          </a:ln>
        </p:spPr>
      </p:sp>
      <p:sp>
        <p:nvSpPr>
          <p:cNvPr id="28" name="Text 26"/>
          <p:cNvSpPr/>
          <p:nvPr/>
        </p:nvSpPr>
        <p:spPr>
          <a:xfrm>
            <a:off x="4169664" y="3474720"/>
            <a:ext cx="3090672" cy="404165"/>
          </a:xfrm>
          <a:prstGeom prst="rect">
            <a:avLst/>
          </a:prstGeom>
          <a:noFill/>
          <a:ln/>
        </p:spPr>
        <p:txBody>
          <a:bodyPr wrap="square" lIns="0" tIns="0" rIns="0" bIns="0" rtlCol="0" anchor="t"/>
          <a:lstStyle/>
          <a:p>
            <a:pPr algn="ctr" indent="0" marL="0">
              <a:lnSpc>
                <a:spcPct val="105000"/>
              </a:lnSpc>
              <a:buNone/>
            </a:pPr>
            <a:r>
              <a:rPr lang="en-US" sz="1050" b="1" dirty="0">
                <a:solidFill>
                  <a:srgbClr val="0F172A"/>
                </a:solidFill>
                <a:latin typeface="Calibri" pitchFamily="34" charset="0"/>
                <a:ea typeface="Calibri" pitchFamily="34" charset="-122"/>
                <a:cs typeface="Calibri" pitchFamily="34" charset="-120"/>
              </a:rPr>
              <a:t>Poll every 2s</a:t>
            </a:r>
            <a:endParaRPr lang="en-US" sz="1050" dirty="0"/>
          </a:p>
        </p:txBody>
      </p:sp>
      <p:sp>
        <p:nvSpPr>
          <p:cNvPr id="29" name="Text 27"/>
          <p:cNvSpPr/>
          <p:nvPr/>
        </p:nvSpPr>
        <p:spPr>
          <a:xfrm>
            <a:off x="4169664" y="3790188"/>
            <a:ext cx="3090672" cy="349758"/>
          </a:xfrm>
          <a:prstGeom prst="rect">
            <a:avLst/>
          </a:prstGeom>
          <a:noFill/>
          <a:ln/>
        </p:spPr>
        <p:txBody>
          <a:bodyPr wrap="square" lIns="0" tIns="0" rIns="0" bIns="0" rtlCol="0" anchor="t"/>
          <a:lstStyle/>
          <a:p>
            <a:pPr algn="ctr" indent="0" marL="0">
              <a:lnSpc>
                <a:spcPct val="105000"/>
              </a:lnSpc>
              <a:buNone/>
            </a:pPr>
            <a:r>
              <a:rPr lang="en-US" sz="780" dirty="0">
                <a:solidFill>
                  <a:srgbClr val="64748B"/>
                </a:solidFill>
                <a:latin typeface="Calibri" pitchFamily="34" charset="0"/>
                <a:ea typeface="Calibri" pitchFamily="34" charset="-122"/>
                <a:cs typeface="Calibri" pitchFamily="34" charset="-120"/>
              </a:rPr>
              <a:t>GET /executions/&lt;id&gt;/</a:t>
            </a:r>
            <a:endParaRPr lang="en-US" sz="780" dirty="0"/>
          </a:p>
        </p:txBody>
      </p:sp>
      <p:sp>
        <p:nvSpPr>
          <p:cNvPr id="30" name="Shape 28"/>
          <p:cNvSpPr/>
          <p:nvPr/>
        </p:nvSpPr>
        <p:spPr>
          <a:xfrm>
            <a:off x="7370064" y="3717036"/>
            <a:ext cx="237744" cy="146304"/>
          </a:xfrm>
          <a:prstGeom prst="rightArrow">
            <a:avLst/>
          </a:prstGeom>
          <a:solidFill>
            <a:srgbClr val="94A3B8"/>
          </a:solidFill>
          <a:ln/>
        </p:spPr>
      </p:sp>
      <p:sp>
        <p:nvSpPr>
          <p:cNvPr id="31" name="Shape 29"/>
          <p:cNvSpPr/>
          <p:nvPr/>
        </p:nvSpPr>
        <p:spPr>
          <a:xfrm>
            <a:off x="7589520" y="3401568"/>
            <a:ext cx="3200400" cy="777240"/>
          </a:xfrm>
          <a:prstGeom prst="rect">
            <a:avLst/>
          </a:prstGeom>
          <a:solidFill>
            <a:srgbClr val="FFFFFF"/>
          </a:solidFill>
          <a:ln w="15875">
            <a:solidFill>
              <a:srgbClr val="E2E8F0"/>
            </a:solidFill>
            <a:prstDash val="solid"/>
          </a:ln>
        </p:spPr>
      </p:sp>
      <p:sp>
        <p:nvSpPr>
          <p:cNvPr id="32" name="Text 30"/>
          <p:cNvSpPr/>
          <p:nvPr/>
        </p:nvSpPr>
        <p:spPr>
          <a:xfrm>
            <a:off x="7644384" y="3474720"/>
            <a:ext cx="3090672" cy="404165"/>
          </a:xfrm>
          <a:prstGeom prst="rect">
            <a:avLst/>
          </a:prstGeom>
          <a:noFill/>
          <a:ln/>
        </p:spPr>
        <p:txBody>
          <a:bodyPr wrap="square" lIns="0" tIns="0" rIns="0" bIns="0" rtlCol="0" anchor="t"/>
          <a:lstStyle/>
          <a:p>
            <a:pPr algn="ctr" indent="0" marL="0">
              <a:lnSpc>
                <a:spcPct val="105000"/>
              </a:lnSpc>
              <a:buNone/>
            </a:pPr>
            <a:r>
              <a:rPr lang="en-US" sz="1050" b="1" dirty="0">
                <a:solidFill>
                  <a:srgbClr val="0F172A"/>
                </a:solidFill>
                <a:latin typeface="Calibri" pitchFamily="34" charset="0"/>
                <a:ea typeface="Calibri" pitchFamily="34" charset="-122"/>
                <a:cs typeface="Calibri" pitchFamily="34" charset="-120"/>
              </a:rPr>
              <a:t>Browser UI</a:t>
            </a:r>
            <a:endParaRPr lang="en-US" sz="1050" dirty="0"/>
          </a:p>
        </p:txBody>
      </p:sp>
      <p:sp>
        <p:nvSpPr>
          <p:cNvPr id="33" name="Text 31"/>
          <p:cNvSpPr/>
          <p:nvPr/>
        </p:nvSpPr>
        <p:spPr>
          <a:xfrm>
            <a:off x="7644384" y="3790188"/>
            <a:ext cx="3090672" cy="349758"/>
          </a:xfrm>
          <a:prstGeom prst="rect">
            <a:avLst/>
          </a:prstGeom>
          <a:noFill/>
          <a:ln/>
        </p:spPr>
        <p:txBody>
          <a:bodyPr wrap="square" lIns="0" tIns="0" rIns="0" bIns="0" rtlCol="0" anchor="t"/>
          <a:lstStyle/>
          <a:p>
            <a:pPr algn="ctr" indent="0" marL="0">
              <a:lnSpc>
                <a:spcPct val="105000"/>
              </a:lnSpc>
              <a:buNone/>
            </a:pPr>
            <a:r>
              <a:rPr lang="en-US" sz="780" dirty="0">
                <a:solidFill>
                  <a:srgbClr val="64748B"/>
                </a:solidFill>
                <a:latin typeface="Calibri" pitchFamily="34" charset="0"/>
                <a:ea typeface="Calibri" pitchFamily="34" charset="-122"/>
                <a:cs typeface="Calibri" pitchFamily="34" charset="-120"/>
              </a:rPr>
              <a:t>progress steps update live</a:t>
            </a:r>
            <a:endParaRPr lang="en-US" sz="780" dirty="0"/>
          </a:p>
        </p:txBody>
      </p:sp>
      <p:sp>
        <p:nvSpPr>
          <p:cNvPr id="34" name="Text 32"/>
          <p:cNvSpPr/>
          <p:nvPr/>
        </p:nvSpPr>
        <p:spPr>
          <a:xfrm>
            <a:off x="640080" y="4526280"/>
            <a:ext cx="10927080" cy="548640"/>
          </a:xfrm>
          <a:prstGeom prst="rect">
            <a:avLst/>
          </a:prstGeom>
          <a:noFill/>
          <a:ln/>
        </p:spPr>
        <p:txBody>
          <a:bodyPr wrap="square" lIns="0" tIns="0" rIns="0" bIns="0" rtlCol="0" anchor="ctr"/>
          <a:lstStyle/>
          <a:p>
            <a:pPr indent="0" marL="0">
              <a:lnSpc>
                <a:spcPct val="130000"/>
              </a:lnSpc>
              <a:buNone/>
            </a:pPr>
            <a:r>
              <a:rPr lang="en-US" sz="1100" b="1" dirty="0">
                <a:solidFill>
                  <a:srgbClr val="0F172A"/>
                </a:solidFill>
                <a:latin typeface="Calibri" pitchFamily="34" charset="0"/>
                <a:ea typeface="Calibri" pitchFamily="34" charset="-122"/>
                <a:cs typeface="Calibri" pitchFamily="34" charset="-120"/>
              </a:rPr>
              <a:t xml:space="preserve">Cancel:  </a:t>
            </a:r>
            <a:pPr indent="0" marL="0">
              <a:lnSpc>
                <a:spcPct val="130000"/>
              </a:lnSpc>
              <a:buNone/>
            </a:pPr>
            <a:r>
              <a:rPr lang="en-US" sz="1100" dirty="0">
                <a:solidFill>
                  <a:srgbClr val="64748B"/>
                </a:solidFill>
                <a:latin typeface="Calibri" pitchFamily="34" charset="0"/>
                <a:ea typeface="Calibri" pitchFamily="34" charset="-122"/>
                <a:cs typeface="Calibri" pitchFamily="34" charset="-120"/>
              </a:rPr>
              <a:t xml:space="preserve">sets </a:t>
            </a:r>
            <a:pPr indent="0" marL="0">
              <a:lnSpc>
                <a:spcPct val="130000"/>
              </a:lnSpc>
              <a:buNone/>
            </a:pPr>
            <a:r>
              <a:rPr lang="en-US" sz="1100" dirty="0">
                <a:solidFill>
                  <a:srgbClr val="0F172A"/>
                </a:solidFill>
                <a:latin typeface="Consolas" pitchFamily="34" charset="0"/>
                <a:ea typeface="Consolas" pitchFamily="34" charset="-122"/>
                <a:cs typeface="Consolas" pitchFamily="34" charset="-120"/>
              </a:rPr>
              <a:t>cancel_requested = True</a:t>
            </a:r>
            <a:pPr indent="0" marL="0">
              <a:lnSpc>
                <a:spcPct val="130000"/>
              </a:lnSpc>
              <a:buNone/>
            </a:pPr>
            <a:r>
              <a:rPr lang="en-US" sz="1100" dirty="0">
                <a:solidFill>
                  <a:srgbClr val="64748B"/>
                </a:solidFill>
                <a:latin typeface="Calibri" pitchFamily="34" charset="0"/>
                <a:ea typeface="Calibri" pitchFamily="34" charset="-122"/>
                <a:cs typeface="Calibri" pitchFamily="34" charset="-120"/>
              </a:rPr>
              <a:t xml:space="preserve">, then retrieves the stored PID and runs </a:t>
            </a:r>
            <a:pPr indent="0" marL="0">
              <a:lnSpc>
                <a:spcPct val="130000"/>
              </a:lnSpc>
              <a:buNone/>
            </a:pPr>
            <a:r>
              <a:rPr lang="en-US" sz="1100" dirty="0">
                <a:solidFill>
                  <a:srgbClr val="0F172A"/>
                </a:solidFill>
                <a:latin typeface="Consolas" pitchFamily="34" charset="0"/>
                <a:ea typeface="Consolas" pitchFamily="34" charset="-122"/>
                <a:cs typeface="Consolas" pitchFamily="34" charset="-120"/>
              </a:rPr>
              <a:t>taskkill /F /T /PID</a:t>
            </a:r>
            <a:pPr indent="0" marL="0">
              <a:lnSpc>
                <a:spcPct val="130000"/>
              </a:lnSpc>
              <a:buNone/>
            </a:pPr>
            <a:r>
              <a:rPr lang="en-US" sz="1100" dirty="0">
                <a:solidFill>
                  <a:srgbClr val="64748B"/>
                </a:solidFill>
                <a:latin typeface="Calibri" pitchFamily="34" charset="0"/>
                <a:ea typeface="Calibri" pitchFamily="34" charset="-122"/>
                <a:cs typeface="Calibri" pitchFamily="34" charset="-120"/>
              </a:rPr>
              <a:t xml:space="preserve"> (Windows) or a process-group kill (Linux) — the script and every child process it spawned are terminated.</a:t>
            </a:r>
            <a:endParaRPr lang="en-US" sz="1100" dirty="0"/>
          </a:p>
        </p:txBody>
      </p:sp>
      <p:sp>
        <p:nvSpPr>
          <p:cNvPr id="35" name="Shape 33"/>
          <p:cNvSpPr/>
          <p:nvPr/>
        </p:nvSpPr>
        <p:spPr>
          <a:xfrm>
            <a:off x="640080" y="5212080"/>
            <a:ext cx="10927080" cy="914400"/>
          </a:xfrm>
          <a:prstGeom prst="rect">
            <a:avLst/>
          </a:prstGeom>
          <a:solidFill>
            <a:srgbClr val="F8FAFC"/>
          </a:solidFill>
          <a:ln w="15875">
            <a:solidFill>
              <a:srgbClr val="CBD5E1"/>
            </a:solidFill>
            <a:prstDash val="dash"/>
          </a:ln>
        </p:spPr>
      </p:sp>
      <p:sp>
        <p:nvSpPr>
          <p:cNvPr id="36" name="Shape 34"/>
          <p:cNvSpPr/>
          <p:nvPr/>
        </p:nvSpPr>
        <p:spPr>
          <a:xfrm>
            <a:off x="5957316" y="5248656"/>
            <a:ext cx="292608" cy="292608"/>
          </a:xfrm>
          <a:prstGeom prst="ellipse">
            <a:avLst/>
          </a:prstGeom>
          <a:solidFill>
            <a:srgbClr val="FFFFFF"/>
          </a:solidFill>
          <a:ln/>
        </p:spPr>
      </p:sp>
      <p:pic>
        <p:nvPicPr>
          <p:cNvPr id="37" name="Image 0" descr="preencoded.png"/>
          <p:cNvPicPr>
            <a:picLocks noChangeAspect="1"/>
          </p:cNvPicPr>
          <p:nvPr/>
        </p:nvPicPr>
        <p:blipFill>
          <a:blip r:embed="rId1"/>
          <a:stretch>
            <a:fillRect/>
          </a:stretch>
        </p:blipFill>
        <p:spPr>
          <a:xfrm>
            <a:off x="6023153" y="5314493"/>
            <a:ext cx="160934" cy="160934"/>
          </a:xfrm>
          <a:prstGeom prst="rect">
            <a:avLst/>
          </a:prstGeom>
        </p:spPr>
      </p:pic>
      <p:sp>
        <p:nvSpPr>
          <p:cNvPr id="38" name="Text 35"/>
          <p:cNvSpPr/>
          <p:nvPr/>
        </p:nvSpPr>
        <p:spPr>
          <a:xfrm>
            <a:off x="822960" y="5669280"/>
            <a:ext cx="10561320" cy="411480"/>
          </a:xfrm>
          <a:prstGeom prst="rect">
            <a:avLst/>
          </a:prstGeom>
          <a:noFill/>
          <a:ln/>
        </p:spPr>
        <p:txBody>
          <a:bodyPr wrap="square" lIns="0" tIns="0" rIns="0" bIns="0" rtlCol="0" anchor="ctr"/>
          <a:lstStyle/>
          <a:p>
            <a:pPr algn="ctr" indent="0" marL="0">
              <a:lnSpc>
                <a:spcPct val="120000"/>
              </a:lnSpc>
              <a:buNone/>
            </a:pPr>
            <a:r>
              <a:rPr lang="en-US" sz="1050" i="1" dirty="0">
                <a:solidFill>
                  <a:srgbClr val="94A3B8"/>
                </a:solidFill>
                <a:latin typeface="Calibri" pitchFamily="34" charset="0"/>
                <a:ea typeface="Calibri" pitchFamily="34" charset="-122"/>
                <a:cs typeface="Calibri" pitchFamily="34" charset="-120"/>
              </a:rPr>
              <a:t>Screenshot — Live execution progress &amp; log viewer</a:t>
            </a:r>
            <a:endParaRPr lang="en-US" sz="1050" dirty="0"/>
          </a:p>
        </p:txBody>
      </p:sp>
      <p:sp>
        <p:nvSpPr>
          <p:cNvPr id="39" name="Text 36"/>
          <p:cNvSpPr/>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11</a:t>
            </a:r>
            <a:endParaRPr lang="en-US" sz="10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37215" y="5120640"/>
            <a:ext cx="3291840" cy="3291840"/>
          </a:xfrm>
          <a:prstGeom prst="ellipse">
            <a:avLst/>
          </a:prstGeom>
          <a:solidFill>
            <a:srgbClr val="EFF6FF">
              <a:alpha val="45000"/>
            </a:srgbClr>
          </a:solidFill>
          <a:ln/>
        </p:spPr>
      </p:sp>
      <p:sp>
        <p:nvSpPr>
          <p:cNvPr id="3" name="Text 1"/>
          <p:cNvSpPr/>
          <p:nvPr/>
        </p:nvSpPr>
        <p:spPr>
          <a:xfrm>
            <a:off x="640080" y="411480"/>
            <a:ext cx="8229600" cy="320040"/>
          </a:xfrm>
          <a:prstGeom prst="rect">
            <a:avLst/>
          </a:prstGeom>
          <a:noFill/>
          <a:ln/>
        </p:spPr>
        <p:txBody>
          <a:bodyPr wrap="square" lIns="0" tIns="0" rIns="0" bIns="0" rtlCol="0" anchor="ctr"/>
          <a:lstStyle/>
          <a:p>
            <a:pPr indent="0" marL="0">
              <a:buNone/>
            </a:pPr>
            <a:r>
              <a:rPr lang="en-US" sz="1250" b="1" spc="200" kern="0" dirty="0">
                <a:solidFill>
                  <a:srgbClr val="2563EB"/>
                </a:solidFill>
                <a:latin typeface="Calibri" pitchFamily="34" charset="0"/>
                <a:ea typeface="Calibri" pitchFamily="34" charset="-122"/>
                <a:cs typeface="Calibri" pitchFamily="34" charset="-120"/>
              </a:rPr>
              <a:t>MODULE 3</a:t>
            </a:r>
            <a:endParaRPr lang="en-US" sz="1250" dirty="0"/>
          </a:p>
        </p:txBody>
      </p:sp>
      <p:sp>
        <p:nvSpPr>
          <p:cNvPr id="4" name="Text 2"/>
          <p:cNvSpPr/>
          <p:nvPr/>
        </p:nvSpPr>
        <p:spPr>
          <a:xfrm>
            <a:off x="640080" y="713232"/>
            <a:ext cx="10515600"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Concurrency, Notifications &amp; Reports</a:t>
            </a:r>
            <a:endParaRPr lang="en-US" sz="2800" dirty="0"/>
          </a:p>
        </p:txBody>
      </p:sp>
      <p:sp>
        <p:nvSpPr>
          <p:cNvPr id="5" name="Shape 3"/>
          <p:cNvSpPr/>
          <p:nvPr/>
        </p:nvSpPr>
        <p:spPr>
          <a:xfrm>
            <a:off x="640080" y="1965960"/>
            <a:ext cx="5212080" cy="3749040"/>
          </a:xfrm>
          <a:prstGeom prst="rect">
            <a:avLst/>
          </a:prstGeom>
          <a:solidFill>
            <a:srgbClr val="F8FAFC"/>
          </a:solidFill>
          <a:ln w="12700">
            <a:solidFill>
              <a:srgbClr val="E2E8F0"/>
            </a:solidFill>
            <a:prstDash val="solid"/>
          </a:ln>
        </p:spPr>
      </p:sp>
      <p:sp>
        <p:nvSpPr>
          <p:cNvPr id="6" name="Text 4"/>
          <p:cNvSpPr/>
          <p:nvPr/>
        </p:nvSpPr>
        <p:spPr>
          <a:xfrm>
            <a:off x="914400" y="2194560"/>
            <a:ext cx="4663440" cy="274320"/>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CONCURRENT EXECUTION MODEL</a:t>
            </a:r>
            <a:endParaRPr lang="en-US" sz="1100" dirty="0"/>
          </a:p>
        </p:txBody>
      </p:sp>
      <p:sp>
        <p:nvSpPr>
          <p:cNvPr id="7" name="Shape 5"/>
          <p:cNvSpPr/>
          <p:nvPr/>
        </p:nvSpPr>
        <p:spPr>
          <a:xfrm>
            <a:off x="914400" y="2606040"/>
            <a:ext cx="3657600" cy="457200"/>
          </a:xfrm>
          <a:prstGeom prst="rect">
            <a:avLst/>
          </a:prstGeom>
          <a:solidFill>
            <a:srgbClr val="FFFFFF"/>
          </a:solidFill>
          <a:ln w="15875">
            <a:solidFill>
              <a:srgbClr val="2563EB"/>
            </a:solidFill>
            <a:prstDash val="solid"/>
          </a:ln>
        </p:spPr>
      </p:sp>
      <p:sp>
        <p:nvSpPr>
          <p:cNvPr id="8" name="Text 6"/>
          <p:cNvSpPr/>
          <p:nvPr/>
        </p:nvSpPr>
        <p:spPr>
          <a:xfrm>
            <a:off x="1097280" y="2606040"/>
            <a:ext cx="329184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User A — ETL 1</a:t>
            </a:r>
            <a:endParaRPr lang="en-US" sz="1150" dirty="0"/>
          </a:p>
        </p:txBody>
      </p:sp>
      <p:sp>
        <p:nvSpPr>
          <p:cNvPr id="9" name="Shape 7"/>
          <p:cNvSpPr/>
          <p:nvPr/>
        </p:nvSpPr>
        <p:spPr>
          <a:xfrm>
            <a:off x="4709160" y="2679192"/>
            <a:ext cx="310896" cy="310896"/>
          </a:xfrm>
          <a:prstGeom prst="ellipse">
            <a:avLst/>
          </a:prstGeom>
          <a:solidFill>
            <a:srgbClr val="FFFFFF"/>
          </a:solidFill>
          <a:ln/>
        </p:spPr>
      </p:sp>
      <p:pic>
        <p:nvPicPr>
          <p:cNvPr id="10" name="Image 0" descr="preencoded.png"/>
          <p:cNvPicPr>
            <a:picLocks noChangeAspect="1"/>
          </p:cNvPicPr>
          <p:nvPr/>
        </p:nvPicPr>
        <p:blipFill>
          <a:blip r:embed="rId1"/>
          <a:stretch>
            <a:fillRect/>
          </a:stretch>
        </p:blipFill>
        <p:spPr>
          <a:xfrm>
            <a:off x="4763567" y="2733599"/>
            <a:ext cx="202082" cy="202082"/>
          </a:xfrm>
          <a:prstGeom prst="rect">
            <a:avLst/>
          </a:prstGeom>
        </p:spPr>
      </p:pic>
      <p:sp>
        <p:nvSpPr>
          <p:cNvPr id="11" name="Shape 8"/>
          <p:cNvSpPr/>
          <p:nvPr/>
        </p:nvSpPr>
        <p:spPr>
          <a:xfrm>
            <a:off x="914400" y="3227832"/>
            <a:ext cx="3657600" cy="457200"/>
          </a:xfrm>
          <a:prstGeom prst="rect">
            <a:avLst/>
          </a:prstGeom>
          <a:solidFill>
            <a:srgbClr val="FFFFFF"/>
          </a:solidFill>
          <a:ln w="15875">
            <a:solidFill>
              <a:srgbClr val="2563EB"/>
            </a:solidFill>
            <a:prstDash val="solid"/>
          </a:ln>
        </p:spPr>
      </p:sp>
      <p:sp>
        <p:nvSpPr>
          <p:cNvPr id="12" name="Text 9"/>
          <p:cNvSpPr/>
          <p:nvPr/>
        </p:nvSpPr>
        <p:spPr>
          <a:xfrm>
            <a:off x="1097280" y="3227832"/>
            <a:ext cx="329184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User B — ETL 1</a:t>
            </a:r>
            <a:endParaRPr lang="en-US" sz="1150" dirty="0"/>
          </a:p>
        </p:txBody>
      </p:sp>
      <p:sp>
        <p:nvSpPr>
          <p:cNvPr id="13" name="Shape 10"/>
          <p:cNvSpPr/>
          <p:nvPr/>
        </p:nvSpPr>
        <p:spPr>
          <a:xfrm>
            <a:off x="4709160" y="3300984"/>
            <a:ext cx="310896" cy="310896"/>
          </a:xfrm>
          <a:prstGeom prst="ellipse">
            <a:avLst/>
          </a:prstGeom>
          <a:solidFill>
            <a:srgbClr val="FFFFFF"/>
          </a:solidFill>
          <a:ln/>
        </p:spPr>
      </p:sp>
      <p:pic>
        <p:nvPicPr>
          <p:cNvPr id="14" name="Image 1" descr="preencoded.png"/>
          <p:cNvPicPr>
            <a:picLocks noChangeAspect="1"/>
          </p:cNvPicPr>
          <p:nvPr/>
        </p:nvPicPr>
        <p:blipFill>
          <a:blip r:embed="rId2"/>
          <a:stretch>
            <a:fillRect/>
          </a:stretch>
        </p:blipFill>
        <p:spPr>
          <a:xfrm>
            <a:off x="4763567" y="3355391"/>
            <a:ext cx="202082" cy="202082"/>
          </a:xfrm>
          <a:prstGeom prst="rect">
            <a:avLst/>
          </a:prstGeom>
        </p:spPr>
      </p:pic>
      <p:sp>
        <p:nvSpPr>
          <p:cNvPr id="15" name="Shape 11"/>
          <p:cNvSpPr/>
          <p:nvPr/>
        </p:nvSpPr>
        <p:spPr>
          <a:xfrm>
            <a:off x="914400" y="3849624"/>
            <a:ext cx="3657600" cy="457200"/>
          </a:xfrm>
          <a:prstGeom prst="rect">
            <a:avLst/>
          </a:prstGeom>
          <a:solidFill>
            <a:srgbClr val="FFFFFF"/>
          </a:solidFill>
          <a:ln w="15875">
            <a:solidFill>
              <a:srgbClr val="D97706"/>
            </a:solidFill>
            <a:prstDash val="solid"/>
          </a:ln>
        </p:spPr>
      </p:sp>
      <p:sp>
        <p:nvSpPr>
          <p:cNvPr id="16" name="Text 12"/>
          <p:cNvSpPr/>
          <p:nvPr/>
        </p:nvSpPr>
        <p:spPr>
          <a:xfrm>
            <a:off x="1097280" y="3849624"/>
            <a:ext cx="329184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User C — ETL 2</a:t>
            </a:r>
            <a:endParaRPr lang="en-US" sz="1150" dirty="0"/>
          </a:p>
        </p:txBody>
      </p:sp>
      <p:sp>
        <p:nvSpPr>
          <p:cNvPr id="17" name="Shape 13"/>
          <p:cNvSpPr/>
          <p:nvPr/>
        </p:nvSpPr>
        <p:spPr>
          <a:xfrm>
            <a:off x="4709160" y="3922776"/>
            <a:ext cx="310896" cy="310896"/>
          </a:xfrm>
          <a:prstGeom prst="ellipse">
            <a:avLst/>
          </a:prstGeom>
          <a:solidFill>
            <a:srgbClr val="FFFFFF"/>
          </a:solidFill>
          <a:ln/>
        </p:spPr>
      </p:sp>
      <p:pic>
        <p:nvPicPr>
          <p:cNvPr id="18" name="Image 2" descr="preencoded.png"/>
          <p:cNvPicPr>
            <a:picLocks noChangeAspect="1"/>
          </p:cNvPicPr>
          <p:nvPr/>
        </p:nvPicPr>
        <p:blipFill>
          <a:blip r:embed="rId3"/>
          <a:stretch>
            <a:fillRect/>
          </a:stretch>
        </p:blipFill>
        <p:spPr>
          <a:xfrm>
            <a:off x="4763567" y="3977183"/>
            <a:ext cx="202082" cy="202082"/>
          </a:xfrm>
          <a:prstGeom prst="rect">
            <a:avLst/>
          </a:prstGeom>
        </p:spPr>
      </p:pic>
      <p:sp>
        <p:nvSpPr>
          <p:cNvPr id="19" name="Text 14"/>
          <p:cNvSpPr/>
          <p:nvPr/>
        </p:nvSpPr>
        <p:spPr>
          <a:xfrm>
            <a:off x="914400" y="4617720"/>
            <a:ext cx="4663440" cy="868680"/>
          </a:xfrm>
          <a:prstGeom prst="rect">
            <a:avLst/>
          </a:prstGeom>
          <a:noFill/>
          <a:ln/>
        </p:spPr>
        <p:txBody>
          <a:bodyPr wrap="square" lIns="0" tIns="0" rIns="0" bIns="0" rtlCol="0" anchor="ctr"/>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Different ETLs run in parallel via a thread pool. The same ETL can run for two different users simultaneously — but never twice for the same user.</a:t>
            </a:r>
            <a:endParaRPr lang="en-US" sz="1100" dirty="0"/>
          </a:p>
        </p:txBody>
      </p:sp>
      <p:sp>
        <p:nvSpPr>
          <p:cNvPr id="20" name="Text 15"/>
          <p:cNvSpPr/>
          <p:nvPr/>
        </p:nvSpPr>
        <p:spPr>
          <a:xfrm>
            <a:off x="914400" y="5349240"/>
            <a:ext cx="4663440" cy="640080"/>
          </a:xfrm>
          <a:prstGeom prst="rect">
            <a:avLst/>
          </a:prstGeom>
          <a:noFill/>
          <a:ln/>
        </p:spPr>
        <p:txBody>
          <a:bodyPr wrap="square" lIns="0" tIns="0" rIns="0" bIns="0" rtlCol="0" anchor="ctr"/>
          <a:lstStyle/>
          <a:p>
            <a:pPr indent="0" marL="0">
              <a:lnSpc>
                <a:spcPct val="125000"/>
              </a:lnSpc>
              <a:buNone/>
            </a:pPr>
            <a:r>
              <a:rPr lang="en-US" sz="1050" i="1" dirty="0">
                <a:solidFill>
                  <a:srgbClr val="94A3B8"/>
                </a:solidFill>
                <a:latin typeface="Calibri" pitchFamily="34" charset="0"/>
                <a:ea typeface="Calibri" pitchFamily="34" charset="-122"/>
                <a:cs typeface="Calibri" pitchFamily="34" charset="-120"/>
              </a:rPr>
              <a:t>File-based lock protects shared venv creation from race conditions when two users launch the same new ETL at once.</a:t>
            </a:r>
            <a:endParaRPr lang="en-US" sz="1050" dirty="0"/>
          </a:p>
        </p:txBody>
      </p:sp>
      <p:sp>
        <p:nvSpPr>
          <p:cNvPr id="21" name="Text 16"/>
          <p:cNvSpPr/>
          <p:nvPr/>
        </p:nvSpPr>
        <p:spPr>
          <a:xfrm>
            <a:off x="6217920" y="2194560"/>
            <a:ext cx="5303520" cy="274320"/>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NOTIFICATION &amp; REPORT FLOW</a:t>
            </a:r>
            <a:endParaRPr lang="en-US" sz="1100" dirty="0"/>
          </a:p>
        </p:txBody>
      </p:sp>
      <p:sp>
        <p:nvSpPr>
          <p:cNvPr id="22" name="Shape 17"/>
          <p:cNvSpPr/>
          <p:nvPr/>
        </p:nvSpPr>
        <p:spPr>
          <a:xfrm>
            <a:off x="6217920" y="2606040"/>
            <a:ext cx="457200" cy="457200"/>
          </a:xfrm>
          <a:prstGeom prst="ellipse">
            <a:avLst/>
          </a:prstGeom>
          <a:solidFill>
            <a:srgbClr val="EFF6FF"/>
          </a:solidFill>
          <a:ln/>
        </p:spPr>
      </p:sp>
      <p:pic>
        <p:nvPicPr>
          <p:cNvPr id="23" name="Image 3" descr="preencoded.png"/>
          <p:cNvPicPr>
            <a:picLocks noChangeAspect="1"/>
          </p:cNvPicPr>
          <p:nvPr/>
        </p:nvPicPr>
        <p:blipFill>
          <a:blip r:embed="rId4"/>
          <a:stretch>
            <a:fillRect/>
          </a:stretch>
        </p:blipFill>
        <p:spPr>
          <a:xfrm>
            <a:off x="6320790" y="2708910"/>
            <a:ext cx="251460" cy="251460"/>
          </a:xfrm>
          <a:prstGeom prst="rect">
            <a:avLst/>
          </a:prstGeom>
        </p:spPr>
      </p:pic>
      <p:sp>
        <p:nvSpPr>
          <p:cNvPr id="24" name="Text 18"/>
          <p:cNvSpPr/>
          <p:nvPr/>
        </p:nvSpPr>
        <p:spPr>
          <a:xfrm>
            <a:off x="6812280" y="2606040"/>
            <a:ext cx="4572000" cy="292608"/>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Execution finishes</a:t>
            </a:r>
            <a:endParaRPr lang="en-US" sz="1250" dirty="0"/>
          </a:p>
        </p:txBody>
      </p:sp>
      <p:sp>
        <p:nvSpPr>
          <p:cNvPr id="25" name="Text 19"/>
          <p:cNvSpPr/>
          <p:nvPr/>
        </p:nvSpPr>
        <p:spPr>
          <a:xfrm>
            <a:off x="6812280" y="2907792"/>
            <a:ext cx="4572000" cy="41148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SUCCESS or FAILED determined</a:t>
            </a:r>
            <a:endParaRPr lang="en-US" sz="1050" dirty="0"/>
          </a:p>
        </p:txBody>
      </p:sp>
      <p:sp>
        <p:nvSpPr>
          <p:cNvPr id="26" name="Shape 20"/>
          <p:cNvSpPr/>
          <p:nvPr/>
        </p:nvSpPr>
        <p:spPr>
          <a:xfrm>
            <a:off x="6217920" y="3474720"/>
            <a:ext cx="457200" cy="457200"/>
          </a:xfrm>
          <a:prstGeom prst="ellipse">
            <a:avLst/>
          </a:prstGeom>
          <a:solidFill>
            <a:srgbClr val="EFF6FF"/>
          </a:solidFill>
          <a:ln/>
        </p:spPr>
      </p:sp>
      <p:pic>
        <p:nvPicPr>
          <p:cNvPr id="27" name="Image 4" descr="preencoded.png"/>
          <p:cNvPicPr>
            <a:picLocks noChangeAspect="1"/>
          </p:cNvPicPr>
          <p:nvPr/>
        </p:nvPicPr>
        <p:blipFill>
          <a:blip r:embed="rId5"/>
          <a:stretch>
            <a:fillRect/>
          </a:stretch>
        </p:blipFill>
        <p:spPr>
          <a:xfrm>
            <a:off x="6320790" y="3577590"/>
            <a:ext cx="251460" cy="251460"/>
          </a:xfrm>
          <a:prstGeom prst="rect">
            <a:avLst/>
          </a:prstGeom>
        </p:spPr>
      </p:pic>
      <p:sp>
        <p:nvSpPr>
          <p:cNvPr id="28" name="Text 21"/>
          <p:cNvSpPr/>
          <p:nvPr/>
        </p:nvSpPr>
        <p:spPr>
          <a:xfrm>
            <a:off x="6812280" y="3474720"/>
            <a:ext cx="4572000" cy="292608"/>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In-app notification</a:t>
            </a:r>
            <a:endParaRPr lang="en-US" sz="1250" dirty="0"/>
          </a:p>
        </p:txBody>
      </p:sp>
      <p:sp>
        <p:nvSpPr>
          <p:cNvPr id="29" name="Text 22"/>
          <p:cNvSpPr/>
          <p:nvPr/>
        </p:nvSpPr>
        <p:spPr>
          <a:xfrm>
            <a:off x="6812280" y="3776472"/>
            <a:ext cx="4572000" cy="41148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Launching user + all admins (audit trail)</a:t>
            </a:r>
            <a:endParaRPr lang="en-US" sz="1050" dirty="0"/>
          </a:p>
        </p:txBody>
      </p:sp>
      <p:sp>
        <p:nvSpPr>
          <p:cNvPr id="30" name="Shape 23"/>
          <p:cNvSpPr/>
          <p:nvPr/>
        </p:nvSpPr>
        <p:spPr>
          <a:xfrm>
            <a:off x="6217920" y="4343400"/>
            <a:ext cx="457200" cy="457200"/>
          </a:xfrm>
          <a:prstGeom prst="ellipse">
            <a:avLst/>
          </a:prstGeom>
          <a:solidFill>
            <a:srgbClr val="EFF6FF"/>
          </a:solidFill>
          <a:ln/>
        </p:spPr>
      </p:sp>
      <p:pic>
        <p:nvPicPr>
          <p:cNvPr id="31" name="Image 5" descr="preencoded.png"/>
          <p:cNvPicPr>
            <a:picLocks noChangeAspect="1"/>
          </p:cNvPicPr>
          <p:nvPr/>
        </p:nvPicPr>
        <p:blipFill>
          <a:blip r:embed="rId6"/>
          <a:stretch>
            <a:fillRect/>
          </a:stretch>
        </p:blipFill>
        <p:spPr>
          <a:xfrm>
            <a:off x="6320790" y="4446270"/>
            <a:ext cx="251460" cy="251460"/>
          </a:xfrm>
          <a:prstGeom prst="rect">
            <a:avLst/>
          </a:prstGeom>
        </p:spPr>
      </p:pic>
      <p:sp>
        <p:nvSpPr>
          <p:cNvPr id="32" name="Text 24"/>
          <p:cNvSpPr/>
          <p:nvPr/>
        </p:nvSpPr>
        <p:spPr>
          <a:xfrm>
            <a:off x="6812280" y="4343400"/>
            <a:ext cx="4572000" cy="292608"/>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Optional email report</a:t>
            </a:r>
            <a:endParaRPr lang="en-US" sz="1250" dirty="0"/>
          </a:p>
        </p:txBody>
      </p:sp>
      <p:sp>
        <p:nvSpPr>
          <p:cNvPr id="33" name="Text 25"/>
          <p:cNvSpPr/>
          <p:nvPr/>
        </p:nvSpPr>
        <p:spPr>
          <a:xfrm>
            <a:off x="6812280" y="4645152"/>
            <a:ext cx="4572000" cy="41148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HTML report with config, overrides, outputs</a:t>
            </a:r>
            <a:endParaRPr lang="en-US" sz="1050" dirty="0"/>
          </a:p>
        </p:txBody>
      </p:sp>
      <p:sp>
        <p:nvSpPr>
          <p:cNvPr id="34" name="Text 26"/>
          <p:cNvSpPr/>
          <p:nvPr/>
        </p:nvSpPr>
        <p:spPr>
          <a:xfrm>
            <a:off x="6217920" y="5349240"/>
            <a:ext cx="5349240" cy="640080"/>
          </a:xfrm>
          <a:prstGeom prst="rect">
            <a:avLst/>
          </a:prstGeom>
          <a:noFill/>
          <a:ln/>
        </p:spPr>
        <p:txBody>
          <a:bodyPr wrap="square" lIns="0" tIns="0" rIns="0" bIns="0" rtlCol="0" anchor="ctr"/>
          <a:lstStyle/>
          <a:p>
            <a:pPr indent="0" marL="0">
              <a:lnSpc>
                <a:spcPct val="125000"/>
              </a:lnSpc>
              <a:buNone/>
            </a:pPr>
            <a:r>
              <a:rPr lang="en-US" sz="1050" i="1" dirty="0">
                <a:solidFill>
                  <a:srgbClr val="94A3B8"/>
                </a:solidFill>
                <a:latin typeface="Calibri" pitchFamily="34" charset="0"/>
                <a:ea typeface="Calibri" pitchFamily="34" charset="-122"/>
                <a:cs typeface="Calibri" pitchFamily="34" charset="-120"/>
              </a:rPr>
              <a:t>Email failures are logged on the execution and visible to admins — but never affect the run's actual outcome.</a:t>
            </a:r>
            <a:endParaRPr lang="en-US" sz="1050" dirty="0"/>
          </a:p>
        </p:txBody>
      </p:sp>
      <p:sp>
        <p:nvSpPr>
          <p:cNvPr id="35" name="Text 27"/>
          <p:cNvSpPr/>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12</a:t>
            </a:r>
            <a:endParaRPr lang="en-US" sz="10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37215" y="5120640"/>
            <a:ext cx="3291840" cy="3291840"/>
          </a:xfrm>
          <a:prstGeom prst="ellipse">
            <a:avLst/>
          </a:prstGeom>
          <a:solidFill>
            <a:srgbClr val="EFF6FF">
              <a:alpha val="45000"/>
            </a:srgbClr>
          </a:solidFill>
          <a:ln/>
        </p:spPr>
      </p:sp>
      <p:sp>
        <p:nvSpPr>
          <p:cNvPr id="3" name="Text 1"/>
          <p:cNvSpPr/>
          <p:nvPr/>
        </p:nvSpPr>
        <p:spPr>
          <a:xfrm>
            <a:off x="640080" y="411480"/>
            <a:ext cx="8229600" cy="320040"/>
          </a:xfrm>
          <a:prstGeom prst="rect">
            <a:avLst/>
          </a:prstGeom>
          <a:noFill/>
          <a:ln/>
        </p:spPr>
        <p:txBody>
          <a:bodyPr wrap="square" lIns="0" tIns="0" rIns="0" bIns="0" rtlCol="0" anchor="ctr"/>
          <a:lstStyle/>
          <a:p>
            <a:pPr indent="0" marL="0">
              <a:buNone/>
            </a:pPr>
            <a:r>
              <a:rPr lang="en-US" sz="1250" b="1" spc="200" kern="0" dirty="0">
                <a:solidFill>
                  <a:srgbClr val="2563EB"/>
                </a:solidFill>
                <a:latin typeface="Calibri" pitchFamily="34" charset="0"/>
                <a:ea typeface="Calibri" pitchFamily="34" charset="-122"/>
                <a:cs typeface="Calibri" pitchFamily="34" charset="-120"/>
              </a:rPr>
              <a:t>MODULE 4</a:t>
            </a:r>
            <a:endParaRPr lang="en-US" sz="1250" dirty="0"/>
          </a:p>
        </p:txBody>
      </p:sp>
      <p:sp>
        <p:nvSpPr>
          <p:cNvPr id="4" name="Text 2"/>
          <p:cNvSpPr/>
          <p:nvPr/>
        </p:nvSpPr>
        <p:spPr>
          <a:xfrm>
            <a:off x="640080" y="713232"/>
            <a:ext cx="10515600"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Scheduling Engine — the background polling loop</a:t>
            </a:r>
            <a:endParaRPr lang="en-US" sz="2800" dirty="0"/>
          </a:p>
        </p:txBody>
      </p:sp>
      <p:sp>
        <p:nvSpPr>
          <p:cNvPr id="5" name="Text 3"/>
          <p:cNvSpPr/>
          <p:nvPr/>
        </p:nvSpPr>
        <p:spPr>
          <a:xfrm>
            <a:off x="640080" y="1417320"/>
            <a:ext cx="105156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A daemon thread, started automatically on server boot, wakes every 60 seconds</a:t>
            </a:r>
            <a:endParaRPr lang="en-US" sz="1300" dirty="0"/>
          </a:p>
        </p:txBody>
      </p:sp>
      <p:sp>
        <p:nvSpPr>
          <p:cNvPr id="6" name="Shape 4"/>
          <p:cNvSpPr/>
          <p:nvPr/>
        </p:nvSpPr>
        <p:spPr>
          <a:xfrm>
            <a:off x="640080" y="1965960"/>
            <a:ext cx="1874520" cy="777240"/>
          </a:xfrm>
          <a:prstGeom prst="rect">
            <a:avLst/>
          </a:prstGeom>
          <a:solidFill>
            <a:srgbClr val="FFFFFF"/>
          </a:solidFill>
          <a:ln w="15875">
            <a:solidFill>
              <a:srgbClr val="E2E8F0"/>
            </a:solidFill>
            <a:prstDash val="solid"/>
          </a:ln>
        </p:spPr>
      </p:sp>
      <p:sp>
        <p:nvSpPr>
          <p:cNvPr id="7" name="Text 5"/>
          <p:cNvSpPr/>
          <p:nvPr/>
        </p:nvSpPr>
        <p:spPr>
          <a:xfrm>
            <a:off x="694944" y="2039112"/>
            <a:ext cx="1764792" cy="404165"/>
          </a:xfrm>
          <a:prstGeom prst="rect">
            <a:avLst/>
          </a:prstGeom>
          <a:noFill/>
          <a:ln/>
        </p:spPr>
        <p:txBody>
          <a:bodyPr wrap="square" lIns="0" tIns="0" rIns="0" bIns="0" rtlCol="0" anchor="t"/>
          <a:lstStyle/>
          <a:p>
            <a:pPr algn="ctr" indent="0" marL="0">
              <a:lnSpc>
                <a:spcPct val="105000"/>
              </a:lnSpc>
              <a:buNone/>
            </a:pPr>
            <a:r>
              <a:rPr lang="en-US" sz="1100" b="1" dirty="0">
                <a:solidFill>
                  <a:srgbClr val="0F172A"/>
                </a:solidFill>
                <a:latin typeface="Calibri" pitchFamily="34" charset="0"/>
                <a:ea typeface="Calibri" pitchFamily="34" charset="-122"/>
                <a:cs typeface="Calibri" pitchFamily="34" charset="-120"/>
              </a:rPr>
              <a:t>Wake</a:t>
            </a:r>
            <a:endParaRPr lang="en-US" sz="1100" dirty="0"/>
          </a:p>
        </p:txBody>
      </p:sp>
      <p:sp>
        <p:nvSpPr>
          <p:cNvPr id="8" name="Text 6"/>
          <p:cNvSpPr/>
          <p:nvPr/>
        </p:nvSpPr>
        <p:spPr>
          <a:xfrm>
            <a:off x="694944" y="2354580"/>
            <a:ext cx="1764792" cy="349758"/>
          </a:xfrm>
          <a:prstGeom prst="rect">
            <a:avLst/>
          </a:prstGeom>
          <a:noFill/>
          <a:ln/>
        </p:spPr>
        <p:txBody>
          <a:bodyPr wrap="square" lIns="0" tIns="0" rIns="0" bIns="0" rtlCol="0" anchor="t"/>
          <a:lstStyle/>
          <a:p>
            <a:pPr algn="ctr" indent="0" marL="0">
              <a:lnSpc>
                <a:spcPct val="105000"/>
              </a:lnSpc>
              <a:buNone/>
            </a:pPr>
            <a:r>
              <a:rPr lang="en-US" sz="780" dirty="0">
                <a:solidFill>
                  <a:srgbClr val="64748B"/>
                </a:solidFill>
                <a:latin typeface="Calibri" pitchFamily="34" charset="0"/>
                <a:ea typeface="Calibri" pitchFamily="34" charset="-122"/>
                <a:cs typeface="Calibri" pitchFamily="34" charset="-120"/>
              </a:rPr>
              <a:t>every 60s</a:t>
            </a:r>
            <a:endParaRPr lang="en-US" sz="780" dirty="0"/>
          </a:p>
        </p:txBody>
      </p:sp>
      <p:sp>
        <p:nvSpPr>
          <p:cNvPr id="9" name="Shape 7"/>
          <p:cNvSpPr/>
          <p:nvPr/>
        </p:nvSpPr>
        <p:spPr>
          <a:xfrm>
            <a:off x="2532888" y="2281428"/>
            <a:ext cx="164592" cy="146304"/>
          </a:xfrm>
          <a:prstGeom prst="rightArrow">
            <a:avLst/>
          </a:prstGeom>
          <a:solidFill>
            <a:srgbClr val="94A3B8"/>
          </a:solidFill>
          <a:ln/>
        </p:spPr>
      </p:sp>
      <p:sp>
        <p:nvSpPr>
          <p:cNvPr id="10" name="Shape 8"/>
          <p:cNvSpPr/>
          <p:nvPr/>
        </p:nvSpPr>
        <p:spPr>
          <a:xfrm>
            <a:off x="2715768" y="1965960"/>
            <a:ext cx="1874520" cy="777240"/>
          </a:xfrm>
          <a:prstGeom prst="rect">
            <a:avLst/>
          </a:prstGeom>
          <a:solidFill>
            <a:srgbClr val="FFFFFF"/>
          </a:solidFill>
          <a:ln w="15875">
            <a:solidFill>
              <a:srgbClr val="E2E8F0"/>
            </a:solidFill>
            <a:prstDash val="solid"/>
          </a:ln>
        </p:spPr>
      </p:sp>
      <p:sp>
        <p:nvSpPr>
          <p:cNvPr id="11" name="Text 9"/>
          <p:cNvSpPr/>
          <p:nvPr/>
        </p:nvSpPr>
        <p:spPr>
          <a:xfrm>
            <a:off x="2770632" y="2039112"/>
            <a:ext cx="1764792" cy="404165"/>
          </a:xfrm>
          <a:prstGeom prst="rect">
            <a:avLst/>
          </a:prstGeom>
          <a:noFill/>
          <a:ln/>
        </p:spPr>
        <p:txBody>
          <a:bodyPr wrap="square" lIns="0" tIns="0" rIns="0" bIns="0" rtlCol="0" anchor="t"/>
          <a:lstStyle/>
          <a:p>
            <a:pPr algn="ctr" indent="0" marL="0">
              <a:lnSpc>
                <a:spcPct val="105000"/>
              </a:lnSpc>
              <a:buNone/>
            </a:pPr>
            <a:r>
              <a:rPr lang="en-US" sz="1100" b="1" dirty="0">
                <a:solidFill>
                  <a:srgbClr val="0F172A"/>
                </a:solidFill>
                <a:latin typeface="Calibri" pitchFamily="34" charset="0"/>
                <a:ea typeface="Calibri" pitchFamily="34" charset="-122"/>
                <a:cs typeface="Calibri" pitchFamily="34" charset="-120"/>
              </a:rPr>
              <a:t>Evaluate</a:t>
            </a:r>
            <a:endParaRPr lang="en-US" sz="1100" dirty="0"/>
          </a:p>
        </p:txBody>
      </p:sp>
      <p:sp>
        <p:nvSpPr>
          <p:cNvPr id="12" name="Text 10"/>
          <p:cNvSpPr/>
          <p:nvPr/>
        </p:nvSpPr>
        <p:spPr>
          <a:xfrm>
            <a:off x="2770632" y="2354580"/>
            <a:ext cx="1764792" cy="349758"/>
          </a:xfrm>
          <a:prstGeom prst="rect">
            <a:avLst/>
          </a:prstGeom>
          <a:noFill/>
          <a:ln/>
        </p:spPr>
        <p:txBody>
          <a:bodyPr wrap="square" lIns="0" tIns="0" rIns="0" bIns="0" rtlCol="0" anchor="t"/>
          <a:lstStyle/>
          <a:p>
            <a:pPr algn="ctr" indent="0" marL="0">
              <a:lnSpc>
                <a:spcPct val="105000"/>
              </a:lnSpc>
              <a:buNone/>
            </a:pPr>
            <a:r>
              <a:rPr lang="en-US" sz="780" dirty="0">
                <a:solidFill>
                  <a:srgbClr val="64748B"/>
                </a:solidFill>
                <a:latin typeface="Calibri" pitchFamily="34" charset="0"/>
                <a:ea typeface="Calibri" pitchFamily="34" charset="-122"/>
                <a:cs typeface="Calibri" pitchFamily="34" charset="-120"/>
              </a:rPr>
              <a:t>active schedules</a:t>
            </a:r>
            <a:endParaRPr lang="en-US" sz="780" dirty="0"/>
          </a:p>
        </p:txBody>
      </p:sp>
      <p:sp>
        <p:nvSpPr>
          <p:cNvPr id="13" name="Shape 11"/>
          <p:cNvSpPr/>
          <p:nvPr/>
        </p:nvSpPr>
        <p:spPr>
          <a:xfrm>
            <a:off x="4608576" y="2281428"/>
            <a:ext cx="164592" cy="146304"/>
          </a:xfrm>
          <a:prstGeom prst="rightArrow">
            <a:avLst/>
          </a:prstGeom>
          <a:solidFill>
            <a:srgbClr val="94A3B8"/>
          </a:solidFill>
          <a:ln/>
        </p:spPr>
      </p:sp>
      <p:sp>
        <p:nvSpPr>
          <p:cNvPr id="14" name="Shape 12"/>
          <p:cNvSpPr/>
          <p:nvPr/>
        </p:nvSpPr>
        <p:spPr>
          <a:xfrm>
            <a:off x="4791456" y="1965960"/>
            <a:ext cx="1874520" cy="777240"/>
          </a:xfrm>
          <a:prstGeom prst="rect">
            <a:avLst/>
          </a:prstGeom>
          <a:solidFill>
            <a:srgbClr val="FFFBEB"/>
          </a:solidFill>
          <a:ln w="15875">
            <a:solidFill>
              <a:srgbClr val="D97706"/>
            </a:solidFill>
            <a:prstDash val="solid"/>
          </a:ln>
        </p:spPr>
      </p:sp>
      <p:sp>
        <p:nvSpPr>
          <p:cNvPr id="15" name="Text 13"/>
          <p:cNvSpPr/>
          <p:nvPr/>
        </p:nvSpPr>
        <p:spPr>
          <a:xfrm>
            <a:off x="4846320" y="2039112"/>
            <a:ext cx="1764792" cy="404165"/>
          </a:xfrm>
          <a:prstGeom prst="rect">
            <a:avLst/>
          </a:prstGeom>
          <a:noFill/>
          <a:ln/>
        </p:spPr>
        <p:txBody>
          <a:bodyPr wrap="square" lIns="0" tIns="0" rIns="0" bIns="0" rtlCol="0" anchor="t"/>
          <a:lstStyle/>
          <a:p>
            <a:pPr algn="ctr" indent="0" marL="0">
              <a:lnSpc>
                <a:spcPct val="105000"/>
              </a:lnSpc>
              <a:buNone/>
            </a:pPr>
            <a:r>
              <a:rPr lang="en-US" sz="1100" b="1" dirty="0">
                <a:solidFill>
                  <a:srgbClr val="0F172A"/>
                </a:solidFill>
                <a:latin typeface="Calibri" pitchFamily="34" charset="0"/>
                <a:ea typeface="Calibri" pitchFamily="34" charset="-122"/>
                <a:cs typeface="Calibri" pitchFamily="34" charset="-120"/>
              </a:rPr>
              <a:t>Due &amp;</a:t>
            </a:r>
            <a:endParaRPr lang="en-US" sz="1100" dirty="0"/>
          </a:p>
        </p:txBody>
      </p:sp>
      <p:sp>
        <p:nvSpPr>
          <p:cNvPr id="16" name="Text 14"/>
          <p:cNvSpPr/>
          <p:nvPr/>
        </p:nvSpPr>
        <p:spPr>
          <a:xfrm>
            <a:off x="4846320" y="2354580"/>
            <a:ext cx="1764792" cy="349758"/>
          </a:xfrm>
          <a:prstGeom prst="rect">
            <a:avLst/>
          </a:prstGeom>
          <a:noFill/>
          <a:ln/>
        </p:spPr>
        <p:txBody>
          <a:bodyPr wrap="square" lIns="0" tIns="0" rIns="0" bIns="0" rtlCol="0" anchor="t"/>
          <a:lstStyle/>
          <a:p>
            <a:pPr algn="ctr" indent="0" marL="0">
              <a:lnSpc>
                <a:spcPct val="105000"/>
              </a:lnSpc>
              <a:buNone/>
            </a:pPr>
            <a:r>
              <a:rPr lang="en-US" sz="780" dirty="0">
                <a:solidFill>
                  <a:srgbClr val="64748B"/>
                </a:solidFill>
                <a:latin typeface="Calibri" pitchFamily="34" charset="0"/>
                <a:ea typeface="Calibri" pitchFamily="34" charset="-122"/>
                <a:cs typeface="Calibri" pitchFamily="34" charset="-120"/>
              </a:rPr>
              <a:t>not yet fired?</a:t>
            </a:r>
            <a:endParaRPr lang="en-US" sz="780" dirty="0"/>
          </a:p>
        </p:txBody>
      </p:sp>
      <p:sp>
        <p:nvSpPr>
          <p:cNvPr id="17" name="Shape 15"/>
          <p:cNvSpPr/>
          <p:nvPr/>
        </p:nvSpPr>
        <p:spPr>
          <a:xfrm>
            <a:off x="6684264" y="2281428"/>
            <a:ext cx="164592" cy="146304"/>
          </a:xfrm>
          <a:prstGeom prst="rightArrow">
            <a:avLst/>
          </a:prstGeom>
          <a:solidFill>
            <a:srgbClr val="94A3B8"/>
          </a:solidFill>
          <a:ln/>
        </p:spPr>
      </p:sp>
      <p:sp>
        <p:nvSpPr>
          <p:cNvPr id="18" name="Shape 16"/>
          <p:cNvSpPr/>
          <p:nvPr/>
        </p:nvSpPr>
        <p:spPr>
          <a:xfrm>
            <a:off x="6867144" y="1965960"/>
            <a:ext cx="1874520" cy="777240"/>
          </a:xfrm>
          <a:prstGeom prst="rect">
            <a:avLst/>
          </a:prstGeom>
          <a:solidFill>
            <a:srgbClr val="EFF6FF"/>
          </a:solidFill>
          <a:ln w="15875">
            <a:solidFill>
              <a:srgbClr val="93C5FD"/>
            </a:solidFill>
            <a:prstDash val="solid"/>
          </a:ln>
        </p:spPr>
      </p:sp>
      <p:sp>
        <p:nvSpPr>
          <p:cNvPr id="19" name="Text 17"/>
          <p:cNvSpPr/>
          <p:nvPr/>
        </p:nvSpPr>
        <p:spPr>
          <a:xfrm>
            <a:off x="6922008" y="2039112"/>
            <a:ext cx="1764792" cy="404165"/>
          </a:xfrm>
          <a:prstGeom prst="rect">
            <a:avLst/>
          </a:prstGeom>
          <a:noFill/>
          <a:ln/>
        </p:spPr>
        <p:txBody>
          <a:bodyPr wrap="square" lIns="0" tIns="0" rIns="0" bIns="0" rtlCol="0" anchor="t"/>
          <a:lstStyle/>
          <a:p>
            <a:pPr algn="ctr" indent="0" marL="0">
              <a:lnSpc>
                <a:spcPct val="105000"/>
              </a:lnSpc>
              <a:buNone/>
            </a:pPr>
            <a:r>
              <a:rPr lang="en-US" sz="1050" b="1" dirty="0">
                <a:solidFill>
                  <a:srgbClr val="0F172A"/>
                </a:solidFill>
                <a:latin typeface="Calibri" pitchFamily="34" charset="0"/>
                <a:ea typeface="Calibri" pitchFamily="34" charset="-122"/>
                <a:cs typeface="Calibri" pitchFamily="34" charset="-120"/>
              </a:rPr>
              <a:t>Create PENDING</a:t>
            </a:r>
            <a:endParaRPr lang="en-US" sz="1050" dirty="0"/>
          </a:p>
        </p:txBody>
      </p:sp>
      <p:sp>
        <p:nvSpPr>
          <p:cNvPr id="20" name="Text 18"/>
          <p:cNvSpPr/>
          <p:nvPr/>
        </p:nvSpPr>
        <p:spPr>
          <a:xfrm>
            <a:off x="6922008" y="2354580"/>
            <a:ext cx="1764792" cy="349758"/>
          </a:xfrm>
          <a:prstGeom prst="rect">
            <a:avLst/>
          </a:prstGeom>
          <a:noFill/>
          <a:ln/>
        </p:spPr>
        <p:txBody>
          <a:bodyPr wrap="square" lIns="0" tIns="0" rIns="0" bIns="0" rtlCol="0" anchor="t"/>
          <a:lstStyle/>
          <a:p>
            <a:pPr algn="ctr" indent="0" marL="0">
              <a:lnSpc>
                <a:spcPct val="105000"/>
              </a:lnSpc>
              <a:buNone/>
            </a:pPr>
            <a:r>
              <a:rPr lang="en-US" sz="780" dirty="0">
                <a:solidFill>
                  <a:srgbClr val="64748B"/>
                </a:solidFill>
                <a:latin typeface="Calibri" pitchFamily="34" charset="0"/>
                <a:ea typeface="Calibri" pitchFamily="34" charset="-122"/>
                <a:cs typeface="Calibri" pitchFamily="34" charset="-120"/>
              </a:rPr>
              <a:t>execution</a:t>
            </a:r>
            <a:endParaRPr lang="en-US" sz="780" dirty="0"/>
          </a:p>
        </p:txBody>
      </p:sp>
      <p:sp>
        <p:nvSpPr>
          <p:cNvPr id="21" name="Shape 19"/>
          <p:cNvSpPr/>
          <p:nvPr/>
        </p:nvSpPr>
        <p:spPr>
          <a:xfrm>
            <a:off x="8759952" y="2281428"/>
            <a:ext cx="164592" cy="146304"/>
          </a:xfrm>
          <a:prstGeom prst="rightArrow">
            <a:avLst/>
          </a:prstGeom>
          <a:solidFill>
            <a:srgbClr val="94A3B8"/>
          </a:solidFill>
          <a:ln/>
        </p:spPr>
      </p:sp>
      <p:sp>
        <p:nvSpPr>
          <p:cNvPr id="22" name="Shape 20"/>
          <p:cNvSpPr/>
          <p:nvPr/>
        </p:nvSpPr>
        <p:spPr>
          <a:xfrm>
            <a:off x="8942832" y="1965960"/>
            <a:ext cx="1874520" cy="777240"/>
          </a:xfrm>
          <a:prstGeom prst="rect">
            <a:avLst/>
          </a:prstGeom>
          <a:solidFill>
            <a:srgbClr val="F0FDF4"/>
          </a:solidFill>
          <a:ln w="15875">
            <a:solidFill>
              <a:srgbClr val="16A34A"/>
            </a:solidFill>
            <a:prstDash val="solid"/>
          </a:ln>
        </p:spPr>
      </p:sp>
      <p:sp>
        <p:nvSpPr>
          <p:cNvPr id="23" name="Text 21"/>
          <p:cNvSpPr/>
          <p:nvPr/>
        </p:nvSpPr>
        <p:spPr>
          <a:xfrm>
            <a:off x="8997696" y="2039112"/>
            <a:ext cx="1764792" cy="404165"/>
          </a:xfrm>
          <a:prstGeom prst="rect">
            <a:avLst/>
          </a:prstGeom>
          <a:noFill/>
          <a:ln/>
        </p:spPr>
        <p:txBody>
          <a:bodyPr wrap="square" lIns="0" tIns="0" rIns="0" bIns="0" rtlCol="0" anchor="t"/>
          <a:lstStyle/>
          <a:p>
            <a:pPr algn="ctr" indent="0" marL="0">
              <a:lnSpc>
                <a:spcPct val="105000"/>
              </a:lnSpc>
              <a:buNone/>
            </a:pPr>
            <a:r>
              <a:rPr lang="en-US" sz="1100" b="1" dirty="0">
                <a:solidFill>
                  <a:srgbClr val="0F172A"/>
                </a:solidFill>
                <a:latin typeface="Calibri" pitchFamily="34" charset="0"/>
                <a:ea typeface="Calibri" pitchFamily="34" charset="-122"/>
                <a:cs typeface="Calibri" pitchFamily="34" charset="-120"/>
              </a:rPr>
              <a:t>Notify</a:t>
            </a:r>
            <a:endParaRPr lang="en-US" sz="1100" dirty="0"/>
          </a:p>
        </p:txBody>
      </p:sp>
      <p:sp>
        <p:nvSpPr>
          <p:cNvPr id="24" name="Text 22"/>
          <p:cNvSpPr/>
          <p:nvPr/>
        </p:nvSpPr>
        <p:spPr>
          <a:xfrm>
            <a:off x="8997696" y="2354580"/>
            <a:ext cx="1764792" cy="349758"/>
          </a:xfrm>
          <a:prstGeom prst="rect">
            <a:avLst/>
          </a:prstGeom>
          <a:noFill/>
          <a:ln/>
        </p:spPr>
        <p:txBody>
          <a:bodyPr wrap="square" lIns="0" tIns="0" rIns="0" bIns="0" rtlCol="0" anchor="t"/>
          <a:lstStyle/>
          <a:p>
            <a:pPr algn="ctr" indent="0" marL="0">
              <a:lnSpc>
                <a:spcPct val="105000"/>
              </a:lnSpc>
              <a:buNone/>
            </a:pPr>
            <a:r>
              <a:rPr lang="en-US" sz="780" dirty="0">
                <a:solidFill>
                  <a:srgbClr val="64748B"/>
                </a:solidFill>
                <a:latin typeface="Calibri" pitchFamily="34" charset="0"/>
                <a:ea typeface="Calibri" pitchFamily="34" charset="-122"/>
                <a:cs typeface="Calibri" pitchFamily="34" charset="-120"/>
              </a:rPr>
              <a:t>recipients</a:t>
            </a:r>
            <a:endParaRPr lang="en-US" sz="780" dirty="0"/>
          </a:p>
        </p:txBody>
      </p:sp>
      <p:sp>
        <p:nvSpPr>
          <p:cNvPr id="25" name="Shape 23"/>
          <p:cNvSpPr/>
          <p:nvPr/>
        </p:nvSpPr>
        <p:spPr>
          <a:xfrm>
            <a:off x="640080" y="3017520"/>
            <a:ext cx="3429000" cy="1417320"/>
          </a:xfrm>
          <a:prstGeom prst="rect">
            <a:avLst/>
          </a:prstGeom>
          <a:solidFill>
            <a:srgbClr val="FFFFFF"/>
          </a:solidFill>
          <a:ln w="12700">
            <a:solidFill>
              <a:srgbClr val="E2E8F0"/>
            </a:solidFill>
            <a:prstDash val="solid"/>
          </a:ln>
          <a:effectLst>
            <a:outerShdw sx="100000" sy="100000" kx="0" ky="0" algn="bl" rotWithShape="0" blurRad="114300" dist="38100" dir="8100000">
              <a:srgbClr val="0F172A">
                <a:alpha val="12000"/>
              </a:srgbClr>
            </a:outerShdw>
          </a:effectLst>
        </p:spPr>
      </p:sp>
      <p:sp>
        <p:nvSpPr>
          <p:cNvPr id="26" name="Shape 24"/>
          <p:cNvSpPr/>
          <p:nvPr/>
        </p:nvSpPr>
        <p:spPr>
          <a:xfrm>
            <a:off x="822960" y="3200400"/>
            <a:ext cx="411480" cy="411480"/>
          </a:xfrm>
          <a:prstGeom prst="ellipse">
            <a:avLst/>
          </a:prstGeom>
          <a:solidFill>
            <a:srgbClr val="EFF6FF"/>
          </a:solidFill>
          <a:ln/>
        </p:spPr>
      </p:sp>
      <p:pic>
        <p:nvPicPr>
          <p:cNvPr id="27" name="Image 0" descr="preencoded.png"/>
          <p:cNvPicPr>
            <a:picLocks noChangeAspect="1"/>
          </p:cNvPicPr>
          <p:nvPr/>
        </p:nvPicPr>
        <p:blipFill>
          <a:blip r:embed="rId1"/>
          <a:stretch>
            <a:fillRect/>
          </a:stretch>
        </p:blipFill>
        <p:spPr>
          <a:xfrm>
            <a:off x="915543" y="3292983"/>
            <a:ext cx="226314" cy="226314"/>
          </a:xfrm>
          <a:prstGeom prst="rect">
            <a:avLst/>
          </a:prstGeom>
        </p:spPr>
      </p:pic>
      <p:sp>
        <p:nvSpPr>
          <p:cNvPr id="28" name="Text 25"/>
          <p:cNvSpPr/>
          <p:nvPr/>
        </p:nvSpPr>
        <p:spPr>
          <a:xfrm>
            <a:off x="1353312" y="3200400"/>
            <a:ext cx="2514600" cy="411480"/>
          </a:xfrm>
          <a:prstGeom prst="rect">
            <a:avLst/>
          </a:prstGeom>
          <a:noFill/>
          <a:ln/>
        </p:spPr>
        <p:txBody>
          <a:bodyPr wrap="square" lIns="0" tIns="0" rIns="0" bIns="0" rtlCol="0" anchor="ctr"/>
          <a:lstStyle/>
          <a:p>
            <a:pPr indent="0" marL="0">
              <a:lnSpc>
                <a:spcPct val="110000"/>
              </a:lnSpc>
              <a:buNone/>
            </a:pPr>
            <a:r>
              <a:rPr lang="en-US" sz="1150" b="1" dirty="0">
                <a:solidFill>
                  <a:srgbClr val="0F172A"/>
                </a:solidFill>
                <a:latin typeface="Calibri" pitchFamily="34" charset="0"/>
                <a:ea typeface="Calibri" pitchFamily="34" charset="-122"/>
                <a:cs typeface="Calibri" pitchFamily="34" charset="-120"/>
              </a:rPr>
              <a:t>Atomic, race-safe</a:t>
            </a:r>
            <a:endParaRPr lang="en-US" sz="1150" dirty="0"/>
          </a:p>
        </p:txBody>
      </p:sp>
      <p:sp>
        <p:nvSpPr>
          <p:cNvPr id="29" name="Text 26"/>
          <p:cNvSpPr/>
          <p:nvPr/>
        </p:nvSpPr>
        <p:spPr>
          <a:xfrm>
            <a:off x="822960" y="3703320"/>
            <a:ext cx="3063240" cy="685800"/>
          </a:xfrm>
          <a:prstGeom prst="rect">
            <a:avLst/>
          </a:prstGeom>
          <a:noFill/>
          <a:ln/>
        </p:spPr>
        <p:txBody>
          <a:bodyPr wrap="square" lIns="0" tIns="0" rIns="0" bIns="0" rtlCol="0" anchor="ctr"/>
          <a:lstStyle/>
          <a:p>
            <a:pPr indent="0" marL="0">
              <a:lnSpc>
                <a:spcPct val="120000"/>
              </a:lnSpc>
              <a:buNone/>
            </a:pPr>
            <a:r>
              <a:rPr lang="en-US" sz="950" dirty="0">
                <a:solidFill>
                  <a:srgbClr val="64748B"/>
                </a:solidFill>
                <a:latin typeface="Calibri" pitchFamily="34" charset="0"/>
                <a:ea typeface="Calibri" pitchFamily="34" charset="-122"/>
                <a:cs typeface="Calibri" pitchFamily="34" charset="-120"/>
              </a:rPr>
              <a:t>A single SQL UPDATE on last_triggered_at — never fires the same schedule twice in one minute, even under concurrent ticks</a:t>
            </a:r>
            <a:endParaRPr lang="en-US" sz="950" dirty="0"/>
          </a:p>
        </p:txBody>
      </p:sp>
      <p:sp>
        <p:nvSpPr>
          <p:cNvPr id="30" name="Shape 27"/>
          <p:cNvSpPr/>
          <p:nvPr/>
        </p:nvSpPr>
        <p:spPr>
          <a:xfrm>
            <a:off x="4343400" y="3017520"/>
            <a:ext cx="3429000" cy="1417320"/>
          </a:xfrm>
          <a:prstGeom prst="rect">
            <a:avLst/>
          </a:prstGeom>
          <a:solidFill>
            <a:srgbClr val="FFFFFF"/>
          </a:solidFill>
          <a:ln w="12700">
            <a:solidFill>
              <a:srgbClr val="E2E8F0"/>
            </a:solidFill>
            <a:prstDash val="solid"/>
          </a:ln>
          <a:effectLst>
            <a:outerShdw sx="100000" sy="100000" kx="0" ky="0" algn="bl" rotWithShape="0" blurRad="114300" dist="38100" dir="8100000">
              <a:srgbClr val="0F172A">
                <a:alpha val="12000"/>
              </a:srgbClr>
            </a:outerShdw>
          </a:effectLst>
        </p:spPr>
      </p:sp>
      <p:sp>
        <p:nvSpPr>
          <p:cNvPr id="31" name="Shape 28"/>
          <p:cNvSpPr/>
          <p:nvPr/>
        </p:nvSpPr>
        <p:spPr>
          <a:xfrm>
            <a:off x="4526280" y="3200400"/>
            <a:ext cx="411480" cy="411480"/>
          </a:xfrm>
          <a:prstGeom prst="ellipse">
            <a:avLst/>
          </a:prstGeom>
          <a:solidFill>
            <a:srgbClr val="EFF6FF"/>
          </a:solidFill>
          <a:ln/>
        </p:spPr>
      </p:sp>
      <p:pic>
        <p:nvPicPr>
          <p:cNvPr id="32" name="Image 1" descr="preencoded.png"/>
          <p:cNvPicPr>
            <a:picLocks noChangeAspect="1"/>
          </p:cNvPicPr>
          <p:nvPr/>
        </p:nvPicPr>
        <p:blipFill>
          <a:blip r:embed="rId2"/>
          <a:stretch>
            <a:fillRect/>
          </a:stretch>
        </p:blipFill>
        <p:spPr>
          <a:xfrm>
            <a:off x="4618863" y="3292983"/>
            <a:ext cx="226314" cy="226314"/>
          </a:xfrm>
          <a:prstGeom prst="rect">
            <a:avLst/>
          </a:prstGeom>
        </p:spPr>
      </p:pic>
      <p:sp>
        <p:nvSpPr>
          <p:cNvPr id="33" name="Text 29"/>
          <p:cNvSpPr/>
          <p:nvPr/>
        </p:nvSpPr>
        <p:spPr>
          <a:xfrm>
            <a:off x="5056632" y="3200400"/>
            <a:ext cx="2514600" cy="411480"/>
          </a:xfrm>
          <a:prstGeom prst="rect">
            <a:avLst/>
          </a:prstGeom>
          <a:noFill/>
          <a:ln/>
        </p:spPr>
        <p:txBody>
          <a:bodyPr wrap="square" lIns="0" tIns="0" rIns="0" bIns="0" rtlCol="0" anchor="ctr"/>
          <a:lstStyle/>
          <a:p>
            <a:pPr indent="0" marL="0">
              <a:lnSpc>
                <a:spcPct val="110000"/>
              </a:lnSpc>
              <a:buNone/>
            </a:pPr>
            <a:r>
              <a:rPr lang="en-US" sz="1150" b="1" dirty="0">
                <a:solidFill>
                  <a:srgbClr val="0F172A"/>
                </a:solidFill>
                <a:latin typeface="Calibri" pitchFamily="34" charset="0"/>
                <a:ea typeface="Calibri" pitchFamily="34" charset="-122"/>
                <a:cs typeface="Calibri" pitchFamily="34" charset="-120"/>
              </a:rPr>
              <a:t>Day clamping</a:t>
            </a:r>
            <a:endParaRPr lang="en-US" sz="1150" dirty="0"/>
          </a:p>
        </p:txBody>
      </p:sp>
      <p:sp>
        <p:nvSpPr>
          <p:cNvPr id="34" name="Text 30"/>
          <p:cNvSpPr/>
          <p:nvPr/>
        </p:nvSpPr>
        <p:spPr>
          <a:xfrm>
            <a:off x="4526280" y="3703320"/>
            <a:ext cx="3063240" cy="685800"/>
          </a:xfrm>
          <a:prstGeom prst="rect">
            <a:avLst/>
          </a:prstGeom>
          <a:noFill/>
          <a:ln/>
        </p:spPr>
        <p:txBody>
          <a:bodyPr wrap="square" lIns="0" tIns="0" rIns="0" bIns="0" rtlCol="0" anchor="ctr"/>
          <a:lstStyle/>
          <a:p>
            <a:pPr indent="0" marL="0">
              <a:lnSpc>
                <a:spcPct val="120000"/>
              </a:lnSpc>
              <a:buNone/>
            </a:pPr>
            <a:r>
              <a:rPr lang="en-US" sz="950" dirty="0">
                <a:solidFill>
                  <a:srgbClr val="64748B"/>
                </a:solidFill>
                <a:latin typeface="Calibri" pitchFamily="34" charset="0"/>
                <a:ea typeface="Calibri" pitchFamily="34" charset="-122"/>
                <a:cs typeface="Calibri" pitchFamily="34" charset="-120"/>
              </a:rPr>
              <a:t>A schedule set for day 31 fires on day 28 in February — computed automatically, no special configuration</a:t>
            </a:r>
            <a:endParaRPr lang="en-US" sz="950" dirty="0"/>
          </a:p>
        </p:txBody>
      </p:sp>
      <p:sp>
        <p:nvSpPr>
          <p:cNvPr id="35" name="Shape 31"/>
          <p:cNvSpPr/>
          <p:nvPr/>
        </p:nvSpPr>
        <p:spPr>
          <a:xfrm>
            <a:off x="8046720" y="3017520"/>
            <a:ext cx="3429000" cy="1417320"/>
          </a:xfrm>
          <a:prstGeom prst="rect">
            <a:avLst/>
          </a:prstGeom>
          <a:solidFill>
            <a:srgbClr val="FFFFFF"/>
          </a:solidFill>
          <a:ln w="12700">
            <a:solidFill>
              <a:srgbClr val="E2E8F0"/>
            </a:solidFill>
            <a:prstDash val="solid"/>
          </a:ln>
          <a:effectLst>
            <a:outerShdw sx="100000" sy="100000" kx="0" ky="0" algn="bl" rotWithShape="0" blurRad="114300" dist="38100" dir="8100000">
              <a:srgbClr val="0F172A">
                <a:alpha val="12000"/>
              </a:srgbClr>
            </a:outerShdw>
          </a:effectLst>
        </p:spPr>
      </p:sp>
      <p:sp>
        <p:nvSpPr>
          <p:cNvPr id="36" name="Shape 32"/>
          <p:cNvSpPr/>
          <p:nvPr/>
        </p:nvSpPr>
        <p:spPr>
          <a:xfrm>
            <a:off x="8229600" y="3200400"/>
            <a:ext cx="411480" cy="411480"/>
          </a:xfrm>
          <a:prstGeom prst="ellipse">
            <a:avLst/>
          </a:prstGeom>
          <a:solidFill>
            <a:srgbClr val="EFF6FF"/>
          </a:solidFill>
          <a:ln/>
        </p:spPr>
      </p:sp>
      <p:pic>
        <p:nvPicPr>
          <p:cNvPr id="37" name="Image 2" descr="preencoded.png"/>
          <p:cNvPicPr>
            <a:picLocks noChangeAspect="1"/>
          </p:cNvPicPr>
          <p:nvPr/>
        </p:nvPicPr>
        <p:blipFill>
          <a:blip r:embed="rId3"/>
          <a:stretch>
            <a:fillRect/>
          </a:stretch>
        </p:blipFill>
        <p:spPr>
          <a:xfrm>
            <a:off x="8322183" y="3292983"/>
            <a:ext cx="226314" cy="226314"/>
          </a:xfrm>
          <a:prstGeom prst="rect">
            <a:avLst/>
          </a:prstGeom>
        </p:spPr>
      </p:pic>
      <p:sp>
        <p:nvSpPr>
          <p:cNvPr id="38" name="Text 33"/>
          <p:cNvSpPr/>
          <p:nvPr/>
        </p:nvSpPr>
        <p:spPr>
          <a:xfrm>
            <a:off x="8759952" y="3200400"/>
            <a:ext cx="2514600" cy="411480"/>
          </a:xfrm>
          <a:prstGeom prst="rect">
            <a:avLst/>
          </a:prstGeom>
          <a:noFill/>
          <a:ln/>
        </p:spPr>
        <p:txBody>
          <a:bodyPr wrap="square" lIns="0" tIns="0" rIns="0" bIns="0" rtlCol="0" anchor="ctr"/>
          <a:lstStyle/>
          <a:p>
            <a:pPr indent="0" marL="0">
              <a:lnSpc>
                <a:spcPct val="110000"/>
              </a:lnSpc>
              <a:buNone/>
            </a:pPr>
            <a:r>
              <a:rPr lang="en-US" sz="1150" b="1" dirty="0">
                <a:solidFill>
                  <a:srgbClr val="0F172A"/>
                </a:solidFill>
                <a:latin typeface="Calibri" pitchFamily="34" charset="0"/>
                <a:ea typeface="Calibri" pitchFamily="34" charset="-122"/>
                <a:cs typeface="Calibri" pitchFamily="34" charset="-120"/>
              </a:rPr>
              <a:t>Human confirmation, always</a:t>
            </a:r>
            <a:endParaRPr lang="en-US" sz="1150" dirty="0"/>
          </a:p>
        </p:txBody>
      </p:sp>
      <p:sp>
        <p:nvSpPr>
          <p:cNvPr id="39" name="Text 34"/>
          <p:cNvSpPr/>
          <p:nvPr/>
        </p:nvSpPr>
        <p:spPr>
          <a:xfrm>
            <a:off x="8229600" y="3703320"/>
            <a:ext cx="3063240" cy="685800"/>
          </a:xfrm>
          <a:prstGeom prst="rect">
            <a:avLst/>
          </a:prstGeom>
          <a:noFill/>
          <a:ln/>
        </p:spPr>
        <p:txBody>
          <a:bodyPr wrap="square" lIns="0" tIns="0" rIns="0" bIns="0" rtlCol="0" anchor="ctr"/>
          <a:lstStyle/>
          <a:p>
            <a:pPr indent="0" marL="0">
              <a:lnSpc>
                <a:spcPct val="120000"/>
              </a:lnSpc>
              <a:buNone/>
            </a:pPr>
            <a:r>
              <a:rPr lang="en-US" sz="950" dirty="0">
                <a:solidFill>
                  <a:srgbClr val="64748B"/>
                </a:solidFill>
                <a:latin typeface="Calibri" pitchFamily="34" charset="0"/>
                <a:ea typeface="Calibri" pitchFamily="34" charset="-122"/>
                <a:cs typeface="Calibri" pitchFamily="34" charset="-120"/>
              </a:rPr>
              <a:t>The scheduler only ever creates a PENDING execution — a user must still review and click Launch</a:t>
            </a:r>
            <a:endParaRPr lang="en-US" sz="950" dirty="0"/>
          </a:p>
        </p:txBody>
      </p:sp>
      <p:sp>
        <p:nvSpPr>
          <p:cNvPr id="40" name="Text 35"/>
          <p:cNvSpPr/>
          <p:nvPr/>
        </p:nvSpPr>
        <p:spPr>
          <a:xfrm>
            <a:off x="640080" y="4617720"/>
            <a:ext cx="10927080" cy="292608"/>
          </a:xfrm>
          <a:prstGeom prst="rect">
            <a:avLst/>
          </a:prstGeom>
          <a:noFill/>
          <a:ln/>
        </p:spPr>
        <p:txBody>
          <a:bodyPr wrap="square" lIns="0" tIns="0" rIns="0" bIns="0" rtlCol="0" anchor="ctr"/>
          <a:lstStyle/>
          <a:p>
            <a:pPr indent="0" marL="0">
              <a:buNone/>
            </a:pPr>
            <a:r>
              <a:rPr lang="en-US" sz="1100" dirty="0">
                <a:solidFill>
                  <a:srgbClr val="0F172A"/>
                </a:solidFill>
                <a:latin typeface="Consolas" pitchFamily="34" charset="0"/>
                <a:ea typeface="Consolas" pitchFamily="34" charset="-122"/>
                <a:cs typeface="Consolas" pitchFamily="34" charset="-120"/>
              </a:rPr>
              <a:t>ETLSchedule.objects.filter(id=schedule.id).update(last_triggered_at=now)</a:t>
            </a:r>
            <a:endParaRPr lang="en-US" sz="1100" dirty="0"/>
          </a:p>
        </p:txBody>
      </p:sp>
      <p:sp>
        <p:nvSpPr>
          <p:cNvPr id="41" name="Text 36"/>
          <p:cNvSpPr/>
          <p:nvPr/>
        </p:nvSpPr>
        <p:spPr>
          <a:xfrm>
            <a:off x="640080" y="4919472"/>
            <a:ext cx="1092708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Direct SQL UPDATE, not a Python round-trip — safe even if two polling ticks overlap.</a:t>
            </a:r>
            <a:endParaRPr lang="en-US" sz="1000" dirty="0"/>
          </a:p>
        </p:txBody>
      </p:sp>
      <p:sp>
        <p:nvSpPr>
          <p:cNvPr id="42" name="Shape 37"/>
          <p:cNvSpPr/>
          <p:nvPr/>
        </p:nvSpPr>
        <p:spPr>
          <a:xfrm>
            <a:off x="640080" y="5349240"/>
            <a:ext cx="10927080" cy="868680"/>
          </a:xfrm>
          <a:prstGeom prst="rect">
            <a:avLst/>
          </a:prstGeom>
          <a:solidFill>
            <a:srgbClr val="F8FAFC"/>
          </a:solidFill>
          <a:ln w="15875">
            <a:solidFill>
              <a:srgbClr val="CBD5E1"/>
            </a:solidFill>
            <a:prstDash val="dash"/>
          </a:ln>
        </p:spPr>
      </p:sp>
      <p:sp>
        <p:nvSpPr>
          <p:cNvPr id="43" name="Shape 38"/>
          <p:cNvSpPr/>
          <p:nvPr/>
        </p:nvSpPr>
        <p:spPr>
          <a:xfrm>
            <a:off x="5964631" y="5377586"/>
            <a:ext cx="277978" cy="277978"/>
          </a:xfrm>
          <a:prstGeom prst="ellipse">
            <a:avLst/>
          </a:prstGeom>
          <a:solidFill>
            <a:srgbClr val="FFFFFF"/>
          </a:solidFill>
          <a:ln/>
        </p:spPr>
      </p:sp>
      <p:pic>
        <p:nvPicPr>
          <p:cNvPr id="44" name="Image 3" descr="preencoded.png"/>
          <p:cNvPicPr>
            <a:picLocks noChangeAspect="1"/>
          </p:cNvPicPr>
          <p:nvPr/>
        </p:nvPicPr>
        <p:blipFill>
          <a:blip r:embed="rId4"/>
          <a:stretch>
            <a:fillRect/>
          </a:stretch>
        </p:blipFill>
        <p:spPr>
          <a:xfrm>
            <a:off x="6027176" y="5440131"/>
            <a:ext cx="152888" cy="152888"/>
          </a:xfrm>
          <a:prstGeom prst="rect">
            <a:avLst/>
          </a:prstGeom>
        </p:spPr>
      </p:pic>
      <p:sp>
        <p:nvSpPr>
          <p:cNvPr id="45" name="Text 39"/>
          <p:cNvSpPr/>
          <p:nvPr/>
        </p:nvSpPr>
        <p:spPr>
          <a:xfrm>
            <a:off x="822960" y="5783580"/>
            <a:ext cx="10561320" cy="411480"/>
          </a:xfrm>
          <a:prstGeom prst="rect">
            <a:avLst/>
          </a:prstGeom>
          <a:noFill/>
          <a:ln/>
        </p:spPr>
        <p:txBody>
          <a:bodyPr wrap="square" lIns="0" tIns="0" rIns="0" bIns="0" rtlCol="0" anchor="ctr"/>
          <a:lstStyle/>
          <a:p>
            <a:pPr algn="ctr" indent="0" marL="0">
              <a:lnSpc>
                <a:spcPct val="120000"/>
              </a:lnSpc>
              <a:buNone/>
            </a:pPr>
            <a:r>
              <a:rPr lang="en-US" sz="1050" i="1" dirty="0">
                <a:solidFill>
                  <a:srgbClr val="94A3B8"/>
                </a:solidFill>
                <a:latin typeface="Calibri" pitchFamily="34" charset="0"/>
                <a:ea typeface="Calibri" pitchFamily="34" charset="-122"/>
                <a:cs typeface="Calibri" pitchFamily="34" charset="-120"/>
              </a:rPr>
              <a:t>Screenshot — Admin schedule editor (frequency, notify target)</a:t>
            </a:r>
            <a:endParaRPr lang="en-US" sz="1050" dirty="0"/>
          </a:p>
        </p:txBody>
      </p:sp>
      <p:sp>
        <p:nvSpPr>
          <p:cNvPr id="46" name="Text 40"/>
          <p:cNvSpPr/>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13</a:t>
            </a:r>
            <a:endParaRPr lang="en-US" sz="10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37215" y="5120640"/>
            <a:ext cx="3291840" cy="3291840"/>
          </a:xfrm>
          <a:prstGeom prst="ellipse">
            <a:avLst/>
          </a:prstGeom>
          <a:solidFill>
            <a:srgbClr val="EFF6FF">
              <a:alpha val="45000"/>
            </a:srgbClr>
          </a:solidFill>
          <a:ln/>
        </p:spPr>
      </p:sp>
      <p:sp>
        <p:nvSpPr>
          <p:cNvPr id="3" name="Text 1"/>
          <p:cNvSpPr/>
          <p:nvPr/>
        </p:nvSpPr>
        <p:spPr>
          <a:xfrm>
            <a:off x="640080" y="411480"/>
            <a:ext cx="8229600" cy="320040"/>
          </a:xfrm>
          <a:prstGeom prst="rect">
            <a:avLst/>
          </a:prstGeom>
          <a:noFill/>
          <a:ln/>
        </p:spPr>
        <p:txBody>
          <a:bodyPr wrap="square" lIns="0" tIns="0" rIns="0" bIns="0" rtlCol="0" anchor="ctr"/>
          <a:lstStyle/>
          <a:p>
            <a:pPr indent="0" marL="0">
              <a:buNone/>
            </a:pPr>
            <a:r>
              <a:rPr lang="en-US" sz="1250" b="1" spc="200" kern="0" dirty="0">
                <a:solidFill>
                  <a:srgbClr val="2563EB"/>
                </a:solidFill>
                <a:latin typeface="Calibri" pitchFamily="34" charset="0"/>
                <a:ea typeface="Calibri" pitchFamily="34" charset="-122"/>
                <a:cs typeface="Calibri" pitchFamily="34" charset="-120"/>
              </a:rPr>
              <a:t>MODULE 4</a:t>
            </a:r>
            <a:endParaRPr lang="en-US" sz="1250" dirty="0"/>
          </a:p>
        </p:txBody>
      </p:sp>
      <p:sp>
        <p:nvSpPr>
          <p:cNvPr id="4" name="Text 2"/>
          <p:cNvSpPr/>
          <p:nvPr/>
        </p:nvSpPr>
        <p:spPr>
          <a:xfrm>
            <a:off x="640080" y="713232"/>
            <a:ext cx="10515600"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Scheduling — independent requests, one source of truth</a:t>
            </a:r>
            <a:endParaRPr lang="en-US" sz="2800" dirty="0"/>
          </a:p>
        </p:txBody>
      </p:sp>
      <p:sp>
        <p:nvSpPr>
          <p:cNvPr id="5" name="Text 3"/>
          <p:cNvSpPr/>
          <p:nvPr/>
        </p:nvSpPr>
        <p:spPr>
          <a:xfrm>
            <a:off x="640080" y="1417320"/>
            <a:ext cx="105156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Any user with access can request a schedule — one approval becomes the rule for everyone</a:t>
            </a:r>
            <a:endParaRPr lang="en-US" sz="1300" dirty="0"/>
          </a:p>
        </p:txBody>
      </p:sp>
      <p:sp>
        <p:nvSpPr>
          <p:cNvPr id="6" name="Shape 4"/>
          <p:cNvSpPr/>
          <p:nvPr/>
        </p:nvSpPr>
        <p:spPr>
          <a:xfrm>
            <a:off x="640080" y="2103120"/>
            <a:ext cx="2743200" cy="548640"/>
          </a:xfrm>
          <a:prstGeom prst="rect">
            <a:avLst/>
          </a:prstGeom>
          <a:solidFill>
            <a:srgbClr val="FFFFFF"/>
          </a:solidFill>
          <a:ln w="15875">
            <a:solidFill>
              <a:srgbClr val="E2E8F0"/>
            </a:solidFill>
            <a:prstDash val="solid"/>
          </a:ln>
        </p:spPr>
      </p:sp>
      <p:sp>
        <p:nvSpPr>
          <p:cNvPr id="7" name="Text 5"/>
          <p:cNvSpPr/>
          <p:nvPr/>
        </p:nvSpPr>
        <p:spPr>
          <a:xfrm>
            <a:off x="777240" y="2103120"/>
            <a:ext cx="2468880" cy="548640"/>
          </a:xfrm>
          <a:prstGeom prst="rect">
            <a:avLst/>
          </a:prstGeom>
          <a:noFill/>
          <a:ln/>
        </p:spPr>
        <p:txBody>
          <a:bodyPr wrap="square" lIns="0" tIns="0" rIns="0" bIns="0" rtlCol="0" anchor="ctr"/>
          <a:lstStyle/>
          <a:p>
            <a:pPr indent="0" marL="0">
              <a:lnSpc>
                <a:spcPct val="110000"/>
              </a:lnSpc>
              <a:buNone/>
            </a:pPr>
            <a:r>
              <a:rPr lang="en-US" sz="1000" dirty="0">
                <a:solidFill>
                  <a:srgbClr val="0F172A"/>
                </a:solidFill>
                <a:latin typeface="Calibri" pitchFamily="34" charset="0"/>
                <a:ea typeface="Calibri" pitchFamily="34" charset="-122"/>
                <a:cs typeface="Calibri" pitchFamily="34" charset="-120"/>
              </a:rPr>
              <a:t>User A — requests independently</a:t>
            </a:r>
            <a:endParaRPr lang="en-US" sz="1000" dirty="0"/>
          </a:p>
        </p:txBody>
      </p:sp>
      <p:sp>
        <p:nvSpPr>
          <p:cNvPr id="8" name="Shape 6"/>
          <p:cNvSpPr/>
          <p:nvPr/>
        </p:nvSpPr>
        <p:spPr>
          <a:xfrm>
            <a:off x="640080" y="2788920"/>
            <a:ext cx="2743200" cy="548640"/>
          </a:xfrm>
          <a:prstGeom prst="rect">
            <a:avLst/>
          </a:prstGeom>
          <a:solidFill>
            <a:srgbClr val="FFFFFF"/>
          </a:solidFill>
          <a:ln w="15875">
            <a:solidFill>
              <a:srgbClr val="E2E8F0"/>
            </a:solidFill>
            <a:prstDash val="solid"/>
          </a:ln>
        </p:spPr>
      </p:sp>
      <p:sp>
        <p:nvSpPr>
          <p:cNvPr id="9" name="Text 7"/>
          <p:cNvSpPr/>
          <p:nvPr/>
        </p:nvSpPr>
        <p:spPr>
          <a:xfrm>
            <a:off x="777240" y="2788920"/>
            <a:ext cx="2468880" cy="548640"/>
          </a:xfrm>
          <a:prstGeom prst="rect">
            <a:avLst/>
          </a:prstGeom>
          <a:noFill/>
          <a:ln/>
        </p:spPr>
        <p:txBody>
          <a:bodyPr wrap="square" lIns="0" tIns="0" rIns="0" bIns="0" rtlCol="0" anchor="ctr"/>
          <a:lstStyle/>
          <a:p>
            <a:pPr indent="0" marL="0">
              <a:lnSpc>
                <a:spcPct val="110000"/>
              </a:lnSpc>
              <a:buNone/>
            </a:pPr>
            <a:r>
              <a:rPr lang="en-US" sz="1000" dirty="0">
                <a:solidFill>
                  <a:srgbClr val="0F172A"/>
                </a:solidFill>
                <a:latin typeface="Calibri" pitchFamily="34" charset="0"/>
                <a:ea typeface="Calibri" pitchFamily="34" charset="-122"/>
                <a:cs typeface="Calibri" pitchFamily="34" charset="-120"/>
              </a:rPr>
              <a:t>User B — requests independently</a:t>
            </a:r>
            <a:endParaRPr lang="en-US" sz="1000" dirty="0"/>
          </a:p>
        </p:txBody>
      </p:sp>
      <p:sp>
        <p:nvSpPr>
          <p:cNvPr id="10" name="Shape 8"/>
          <p:cNvSpPr/>
          <p:nvPr/>
        </p:nvSpPr>
        <p:spPr>
          <a:xfrm>
            <a:off x="640080" y="3474720"/>
            <a:ext cx="2743200" cy="548640"/>
          </a:xfrm>
          <a:prstGeom prst="rect">
            <a:avLst/>
          </a:prstGeom>
          <a:solidFill>
            <a:srgbClr val="FFFFFF"/>
          </a:solidFill>
          <a:ln w="15875">
            <a:solidFill>
              <a:srgbClr val="E2E8F0"/>
            </a:solidFill>
            <a:prstDash val="solid"/>
          </a:ln>
        </p:spPr>
      </p:sp>
      <p:sp>
        <p:nvSpPr>
          <p:cNvPr id="11" name="Text 9"/>
          <p:cNvSpPr/>
          <p:nvPr/>
        </p:nvSpPr>
        <p:spPr>
          <a:xfrm>
            <a:off x="777240" y="3474720"/>
            <a:ext cx="2468880" cy="548640"/>
          </a:xfrm>
          <a:prstGeom prst="rect">
            <a:avLst/>
          </a:prstGeom>
          <a:noFill/>
          <a:ln/>
        </p:spPr>
        <p:txBody>
          <a:bodyPr wrap="square" lIns="0" tIns="0" rIns="0" bIns="0" rtlCol="0" anchor="ctr"/>
          <a:lstStyle/>
          <a:p>
            <a:pPr indent="0" marL="0">
              <a:lnSpc>
                <a:spcPct val="110000"/>
              </a:lnSpc>
              <a:buNone/>
            </a:pPr>
            <a:r>
              <a:rPr lang="en-US" sz="1000" dirty="0">
                <a:solidFill>
                  <a:srgbClr val="0F172A"/>
                </a:solidFill>
                <a:latin typeface="Calibri" pitchFamily="34" charset="0"/>
                <a:ea typeface="Calibri" pitchFamily="34" charset="-122"/>
                <a:cs typeface="Calibri" pitchFamily="34" charset="-120"/>
              </a:rPr>
              <a:t>User C — requests independently</a:t>
            </a:r>
            <a:endParaRPr lang="en-US" sz="1000" dirty="0"/>
          </a:p>
        </p:txBody>
      </p:sp>
      <p:sp>
        <p:nvSpPr>
          <p:cNvPr id="12" name="Shape 10"/>
          <p:cNvSpPr/>
          <p:nvPr/>
        </p:nvSpPr>
        <p:spPr>
          <a:xfrm>
            <a:off x="3429000" y="2990088"/>
            <a:ext cx="274320" cy="146304"/>
          </a:xfrm>
          <a:prstGeom prst="rightArrow">
            <a:avLst/>
          </a:prstGeom>
          <a:solidFill>
            <a:srgbClr val="94A3B8"/>
          </a:solidFill>
          <a:ln/>
        </p:spPr>
      </p:sp>
      <p:sp>
        <p:nvSpPr>
          <p:cNvPr id="13" name="Shape 11"/>
          <p:cNvSpPr/>
          <p:nvPr/>
        </p:nvSpPr>
        <p:spPr>
          <a:xfrm>
            <a:off x="3749040" y="2468880"/>
            <a:ext cx="2194560" cy="1188720"/>
          </a:xfrm>
          <a:prstGeom prst="rect">
            <a:avLst/>
          </a:prstGeom>
          <a:solidFill>
            <a:srgbClr val="0F172A"/>
          </a:solidFill>
          <a:ln/>
        </p:spPr>
      </p:sp>
      <p:sp>
        <p:nvSpPr>
          <p:cNvPr id="14" name="Text 12"/>
          <p:cNvSpPr/>
          <p:nvPr/>
        </p:nvSpPr>
        <p:spPr>
          <a:xfrm>
            <a:off x="3886200" y="2468880"/>
            <a:ext cx="1920240" cy="1188720"/>
          </a:xfrm>
          <a:prstGeom prst="rect">
            <a:avLst/>
          </a:prstGeom>
          <a:noFill/>
          <a:ln/>
        </p:spPr>
        <p:txBody>
          <a:bodyPr wrap="square" lIns="0" tIns="0" rIns="0" bIns="0" rtlCol="0" anchor="ctr"/>
          <a:lstStyle/>
          <a:p>
            <a:pPr algn="ctr" indent="0" marL="0">
              <a:lnSpc>
                <a:spcPct val="120000"/>
              </a:lnSpc>
              <a:buNone/>
            </a:pPr>
            <a:r>
              <a:rPr lang="en-US" sz="1200" b="1" dirty="0">
                <a:solidFill>
                  <a:srgbClr val="FFFFFF"/>
                </a:solidFill>
                <a:latin typeface="Calibri" pitchFamily="34" charset="0"/>
                <a:ea typeface="Calibri" pitchFamily="34" charset="-122"/>
                <a:cs typeface="Calibri" pitchFamily="34" charset="-120"/>
              </a:rPr>
              <a:t>Admin reviews</a:t>
            </a:r>
            <a:endParaRPr lang="en-US" sz="1200" dirty="0"/>
          </a:p>
          <a:p>
            <a:pPr algn="ctr" indent="0" marL="0">
              <a:lnSpc>
                <a:spcPct val="120000"/>
              </a:lnSpc>
              <a:buNone/>
            </a:pPr>
            <a:r>
              <a:rPr lang="en-US" sz="1200" b="1" dirty="0">
                <a:solidFill>
                  <a:srgbClr val="FFFFFF"/>
                </a:solidFill>
                <a:latin typeface="Calibri" pitchFamily="34" charset="0"/>
                <a:ea typeface="Calibri" pitchFamily="34" charset="-122"/>
                <a:cs typeface="Calibri" pitchFamily="34" charset="-120"/>
              </a:rPr>
              <a:t>&amp; approves ONE</a:t>
            </a:r>
            <a:endParaRPr lang="en-US" sz="1200" dirty="0"/>
          </a:p>
        </p:txBody>
      </p:sp>
      <p:sp>
        <p:nvSpPr>
          <p:cNvPr id="15" name="Shape 13"/>
          <p:cNvSpPr/>
          <p:nvPr/>
        </p:nvSpPr>
        <p:spPr>
          <a:xfrm>
            <a:off x="5989320" y="2715768"/>
            <a:ext cx="365760" cy="146304"/>
          </a:xfrm>
          <a:prstGeom prst="rightArrow">
            <a:avLst/>
          </a:prstGeom>
          <a:solidFill>
            <a:srgbClr val="16A34A"/>
          </a:solidFill>
          <a:ln/>
        </p:spPr>
      </p:sp>
      <p:sp>
        <p:nvSpPr>
          <p:cNvPr id="16" name="Shape 14"/>
          <p:cNvSpPr/>
          <p:nvPr/>
        </p:nvSpPr>
        <p:spPr>
          <a:xfrm>
            <a:off x="5989320" y="3813048"/>
            <a:ext cx="365760" cy="146304"/>
          </a:xfrm>
          <a:prstGeom prst="rightArrow">
            <a:avLst/>
          </a:prstGeom>
          <a:solidFill>
            <a:srgbClr val="94A3B8"/>
          </a:solidFill>
          <a:ln/>
        </p:spPr>
      </p:sp>
      <p:sp>
        <p:nvSpPr>
          <p:cNvPr id="17" name="Shape 15"/>
          <p:cNvSpPr/>
          <p:nvPr/>
        </p:nvSpPr>
        <p:spPr>
          <a:xfrm>
            <a:off x="6400800" y="2331720"/>
            <a:ext cx="2743200" cy="914400"/>
          </a:xfrm>
          <a:prstGeom prst="rect">
            <a:avLst/>
          </a:prstGeom>
          <a:solidFill>
            <a:srgbClr val="F0FDF4"/>
          </a:solidFill>
          <a:ln w="15875">
            <a:solidFill>
              <a:srgbClr val="16A34A"/>
            </a:solidFill>
            <a:prstDash val="solid"/>
          </a:ln>
        </p:spPr>
      </p:sp>
      <p:sp>
        <p:nvSpPr>
          <p:cNvPr id="18" name="Text 16"/>
          <p:cNvSpPr/>
          <p:nvPr/>
        </p:nvSpPr>
        <p:spPr>
          <a:xfrm>
            <a:off x="6537960" y="2331720"/>
            <a:ext cx="2468880" cy="914400"/>
          </a:xfrm>
          <a:prstGeom prst="rect">
            <a:avLst/>
          </a:prstGeom>
          <a:noFill/>
          <a:ln/>
        </p:spPr>
        <p:txBody>
          <a:bodyPr wrap="square" lIns="0" tIns="0" rIns="0" bIns="0" rtlCol="0" anchor="ctr"/>
          <a:lstStyle/>
          <a:p>
            <a:pPr algn="ctr" indent="0" marL="0">
              <a:lnSpc>
                <a:spcPct val="115000"/>
              </a:lnSpc>
              <a:buNone/>
            </a:pPr>
            <a:r>
              <a:rPr lang="en-US" sz="1100" b="1" dirty="0">
                <a:solidFill>
                  <a:srgbClr val="0F172A"/>
                </a:solidFill>
                <a:latin typeface="Calibri" pitchFamily="34" charset="0"/>
                <a:ea typeface="Calibri" pitchFamily="34" charset="-122"/>
                <a:cs typeface="Calibri" pitchFamily="34" charset="-120"/>
              </a:rPr>
              <a:t>Becomes the ETL's schedule — for everyone</a:t>
            </a:r>
            <a:endParaRPr lang="en-US" sz="1100" dirty="0"/>
          </a:p>
        </p:txBody>
      </p:sp>
      <p:sp>
        <p:nvSpPr>
          <p:cNvPr id="19" name="Shape 17"/>
          <p:cNvSpPr/>
          <p:nvPr/>
        </p:nvSpPr>
        <p:spPr>
          <a:xfrm>
            <a:off x="6400800" y="3429000"/>
            <a:ext cx="2743200" cy="914400"/>
          </a:xfrm>
          <a:prstGeom prst="rect">
            <a:avLst/>
          </a:prstGeom>
          <a:solidFill>
            <a:srgbClr val="F8FAFC"/>
          </a:solidFill>
          <a:ln w="15875">
            <a:solidFill>
              <a:srgbClr val="E2E8F0"/>
            </a:solidFill>
            <a:prstDash val="solid"/>
          </a:ln>
        </p:spPr>
      </p:sp>
      <p:sp>
        <p:nvSpPr>
          <p:cNvPr id="20" name="Text 18"/>
          <p:cNvSpPr/>
          <p:nvPr/>
        </p:nvSpPr>
        <p:spPr>
          <a:xfrm>
            <a:off x="6537960" y="3429000"/>
            <a:ext cx="2468880" cy="914400"/>
          </a:xfrm>
          <a:prstGeom prst="rect">
            <a:avLst/>
          </a:prstGeom>
          <a:noFill/>
          <a:ln/>
        </p:spPr>
        <p:txBody>
          <a:bodyPr wrap="square" lIns="0" tIns="0" rIns="0" bIns="0" rtlCol="0" anchor="ctr"/>
          <a:lstStyle/>
          <a:p>
            <a:pPr algn="ctr" indent="0" marL="0">
              <a:lnSpc>
                <a:spcPct val="115000"/>
              </a:lnSpc>
              <a:buNone/>
            </a:pPr>
            <a:r>
              <a:rPr lang="en-US" sz="1050" dirty="0">
                <a:solidFill>
                  <a:srgbClr val="475569"/>
                </a:solidFill>
                <a:latin typeface="Calibri" pitchFamily="34" charset="0"/>
                <a:ea typeface="Calibri" pitchFamily="34" charset="-122"/>
                <a:cs typeface="Calibri" pitchFamily="34" charset="-120"/>
              </a:rPr>
              <a:t>Other pending requests — auto-rejected, requesters notified</a:t>
            </a:r>
            <a:endParaRPr lang="en-US" sz="1050" dirty="0"/>
          </a:p>
        </p:txBody>
      </p:sp>
      <p:sp>
        <p:nvSpPr>
          <p:cNvPr id="21" name="Text 19"/>
          <p:cNvSpPr/>
          <p:nvPr/>
        </p:nvSpPr>
        <p:spPr>
          <a:xfrm>
            <a:off x="640080" y="4526280"/>
            <a:ext cx="10927080" cy="365760"/>
          </a:xfrm>
          <a:prstGeom prst="rect">
            <a:avLst/>
          </a:prstGeom>
          <a:noFill/>
          <a:ln/>
        </p:spPr>
        <p:txBody>
          <a:bodyPr wrap="square" lIns="0" tIns="0" rIns="0" bIns="0" rtlCol="0" anchor="ctr"/>
          <a:lstStyle/>
          <a:p>
            <a:pPr indent="0" marL="0">
              <a:lnSpc>
                <a:spcPct val="130000"/>
              </a:lnSpc>
              <a:buNone/>
            </a:pPr>
            <a:r>
              <a:rPr lang="en-US" sz="1100" b="1" dirty="0">
                <a:solidFill>
                  <a:srgbClr val="0F172A"/>
                </a:solidFill>
                <a:latin typeface="Calibri" pitchFamily="34" charset="0"/>
                <a:ea typeface="Calibri" pitchFamily="34" charset="-122"/>
                <a:cs typeface="Calibri" pitchFamily="34" charset="-120"/>
              </a:rPr>
              <a:t xml:space="preserve">Enforced at the database level:  </a:t>
            </a:r>
            <a:pPr indent="0" marL="0">
              <a:lnSpc>
                <a:spcPct val="130000"/>
              </a:lnSpc>
              <a:buNone/>
            </a:pPr>
            <a:r>
              <a:rPr lang="en-US" sz="1100" dirty="0">
                <a:solidFill>
                  <a:srgbClr val="0F172A"/>
                </a:solidFill>
                <a:latin typeface="Consolas" pitchFamily="34" charset="0"/>
                <a:ea typeface="Consolas" pitchFamily="34" charset="-122"/>
                <a:cs typeface="Consolas" pitchFamily="34" charset="-120"/>
              </a:rPr>
              <a:t>ETLSchedule.etl</a:t>
            </a:r>
            <a:pPr indent="0" marL="0">
              <a:lnSpc>
                <a:spcPct val="130000"/>
              </a:lnSpc>
              <a:buNone/>
            </a:pPr>
            <a:r>
              <a:rPr lang="en-US" sz="1100" dirty="0">
                <a:solidFill>
                  <a:srgbClr val="64748B"/>
                </a:solidFill>
                <a:latin typeface="Calibri" pitchFamily="34" charset="0"/>
                <a:ea typeface="Calibri" pitchFamily="34" charset="-122"/>
                <a:cs typeface="Calibri" pitchFamily="34" charset="-120"/>
              </a:rPr>
              <a:t xml:space="preserve"> is a </a:t>
            </a:r>
            <a:pPr indent="0" marL="0">
              <a:lnSpc>
                <a:spcPct val="130000"/>
              </a:lnSpc>
              <a:buNone/>
            </a:pPr>
            <a:r>
              <a:rPr lang="en-US" sz="1100" dirty="0">
                <a:solidFill>
                  <a:srgbClr val="0F172A"/>
                </a:solidFill>
                <a:latin typeface="Consolas" pitchFamily="34" charset="0"/>
                <a:ea typeface="Consolas" pitchFamily="34" charset="-122"/>
                <a:cs typeface="Consolas" pitchFamily="34" charset="-120"/>
              </a:rPr>
              <a:t>OneToOneField</a:t>
            </a:r>
            <a:pPr indent="0" marL="0">
              <a:lnSpc>
                <a:spcPct val="130000"/>
              </a:lnSpc>
              <a:buNone/>
            </a:pPr>
            <a:r>
              <a:rPr lang="en-US" sz="1100" dirty="0">
                <a:solidFill>
                  <a:srgbClr val="64748B"/>
                </a:solidFill>
                <a:latin typeface="Calibri" pitchFamily="34" charset="0"/>
                <a:ea typeface="Calibri" pitchFamily="34" charset="-122"/>
                <a:cs typeface="Calibri" pitchFamily="34" charset="-120"/>
              </a:rPr>
              <a:t xml:space="preserve"> — a UNIQUE constraint guarantees at most one active schedule per ETL, always.</a:t>
            </a:r>
            <a:endParaRPr lang="en-US" sz="1100" dirty="0"/>
          </a:p>
        </p:txBody>
      </p:sp>
      <p:sp>
        <p:nvSpPr>
          <p:cNvPr id="22" name="Shape 20"/>
          <p:cNvSpPr/>
          <p:nvPr/>
        </p:nvSpPr>
        <p:spPr>
          <a:xfrm>
            <a:off x="640080" y="5029200"/>
            <a:ext cx="10927080" cy="1188720"/>
          </a:xfrm>
          <a:prstGeom prst="rect">
            <a:avLst/>
          </a:prstGeom>
          <a:solidFill>
            <a:srgbClr val="F8FAFC"/>
          </a:solidFill>
          <a:ln w="15875">
            <a:solidFill>
              <a:srgbClr val="CBD5E1"/>
            </a:solidFill>
            <a:prstDash val="dash"/>
          </a:ln>
        </p:spPr>
      </p:sp>
      <p:sp>
        <p:nvSpPr>
          <p:cNvPr id="23" name="Shape 21"/>
          <p:cNvSpPr/>
          <p:nvPr/>
        </p:nvSpPr>
        <p:spPr>
          <a:xfrm>
            <a:off x="5913425" y="5115154"/>
            <a:ext cx="380390" cy="380390"/>
          </a:xfrm>
          <a:prstGeom prst="ellipse">
            <a:avLst/>
          </a:prstGeom>
          <a:solidFill>
            <a:srgbClr val="FFFFFF"/>
          </a:solidFill>
          <a:ln/>
        </p:spPr>
      </p:sp>
      <p:pic>
        <p:nvPicPr>
          <p:cNvPr id="24" name="Image 0" descr="preencoded.png"/>
          <p:cNvPicPr>
            <a:picLocks noChangeAspect="1"/>
          </p:cNvPicPr>
          <p:nvPr/>
        </p:nvPicPr>
        <p:blipFill>
          <a:blip r:embed="rId1"/>
          <a:stretch>
            <a:fillRect/>
          </a:stretch>
        </p:blipFill>
        <p:spPr>
          <a:xfrm>
            <a:off x="5999013" y="5200741"/>
            <a:ext cx="209215" cy="209215"/>
          </a:xfrm>
          <a:prstGeom prst="rect">
            <a:avLst/>
          </a:prstGeom>
        </p:spPr>
      </p:pic>
      <p:sp>
        <p:nvSpPr>
          <p:cNvPr id="25" name="Text 22"/>
          <p:cNvSpPr/>
          <p:nvPr/>
        </p:nvSpPr>
        <p:spPr>
          <a:xfrm>
            <a:off x="822960" y="5623560"/>
            <a:ext cx="10561320" cy="411480"/>
          </a:xfrm>
          <a:prstGeom prst="rect">
            <a:avLst/>
          </a:prstGeom>
          <a:noFill/>
          <a:ln/>
        </p:spPr>
        <p:txBody>
          <a:bodyPr wrap="square" lIns="0" tIns="0" rIns="0" bIns="0" rtlCol="0" anchor="ctr"/>
          <a:lstStyle/>
          <a:p>
            <a:pPr algn="ctr" indent="0" marL="0">
              <a:lnSpc>
                <a:spcPct val="120000"/>
              </a:lnSpc>
              <a:buNone/>
            </a:pPr>
            <a:r>
              <a:rPr lang="en-US" sz="1050" i="1" dirty="0">
                <a:solidFill>
                  <a:srgbClr val="94A3B8"/>
                </a:solidFill>
                <a:latin typeface="Calibri" pitchFamily="34" charset="0"/>
                <a:ea typeface="Calibri" pitchFamily="34" charset="-122"/>
                <a:cs typeface="Calibri" pitchFamily="34" charset="-120"/>
              </a:rPr>
              <a:t>Screenshot — Schedule request &amp; approval panel</a:t>
            </a:r>
            <a:endParaRPr lang="en-US" sz="1050" dirty="0"/>
          </a:p>
        </p:txBody>
      </p:sp>
      <p:sp>
        <p:nvSpPr>
          <p:cNvPr id="26" name="Text 23"/>
          <p:cNvSpPr/>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14</a:t>
            </a:r>
            <a:endParaRPr lang="en-US" sz="10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37215" y="5120640"/>
            <a:ext cx="3291840" cy="3291840"/>
          </a:xfrm>
          <a:prstGeom prst="ellipse">
            <a:avLst/>
          </a:prstGeom>
          <a:solidFill>
            <a:srgbClr val="EFF6FF">
              <a:alpha val="45000"/>
            </a:srgbClr>
          </a:solidFill>
          <a:ln/>
        </p:spPr>
      </p:sp>
      <p:sp>
        <p:nvSpPr>
          <p:cNvPr id="3" name="Text 1"/>
          <p:cNvSpPr/>
          <p:nvPr/>
        </p:nvSpPr>
        <p:spPr>
          <a:xfrm>
            <a:off x="640080" y="411480"/>
            <a:ext cx="8229600" cy="320040"/>
          </a:xfrm>
          <a:prstGeom prst="rect">
            <a:avLst/>
          </a:prstGeom>
          <a:noFill/>
          <a:ln/>
        </p:spPr>
        <p:txBody>
          <a:bodyPr wrap="square" lIns="0" tIns="0" rIns="0" bIns="0" rtlCol="0" anchor="ctr"/>
          <a:lstStyle/>
          <a:p>
            <a:pPr indent="0" marL="0">
              <a:buNone/>
            </a:pPr>
            <a:r>
              <a:rPr lang="en-US" sz="1250" b="1" spc="200" kern="0" dirty="0">
                <a:solidFill>
                  <a:srgbClr val="2563EB"/>
                </a:solidFill>
                <a:latin typeface="Calibri" pitchFamily="34" charset="0"/>
                <a:ea typeface="Calibri" pitchFamily="34" charset="-122"/>
                <a:cs typeface="Calibri" pitchFamily="34" charset="-120"/>
              </a:rPr>
              <a:t>MODULE 4</a:t>
            </a:r>
            <a:endParaRPr lang="en-US" sz="1250" dirty="0"/>
          </a:p>
        </p:txBody>
      </p:sp>
      <p:sp>
        <p:nvSpPr>
          <p:cNvPr id="4" name="Text 2"/>
          <p:cNvSpPr/>
          <p:nvPr/>
        </p:nvSpPr>
        <p:spPr>
          <a:xfrm>
            <a:off x="640080" y="713232"/>
            <a:ext cx="10515600"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Analytics &amp; Personal Dashboards</a:t>
            </a:r>
            <a:endParaRPr lang="en-US" sz="2800" dirty="0"/>
          </a:p>
        </p:txBody>
      </p:sp>
      <p:sp>
        <p:nvSpPr>
          <p:cNvPr id="5" name="Shape 3"/>
          <p:cNvSpPr/>
          <p:nvPr/>
        </p:nvSpPr>
        <p:spPr>
          <a:xfrm>
            <a:off x="640080" y="1920240"/>
            <a:ext cx="5212080" cy="2606040"/>
          </a:xfrm>
          <a:prstGeom prst="rect">
            <a:avLst/>
          </a:prstGeom>
          <a:solidFill>
            <a:srgbClr val="FFFFFF"/>
          </a:solidFill>
          <a:ln w="15875">
            <a:solidFill>
              <a:srgbClr val="93C5FD"/>
            </a:solidFill>
            <a:prstDash val="solid"/>
          </a:ln>
          <a:effectLst>
            <a:outerShdw sx="100000" sy="100000" kx="0" ky="0" algn="bl" rotWithShape="0" blurRad="114300" dist="38100" dir="8100000">
              <a:srgbClr val="0F172A">
                <a:alpha val="12000"/>
              </a:srgbClr>
            </a:outerShdw>
          </a:effectLst>
        </p:spPr>
      </p:sp>
      <p:sp>
        <p:nvSpPr>
          <p:cNvPr id="6" name="Shape 4"/>
          <p:cNvSpPr/>
          <p:nvPr/>
        </p:nvSpPr>
        <p:spPr>
          <a:xfrm>
            <a:off x="914400" y="2148840"/>
            <a:ext cx="502920" cy="502920"/>
          </a:xfrm>
          <a:prstGeom prst="ellipse">
            <a:avLst/>
          </a:prstGeom>
          <a:solidFill>
            <a:srgbClr val="EFF6FF"/>
          </a:solidFill>
          <a:ln/>
        </p:spPr>
      </p:sp>
      <p:pic>
        <p:nvPicPr>
          <p:cNvPr id="7" name="Image 0" descr="preencoded.png"/>
          <p:cNvPicPr>
            <a:picLocks noChangeAspect="1"/>
          </p:cNvPicPr>
          <p:nvPr/>
        </p:nvPicPr>
        <p:blipFill>
          <a:blip r:embed="rId1"/>
          <a:stretch>
            <a:fillRect/>
          </a:stretch>
        </p:blipFill>
        <p:spPr>
          <a:xfrm>
            <a:off x="1027557" y="2261997"/>
            <a:ext cx="276606" cy="276606"/>
          </a:xfrm>
          <a:prstGeom prst="rect">
            <a:avLst/>
          </a:prstGeom>
        </p:spPr>
      </p:pic>
      <p:sp>
        <p:nvSpPr>
          <p:cNvPr id="8" name="Text 5"/>
          <p:cNvSpPr/>
          <p:nvPr/>
        </p:nvSpPr>
        <p:spPr>
          <a:xfrm>
            <a:off x="1554480" y="2176272"/>
            <a:ext cx="4114800" cy="320040"/>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Platform-wide dashboard</a:t>
            </a:r>
            <a:endParaRPr lang="en-US" sz="1350" dirty="0"/>
          </a:p>
        </p:txBody>
      </p:sp>
      <p:sp>
        <p:nvSpPr>
          <p:cNvPr id="9" name="Text 6"/>
          <p:cNvSpPr/>
          <p:nvPr/>
        </p:nvSpPr>
        <p:spPr>
          <a:xfrm>
            <a:off x="1554480" y="2468880"/>
            <a:ext cx="41148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Admin only</a:t>
            </a:r>
            <a:endParaRPr lang="en-US" sz="1000" dirty="0"/>
          </a:p>
        </p:txBody>
      </p:sp>
      <p:sp>
        <p:nvSpPr>
          <p:cNvPr id="10" name="Shape 7"/>
          <p:cNvSpPr/>
          <p:nvPr/>
        </p:nvSpPr>
        <p:spPr>
          <a:xfrm>
            <a:off x="914400" y="2880360"/>
            <a:ext cx="219456" cy="219456"/>
          </a:xfrm>
          <a:prstGeom prst="ellipse">
            <a:avLst/>
          </a:prstGeom>
          <a:solidFill>
            <a:srgbClr val="FFFFFF"/>
          </a:solidFill>
          <a:ln/>
        </p:spPr>
      </p:sp>
      <p:pic>
        <p:nvPicPr>
          <p:cNvPr id="11" name="Image 1" descr="preencoded.png"/>
          <p:cNvPicPr>
            <a:picLocks noChangeAspect="1"/>
          </p:cNvPicPr>
          <p:nvPr/>
        </p:nvPicPr>
        <p:blipFill>
          <a:blip r:embed="rId2"/>
          <a:stretch>
            <a:fillRect/>
          </a:stretch>
        </p:blipFill>
        <p:spPr>
          <a:xfrm>
            <a:off x="947318" y="2913278"/>
            <a:ext cx="153619" cy="153619"/>
          </a:xfrm>
          <a:prstGeom prst="rect">
            <a:avLst/>
          </a:prstGeom>
        </p:spPr>
      </p:pic>
      <p:sp>
        <p:nvSpPr>
          <p:cNvPr id="12" name="Text 8"/>
          <p:cNvSpPr/>
          <p:nvPr/>
        </p:nvSpPr>
        <p:spPr>
          <a:xfrm>
            <a:off x="1234440" y="2834640"/>
            <a:ext cx="4434840" cy="36576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KPI indicators &amp; configurable date range</a:t>
            </a:r>
            <a:endParaRPr lang="en-US" sz="1050" dirty="0"/>
          </a:p>
        </p:txBody>
      </p:sp>
      <p:sp>
        <p:nvSpPr>
          <p:cNvPr id="13" name="Shape 9"/>
          <p:cNvSpPr/>
          <p:nvPr/>
        </p:nvSpPr>
        <p:spPr>
          <a:xfrm>
            <a:off x="914400" y="3383280"/>
            <a:ext cx="219456" cy="219456"/>
          </a:xfrm>
          <a:prstGeom prst="ellipse">
            <a:avLst/>
          </a:prstGeom>
          <a:solidFill>
            <a:srgbClr val="FFFFFF"/>
          </a:solidFill>
          <a:ln/>
        </p:spPr>
      </p:sp>
      <p:pic>
        <p:nvPicPr>
          <p:cNvPr id="14" name="Image 2" descr="preencoded.png"/>
          <p:cNvPicPr>
            <a:picLocks noChangeAspect="1"/>
          </p:cNvPicPr>
          <p:nvPr/>
        </p:nvPicPr>
        <p:blipFill>
          <a:blip r:embed="rId3"/>
          <a:stretch>
            <a:fillRect/>
          </a:stretch>
        </p:blipFill>
        <p:spPr>
          <a:xfrm>
            <a:off x="947318" y="3416198"/>
            <a:ext cx="153619" cy="153619"/>
          </a:xfrm>
          <a:prstGeom prst="rect">
            <a:avLst/>
          </a:prstGeom>
        </p:spPr>
      </p:pic>
      <p:sp>
        <p:nvSpPr>
          <p:cNvPr id="15" name="Text 10"/>
          <p:cNvSpPr/>
          <p:nvPr/>
        </p:nvSpPr>
        <p:spPr>
          <a:xfrm>
            <a:off x="1234440" y="3337560"/>
            <a:ext cx="4434840" cy="36576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Execution timeline, status distribution</a:t>
            </a:r>
            <a:endParaRPr lang="en-US" sz="1050" dirty="0"/>
          </a:p>
        </p:txBody>
      </p:sp>
      <p:sp>
        <p:nvSpPr>
          <p:cNvPr id="16" name="Shape 11"/>
          <p:cNvSpPr/>
          <p:nvPr/>
        </p:nvSpPr>
        <p:spPr>
          <a:xfrm>
            <a:off x="914400" y="3886200"/>
            <a:ext cx="219456" cy="219456"/>
          </a:xfrm>
          <a:prstGeom prst="ellipse">
            <a:avLst/>
          </a:prstGeom>
          <a:solidFill>
            <a:srgbClr val="FFFFFF"/>
          </a:solidFill>
          <a:ln/>
        </p:spPr>
      </p:sp>
      <p:pic>
        <p:nvPicPr>
          <p:cNvPr id="17" name="Image 3" descr="preencoded.png"/>
          <p:cNvPicPr>
            <a:picLocks noChangeAspect="1"/>
          </p:cNvPicPr>
          <p:nvPr/>
        </p:nvPicPr>
        <p:blipFill>
          <a:blip r:embed="rId4"/>
          <a:stretch>
            <a:fillRect/>
          </a:stretch>
        </p:blipFill>
        <p:spPr>
          <a:xfrm>
            <a:off x="947318" y="3919118"/>
            <a:ext cx="153619" cy="153619"/>
          </a:xfrm>
          <a:prstGeom prst="rect">
            <a:avLst/>
          </a:prstGeom>
        </p:spPr>
      </p:pic>
      <p:sp>
        <p:nvSpPr>
          <p:cNvPr id="18" name="Text 12"/>
          <p:cNvSpPr/>
          <p:nvPr/>
        </p:nvSpPr>
        <p:spPr>
          <a:xfrm>
            <a:off x="1234440" y="3840480"/>
            <a:ext cx="4434840" cy="36576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Top ETLs, top users, ETL health counters</a:t>
            </a:r>
            <a:endParaRPr lang="en-US" sz="1050" dirty="0"/>
          </a:p>
        </p:txBody>
      </p:sp>
      <p:sp>
        <p:nvSpPr>
          <p:cNvPr id="19" name="Shape 13"/>
          <p:cNvSpPr/>
          <p:nvPr/>
        </p:nvSpPr>
        <p:spPr>
          <a:xfrm>
            <a:off x="6355080" y="1920240"/>
            <a:ext cx="5212080" cy="2606040"/>
          </a:xfrm>
          <a:prstGeom prst="rect">
            <a:avLst/>
          </a:prstGeom>
          <a:solidFill>
            <a:srgbClr val="FFFFFF"/>
          </a:solidFill>
          <a:ln w="15875">
            <a:solidFill>
              <a:srgbClr val="86EFAC"/>
            </a:solidFill>
            <a:prstDash val="solid"/>
          </a:ln>
          <a:effectLst>
            <a:outerShdw sx="100000" sy="100000" kx="0" ky="0" algn="bl" rotWithShape="0" blurRad="114300" dist="38100" dir="8100000">
              <a:srgbClr val="0F172A">
                <a:alpha val="12000"/>
              </a:srgbClr>
            </a:outerShdw>
          </a:effectLst>
        </p:spPr>
      </p:sp>
      <p:sp>
        <p:nvSpPr>
          <p:cNvPr id="20" name="Shape 14"/>
          <p:cNvSpPr/>
          <p:nvPr/>
        </p:nvSpPr>
        <p:spPr>
          <a:xfrm>
            <a:off x="6629400" y="2148840"/>
            <a:ext cx="502920" cy="502920"/>
          </a:xfrm>
          <a:prstGeom prst="ellipse">
            <a:avLst/>
          </a:prstGeom>
          <a:solidFill>
            <a:srgbClr val="F0FDF4"/>
          </a:solidFill>
          <a:ln/>
        </p:spPr>
      </p:sp>
      <p:pic>
        <p:nvPicPr>
          <p:cNvPr id="21" name="Image 4" descr="preencoded.png"/>
          <p:cNvPicPr>
            <a:picLocks noChangeAspect="1"/>
          </p:cNvPicPr>
          <p:nvPr/>
        </p:nvPicPr>
        <p:blipFill>
          <a:blip r:embed="rId5"/>
          <a:stretch>
            <a:fillRect/>
          </a:stretch>
        </p:blipFill>
        <p:spPr>
          <a:xfrm>
            <a:off x="6742557" y="2261997"/>
            <a:ext cx="276606" cy="276606"/>
          </a:xfrm>
          <a:prstGeom prst="rect">
            <a:avLst/>
          </a:prstGeom>
        </p:spPr>
      </p:pic>
      <p:sp>
        <p:nvSpPr>
          <p:cNvPr id="22" name="Text 15"/>
          <p:cNvSpPr/>
          <p:nvPr/>
        </p:nvSpPr>
        <p:spPr>
          <a:xfrm>
            <a:off x="7269480" y="2176272"/>
            <a:ext cx="4114800" cy="320040"/>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Personal dashboard</a:t>
            </a:r>
            <a:endParaRPr lang="en-US" sz="1350" dirty="0"/>
          </a:p>
        </p:txBody>
      </p:sp>
      <p:sp>
        <p:nvSpPr>
          <p:cNvPr id="23" name="Text 16"/>
          <p:cNvSpPr/>
          <p:nvPr/>
        </p:nvSpPr>
        <p:spPr>
          <a:xfrm>
            <a:off x="7269480" y="2468880"/>
            <a:ext cx="41148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All users — including admins</a:t>
            </a:r>
            <a:endParaRPr lang="en-US" sz="1000" dirty="0"/>
          </a:p>
        </p:txBody>
      </p:sp>
      <p:sp>
        <p:nvSpPr>
          <p:cNvPr id="24" name="Shape 17"/>
          <p:cNvSpPr/>
          <p:nvPr/>
        </p:nvSpPr>
        <p:spPr>
          <a:xfrm>
            <a:off x="6629400" y="2880360"/>
            <a:ext cx="219456" cy="219456"/>
          </a:xfrm>
          <a:prstGeom prst="ellipse">
            <a:avLst/>
          </a:prstGeom>
          <a:solidFill>
            <a:srgbClr val="FFFFFF"/>
          </a:solidFill>
          <a:ln/>
        </p:spPr>
      </p:sp>
      <p:pic>
        <p:nvPicPr>
          <p:cNvPr id="25" name="Image 5" descr="preencoded.png"/>
          <p:cNvPicPr>
            <a:picLocks noChangeAspect="1"/>
          </p:cNvPicPr>
          <p:nvPr/>
        </p:nvPicPr>
        <p:blipFill>
          <a:blip r:embed="rId6"/>
          <a:stretch>
            <a:fillRect/>
          </a:stretch>
        </p:blipFill>
        <p:spPr>
          <a:xfrm>
            <a:off x="6662318" y="2913278"/>
            <a:ext cx="153619" cy="153619"/>
          </a:xfrm>
          <a:prstGeom prst="rect">
            <a:avLst/>
          </a:prstGeom>
        </p:spPr>
      </p:pic>
      <p:sp>
        <p:nvSpPr>
          <p:cNvPr id="26" name="Text 18"/>
          <p:cNvSpPr/>
          <p:nvPr/>
        </p:nvSpPr>
        <p:spPr>
          <a:xfrm>
            <a:off x="6949440" y="2834640"/>
            <a:ext cx="4434840" cy="36576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Scoped exclusively to own executions</a:t>
            </a:r>
            <a:endParaRPr lang="en-US" sz="1050" dirty="0"/>
          </a:p>
        </p:txBody>
      </p:sp>
      <p:sp>
        <p:nvSpPr>
          <p:cNvPr id="27" name="Shape 19"/>
          <p:cNvSpPr/>
          <p:nvPr/>
        </p:nvSpPr>
        <p:spPr>
          <a:xfrm>
            <a:off x="6629400" y="3383280"/>
            <a:ext cx="219456" cy="219456"/>
          </a:xfrm>
          <a:prstGeom prst="ellipse">
            <a:avLst/>
          </a:prstGeom>
          <a:solidFill>
            <a:srgbClr val="FFFFFF"/>
          </a:solidFill>
          <a:ln/>
        </p:spPr>
      </p:sp>
      <p:pic>
        <p:nvPicPr>
          <p:cNvPr id="28" name="Image 6" descr="preencoded.png"/>
          <p:cNvPicPr>
            <a:picLocks noChangeAspect="1"/>
          </p:cNvPicPr>
          <p:nvPr/>
        </p:nvPicPr>
        <p:blipFill>
          <a:blip r:embed="rId7"/>
          <a:stretch>
            <a:fillRect/>
          </a:stretch>
        </p:blipFill>
        <p:spPr>
          <a:xfrm>
            <a:off x="6662318" y="3416198"/>
            <a:ext cx="153619" cy="153619"/>
          </a:xfrm>
          <a:prstGeom prst="rect">
            <a:avLst/>
          </a:prstGeom>
        </p:spPr>
      </p:pic>
      <p:sp>
        <p:nvSpPr>
          <p:cNvPr id="29" name="Text 20"/>
          <p:cNvSpPr/>
          <p:nvPr/>
        </p:nvSpPr>
        <p:spPr>
          <a:xfrm>
            <a:off x="6949440" y="3337560"/>
            <a:ext cx="4434840" cy="36576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Last-run banner — outcome at a glance</a:t>
            </a:r>
            <a:endParaRPr lang="en-US" sz="1050" dirty="0"/>
          </a:p>
        </p:txBody>
      </p:sp>
      <p:sp>
        <p:nvSpPr>
          <p:cNvPr id="30" name="Shape 21"/>
          <p:cNvSpPr/>
          <p:nvPr/>
        </p:nvSpPr>
        <p:spPr>
          <a:xfrm>
            <a:off x="6629400" y="3886200"/>
            <a:ext cx="219456" cy="219456"/>
          </a:xfrm>
          <a:prstGeom prst="ellipse">
            <a:avLst/>
          </a:prstGeom>
          <a:solidFill>
            <a:srgbClr val="FFFFFF"/>
          </a:solidFill>
          <a:ln/>
        </p:spPr>
      </p:sp>
      <p:pic>
        <p:nvPicPr>
          <p:cNvPr id="31" name="Image 7" descr="preencoded.png"/>
          <p:cNvPicPr>
            <a:picLocks noChangeAspect="1"/>
          </p:cNvPicPr>
          <p:nvPr/>
        </p:nvPicPr>
        <p:blipFill>
          <a:blip r:embed="rId8"/>
          <a:stretch>
            <a:fillRect/>
          </a:stretch>
        </p:blipFill>
        <p:spPr>
          <a:xfrm>
            <a:off x="6662318" y="3919118"/>
            <a:ext cx="153619" cy="153619"/>
          </a:xfrm>
          <a:prstGeom prst="rect">
            <a:avLst/>
          </a:prstGeom>
        </p:spPr>
      </p:pic>
      <p:sp>
        <p:nvSpPr>
          <p:cNvPr id="32" name="Text 22"/>
          <p:cNvSpPr/>
          <p:nvPr/>
        </p:nvSpPr>
        <p:spPr>
          <a:xfrm>
            <a:off x="6949440" y="3840480"/>
            <a:ext cx="4434840" cy="36576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Success rate, most-used ETLs</a:t>
            </a:r>
            <a:endParaRPr lang="en-US" sz="1050" dirty="0"/>
          </a:p>
        </p:txBody>
      </p:sp>
      <p:sp>
        <p:nvSpPr>
          <p:cNvPr id="33" name="Shape 23"/>
          <p:cNvSpPr/>
          <p:nvPr/>
        </p:nvSpPr>
        <p:spPr>
          <a:xfrm>
            <a:off x="640080" y="4617720"/>
            <a:ext cx="10927080" cy="1188720"/>
          </a:xfrm>
          <a:prstGeom prst="rect">
            <a:avLst/>
          </a:prstGeom>
          <a:solidFill>
            <a:srgbClr val="F8FAFC"/>
          </a:solidFill>
          <a:ln w="15875">
            <a:solidFill>
              <a:srgbClr val="CBD5E1"/>
            </a:solidFill>
            <a:prstDash val="dash"/>
          </a:ln>
        </p:spPr>
      </p:sp>
      <p:sp>
        <p:nvSpPr>
          <p:cNvPr id="34" name="Shape 24"/>
          <p:cNvSpPr/>
          <p:nvPr/>
        </p:nvSpPr>
        <p:spPr>
          <a:xfrm>
            <a:off x="5913425" y="4703674"/>
            <a:ext cx="380390" cy="380390"/>
          </a:xfrm>
          <a:prstGeom prst="ellipse">
            <a:avLst/>
          </a:prstGeom>
          <a:solidFill>
            <a:srgbClr val="FFFFFF"/>
          </a:solidFill>
          <a:ln/>
        </p:spPr>
      </p:sp>
      <p:pic>
        <p:nvPicPr>
          <p:cNvPr id="35" name="Image 8" descr="preencoded.png"/>
          <p:cNvPicPr>
            <a:picLocks noChangeAspect="1"/>
          </p:cNvPicPr>
          <p:nvPr/>
        </p:nvPicPr>
        <p:blipFill>
          <a:blip r:embed="rId9"/>
          <a:stretch>
            <a:fillRect/>
          </a:stretch>
        </p:blipFill>
        <p:spPr>
          <a:xfrm>
            <a:off x="5999013" y="4789261"/>
            <a:ext cx="209215" cy="209215"/>
          </a:xfrm>
          <a:prstGeom prst="rect">
            <a:avLst/>
          </a:prstGeom>
        </p:spPr>
      </p:pic>
      <p:sp>
        <p:nvSpPr>
          <p:cNvPr id="36" name="Text 25"/>
          <p:cNvSpPr/>
          <p:nvPr/>
        </p:nvSpPr>
        <p:spPr>
          <a:xfrm>
            <a:off x="822960" y="5212080"/>
            <a:ext cx="10561320" cy="411480"/>
          </a:xfrm>
          <a:prstGeom prst="rect">
            <a:avLst/>
          </a:prstGeom>
          <a:noFill/>
          <a:ln/>
        </p:spPr>
        <p:txBody>
          <a:bodyPr wrap="square" lIns="0" tIns="0" rIns="0" bIns="0" rtlCol="0" anchor="ctr"/>
          <a:lstStyle/>
          <a:p>
            <a:pPr algn="ctr" indent="0" marL="0">
              <a:lnSpc>
                <a:spcPct val="120000"/>
              </a:lnSpc>
              <a:buNone/>
            </a:pPr>
            <a:r>
              <a:rPr lang="en-US" sz="1050" i="1" dirty="0">
                <a:solidFill>
                  <a:srgbClr val="94A3B8"/>
                </a:solidFill>
                <a:latin typeface="Calibri" pitchFamily="34" charset="0"/>
                <a:ea typeface="Calibri" pitchFamily="34" charset="-122"/>
                <a:cs typeface="Calibri" pitchFamily="34" charset="-120"/>
              </a:rPr>
              <a:t>Screenshot — Analytics dashboard (KPIs, timeline &amp; charts)</a:t>
            </a:r>
            <a:endParaRPr lang="en-US" sz="1050" dirty="0"/>
          </a:p>
        </p:txBody>
      </p:sp>
      <p:sp>
        <p:nvSpPr>
          <p:cNvPr id="37" name="Text 26"/>
          <p:cNvSpPr/>
          <p:nvPr/>
        </p:nvSpPr>
        <p:spPr>
          <a:xfrm>
            <a:off x="640080" y="5897880"/>
            <a:ext cx="1092708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All aggregation runs server-side via Django ORM (TruncDay, Count, Avg) — the database groups and counts, not Python loops.</a:t>
            </a:r>
            <a:endParaRPr lang="en-US" sz="1000" dirty="0"/>
          </a:p>
        </p:txBody>
      </p:sp>
      <p:sp>
        <p:nvSpPr>
          <p:cNvPr id="38" name="Text 27"/>
          <p:cNvSpPr/>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15</a:t>
            </a:r>
            <a:endParaRPr lang="en-US" sz="10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828800" y="-2286000"/>
            <a:ext cx="5029200" cy="5029200"/>
          </a:xfrm>
          <a:prstGeom prst="ellipse">
            <a:avLst/>
          </a:prstGeom>
          <a:solidFill>
            <a:srgbClr val="1E293B">
              <a:alpha val="50000"/>
            </a:srgbClr>
          </a:solidFill>
          <a:ln/>
        </p:spPr>
      </p:sp>
      <p:sp>
        <p:nvSpPr>
          <p:cNvPr id="3" name="Shape 1"/>
          <p:cNvSpPr/>
          <p:nvPr/>
        </p:nvSpPr>
        <p:spPr>
          <a:xfrm>
            <a:off x="9875520" y="4389120"/>
            <a:ext cx="4114800" cy="4114800"/>
          </a:xfrm>
          <a:prstGeom prst="ellipse">
            <a:avLst/>
          </a:prstGeom>
          <a:solidFill>
            <a:srgbClr val="1E293B">
              <a:alpha val="42000"/>
            </a:srgbClr>
          </a:solidFill>
          <a:ln/>
        </p:spPr>
      </p:sp>
      <p:sp>
        <p:nvSpPr>
          <p:cNvPr id="4" name="Shape 2"/>
          <p:cNvSpPr/>
          <p:nvPr/>
        </p:nvSpPr>
        <p:spPr>
          <a:xfrm>
            <a:off x="822960" y="1828800"/>
            <a:ext cx="777240" cy="777240"/>
          </a:xfrm>
          <a:prstGeom prst="ellipse">
            <a:avLst/>
          </a:prstGeom>
          <a:solidFill>
            <a:srgbClr val="1E293B"/>
          </a:solidFill>
          <a:ln/>
        </p:spPr>
      </p:sp>
      <p:pic>
        <p:nvPicPr>
          <p:cNvPr id="5" name="Image 0" descr="preencoded.png"/>
          <p:cNvPicPr>
            <a:picLocks noChangeAspect="1"/>
          </p:cNvPicPr>
          <p:nvPr/>
        </p:nvPicPr>
        <p:blipFill>
          <a:blip r:embed="rId1"/>
          <a:stretch>
            <a:fillRect/>
          </a:stretch>
        </p:blipFill>
        <p:spPr>
          <a:xfrm>
            <a:off x="1017270" y="2023110"/>
            <a:ext cx="388620" cy="388620"/>
          </a:xfrm>
          <a:prstGeom prst="rect">
            <a:avLst/>
          </a:prstGeom>
        </p:spPr>
      </p:pic>
      <p:sp>
        <p:nvSpPr>
          <p:cNvPr id="6" name="Text 3"/>
          <p:cNvSpPr/>
          <p:nvPr/>
        </p:nvSpPr>
        <p:spPr>
          <a:xfrm>
            <a:off x="822960" y="2788920"/>
            <a:ext cx="9144000" cy="320040"/>
          </a:xfrm>
          <a:prstGeom prst="rect">
            <a:avLst/>
          </a:prstGeom>
          <a:noFill/>
          <a:ln/>
        </p:spPr>
        <p:txBody>
          <a:bodyPr wrap="square" lIns="0" tIns="0" rIns="0" bIns="0" rtlCol="0" anchor="ctr"/>
          <a:lstStyle/>
          <a:p>
            <a:pPr indent="0" marL="0">
              <a:buNone/>
            </a:pPr>
            <a:r>
              <a:rPr lang="en-US" sz="1300" b="1" spc="200" kern="0" dirty="0">
                <a:solidFill>
                  <a:srgbClr val="60A5FA"/>
                </a:solidFill>
                <a:latin typeface="Calibri" pitchFamily="34" charset="0"/>
                <a:ea typeface="Calibri" pitchFamily="34" charset="-122"/>
                <a:cs typeface="Calibri" pitchFamily="34" charset="-120"/>
              </a:rPr>
              <a:t>PART 05</a:t>
            </a:r>
            <a:endParaRPr lang="en-US" sz="1300" dirty="0"/>
          </a:p>
        </p:txBody>
      </p:sp>
      <p:sp>
        <p:nvSpPr>
          <p:cNvPr id="7" name="Text 4"/>
          <p:cNvSpPr/>
          <p:nvPr/>
        </p:nvSpPr>
        <p:spPr>
          <a:xfrm>
            <a:off x="777240" y="3154680"/>
            <a:ext cx="10058400" cy="100584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Conclusion</a:t>
            </a:r>
            <a:endParaRPr lang="en-US" sz="3800" dirty="0"/>
          </a:p>
        </p:txBody>
      </p:sp>
      <p:sp>
        <p:nvSpPr>
          <p:cNvPr id="8" name="Text 5"/>
          <p:cNvSpPr/>
          <p:nvPr/>
        </p:nvSpPr>
        <p:spPr>
          <a:xfrm>
            <a:off x="822960" y="4160520"/>
            <a:ext cx="9144000" cy="548640"/>
          </a:xfrm>
          <a:prstGeom prst="rect">
            <a:avLst/>
          </a:prstGeom>
          <a:noFill/>
          <a:ln/>
        </p:spPr>
        <p:txBody>
          <a:bodyPr wrap="square" lIns="0" tIns="0" rIns="0" bIns="0" rtlCol="0" anchor="ctr"/>
          <a:lstStyle/>
          <a:p>
            <a:pPr indent="0" marL="0">
              <a:lnSpc>
                <a:spcPct val="125000"/>
              </a:lnSpc>
              <a:buNone/>
            </a:pPr>
            <a:r>
              <a:rPr lang="en-US" sz="1400" dirty="0">
                <a:solidFill>
                  <a:srgbClr val="CBD5E1"/>
                </a:solidFill>
                <a:latin typeface="Calibri" pitchFamily="34" charset="0"/>
                <a:ea typeface="Calibri" pitchFamily="34" charset="-122"/>
                <a:cs typeface="Calibri" pitchFamily="34" charset="-120"/>
              </a:rPr>
              <a:t>Results, honest trade-offs, and where this goes next</a:t>
            </a:r>
            <a:endParaRPr lang="en-US" sz="14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37215" y="5120640"/>
            <a:ext cx="3291840" cy="3291840"/>
          </a:xfrm>
          <a:prstGeom prst="ellipse">
            <a:avLst/>
          </a:prstGeom>
          <a:solidFill>
            <a:srgbClr val="EFF6FF">
              <a:alpha val="45000"/>
            </a:srgbClr>
          </a:solidFill>
          <a:ln/>
        </p:spPr>
      </p:sp>
      <p:sp>
        <p:nvSpPr>
          <p:cNvPr id="3" name="Text 1"/>
          <p:cNvSpPr/>
          <p:nvPr/>
        </p:nvSpPr>
        <p:spPr>
          <a:xfrm>
            <a:off x="640080" y="411480"/>
            <a:ext cx="8229600" cy="320040"/>
          </a:xfrm>
          <a:prstGeom prst="rect">
            <a:avLst/>
          </a:prstGeom>
          <a:noFill/>
          <a:ln/>
        </p:spPr>
        <p:txBody>
          <a:bodyPr wrap="square" lIns="0" tIns="0" rIns="0" bIns="0" rtlCol="0" anchor="ctr"/>
          <a:lstStyle/>
          <a:p>
            <a:pPr indent="0" marL="0">
              <a:buNone/>
            </a:pPr>
            <a:r>
              <a:rPr lang="en-US" sz="1250" b="1" spc="200" kern="0" dirty="0">
                <a:solidFill>
                  <a:srgbClr val="2563EB"/>
                </a:solidFill>
                <a:latin typeface="Calibri" pitchFamily="34" charset="0"/>
                <a:ea typeface="Calibri" pitchFamily="34" charset="-122"/>
                <a:cs typeface="Calibri" pitchFamily="34" charset="-120"/>
              </a:rPr>
              <a:t>CONCLUSION</a:t>
            </a:r>
            <a:endParaRPr lang="en-US" sz="1250" dirty="0"/>
          </a:p>
        </p:txBody>
      </p:sp>
      <p:sp>
        <p:nvSpPr>
          <p:cNvPr id="4" name="Text 2"/>
          <p:cNvSpPr/>
          <p:nvPr/>
        </p:nvSpPr>
        <p:spPr>
          <a:xfrm>
            <a:off x="640080" y="713232"/>
            <a:ext cx="10515600"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Results &amp; perspectives</a:t>
            </a:r>
            <a:endParaRPr lang="en-US" sz="2800" dirty="0"/>
          </a:p>
        </p:txBody>
      </p:sp>
      <p:sp>
        <p:nvSpPr>
          <p:cNvPr id="5" name="Shape 3"/>
          <p:cNvSpPr/>
          <p:nvPr/>
        </p:nvSpPr>
        <p:spPr>
          <a:xfrm>
            <a:off x="640080" y="1874520"/>
            <a:ext cx="5212080" cy="3931920"/>
          </a:xfrm>
          <a:prstGeom prst="rect">
            <a:avLst/>
          </a:prstGeom>
          <a:solidFill>
            <a:srgbClr val="F0FDF4"/>
          </a:solidFill>
          <a:ln w="12700">
            <a:solidFill>
              <a:srgbClr val="86EFAC"/>
            </a:solidFill>
            <a:prstDash val="solid"/>
          </a:ln>
        </p:spPr>
      </p:sp>
      <p:sp>
        <p:nvSpPr>
          <p:cNvPr id="6" name="Shape 4"/>
          <p:cNvSpPr/>
          <p:nvPr/>
        </p:nvSpPr>
        <p:spPr>
          <a:xfrm>
            <a:off x="914400" y="2148840"/>
            <a:ext cx="502920" cy="502920"/>
          </a:xfrm>
          <a:prstGeom prst="ellipse">
            <a:avLst/>
          </a:prstGeom>
          <a:solidFill>
            <a:srgbClr val="FFFFFF"/>
          </a:solidFill>
          <a:ln/>
        </p:spPr>
      </p:sp>
      <p:pic>
        <p:nvPicPr>
          <p:cNvPr id="7" name="Image 0" descr="preencoded.png"/>
          <p:cNvPicPr>
            <a:picLocks noChangeAspect="1"/>
          </p:cNvPicPr>
          <p:nvPr/>
        </p:nvPicPr>
        <p:blipFill>
          <a:blip r:embed="rId1"/>
          <a:stretch>
            <a:fillRect/>
          </a:stretch>
        </p:blipFill>
        <p:spPr>
          <a:xfrm>
            <a:off x="1027557" y="2261997"/>
            <a:ext cx="276606" cy="276606"/>
          </a:xfrm>
          <a:prstGeom prst="rect">
            <a:avLst/>
          </a:prstGeom>
        </p:spPr>
      </p:pic>
      <p:sp>
        <p:nvSpPr>
          <p:cNvPr id="8" name="Text 5"/>
          <p:cNvSpPr/>
          <p:nvPr/>
        </p:nvSpPr>
        <p:spPr>
          <a:xfrm>
            <a:off x="1554480" y="2194560"/>
            <a:ext cx="41148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Every limitation addressed</a:t>
            </a:r>
            <a:endParaRPr lang="en-US" sz="1400" dirty="0"/>
          </a:p>
        </p:txBody>
      </p:sp>
      <p:sp>
        <p:nvSpPr>
          <p:cNvPr id="9" name="Shape 6"/>
          <p:cNvSpPr/>
          <p:nvPr/>
        </p:nvSpPr>
        <p:spPr>
          <a:xfrm>
            <a:off x="914400" y="2697480"/>
            <a:ext cx="219456" cy="219456"/>
          </a:xfrm>
          <a:prstGeom prst="ellipse">
            <a:avLst/>
          </a:prstGeom>
          <a:solidFill>
            <a:srgbClr val="FFFFFF"/>
          </a:solidFill>
          <a:ln/>
        </p:spPr>
      </p:sp>
      <p:pic>
        <p:nvPicPr>
          <p:cNvPr id="10" name="Image 1" descr="preencoded.png"/>
          <p:cNvPicPr>
            <a:picLocks noChangeAspect="1"/>
          </p:cNvPicPr>
          <p:nvPr/>
        </p:nvPicPr>
        <p:blipFill>
          <a:blip r:embed="rId2"/>
          <a:stretch>
            <a:fillRect/>
          </a:stretch>
        </p:blipFill>
        <p:spPr>
          <a:xfrm>
            <a:off x="941832" y="2724912"/>
            <a:ext cx="164592" cy="164592"/>
          </a:xfrm>
          <a:prstGeom prst="rect">
            <a:avLst/>
          </a:prstGeom>
        </p:spPr>
      </p:pic>
      <p:sp>
        <p:nvSpPr>
          <p:cNvPr id="11" name="Text 7"/>
          <p:cNvSpPr/>
          <p:nvPr/>
        </p:nvSpPr>
        <p:spPr>
          <a:xfrm>
            <a:off x="1234440" y="2651760"/>
            <a:ext cx="4434840" cy="3657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No more manual CLI execution</a:t>
            </a:r>
            <a:endParaRPr lang="en-US" sz="1150" dirty="0"/>
          </a:p>
        </p:txBody>
      </p:sp>
      <p:sp>
        <p:nvSpPr>
          <p:cNvPr id="12" name="Shape 8"/>
          <p:cNvSpPr/>
          <p:nvPr/>
        </p:nvSpPr>
        <p:spPr>
          <a:xfrm>
            <a:off x="914400" y="3172968"/>
            <a:ext cx="219456" cy="219456"/>
          </a:xfrm>
          <a:prstGeom prst="ellipse">
            <a:avLst/>
          </a:prstGeom>
          <a:solidFill>
            <a:srgbClr val="FFFFFF"/>
          </a:solidFill>
          <a:ln/>
        </p:spPr>
      </p:sp>
      <p:pic>
        <p:nvPicPr>
          <p:cNvPr id="13" name="Image 2" descr="preencoded.png"/>
          <p:cNvPicPr>
            <a:picLocks noChangeAspect="1"/>
          </p:cNvPicPr>
          <p:nvPr/>
        </p:nvPicPr>
        <p:blipFill>
          <a:blip r:embed="rId3"/>
          <a:stretch>
            <a:fillRect/>
          </a:stretch>
        </p:blipFill>
        <p:spPr>
          <a:xfrm>
            <a:off x="941832" y="3200400"/>
            <a:ext cx="164592" cy="164592"/>
          </a:xfrm>
          <a:prstGeom prst="rect">
            <a:avLst/>
          </a:prstGeom>
        </p:spPr>
      </p:pic>
      <p:sp>
        <p:nvSpPr>
          <p:cNvPr id="14" name="Text 9"/>
          <p:cNvSpPr/>
          <p:nvPr/>
        </p:nvSpPr>
        <p:spPr>
          <a:xfrm>
            <a:off x="1234440" y="3127248"/>
            <a:ext cx="4434840" cy="3657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Automated dependency &amp; environment management</a:t>
            </a:r>
            <a:endParaRPr lang="en-US" sz="1150" dirty="0"/>
          </a:p>
        </p:txBody>
      </p:sp>
      <p:sp>
        <p:nvSpPr>
          <p:cNvPr id="15" name="Shape 10"/>
          <p:cNvSpPr/>
          <p:nvPr/>
        </p:nvSpPr>
        <p:spPr>
          <a:xfrm>
            <a:off x="914400" y="3648456"/>
            <a:ext cx="219456" cy="219456"/>
          </a:xfrm>
          <a:prstGeom prst="ellipse">
            <a:avLst/>
          </a:prstGeom>
          <a:solidFill>
            <a:srgbClr val="FFFFFF"/>
          </a:solidFill>
          <a:ln/>
        </p:spPr>
      </p:sp>
      <p:pic>
        <p:nvPicPr>
          <p:cNvPr id="16" name="Image 3" descr="preencoded.png"/>
          <p:cNvPicPr>
            <a:picLocks noChangeAspect="1"/>
          </p:cNvPicPr>
          <p:nvPr/>
        </p:nvPicPr>
        <p:blipFill>
          <a:blip r:embed="rId4"/>
          <a:stretch>
            <a:fillRect/>
          </a:stretch>
        </p:blipFill>
        <p:spPr>
          <a:xfrm>
            <a:off x="941832" y="3675888"/>
            <a:ext cx="164592" cy="164592"/>
          </a:xfrm>
          <a:prstGeom prst="rect">
            <a:avLst/>
          </a:prstGeom>
        </p:spPr>
      </p:pic>
      <p:sp>
        <p:nvSpPr>
          <p:cNvPr id="17" name="Text 11"/>
          <p:cNvSpPr/>
          <p:nvPr/>
        </p:nvSpPr>
        <p:spPr>
          <a:xfrm>
            <a:off x="1234440" y="3602736"/>
            <a:ext cx="4434840" cy="3657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Role-based access from the ground up</a:t>
            </a:r>
            <a:endParaRPr lang="en-US" sz="1150" dirty="0"/>
          </a:p>
        </p:txBody>
      </p:sp>
      <p:sp>
        <p:nvSpPr>
          <p:cNvPr id="18" name="Shape 12"/>
          <p:cNvSpPr/>
          <p:nvPr/>
        </p:nvSpPr>
        <p:spPr>
          <a:xfrm>
            <a:off x="914400" y="4123944"/>
            <a:ext cx="219456" cy="219456"/>
          </a:xfrm>
          <a:prstGeom prst="ellipse">
            <a:avLst/>
          </a:prstGeom>
          <a:solidFill>
            <a:srgbClr val="FFFFFF"/>
          </a:solidFill>
          <a:ln/>
        </p:spPr>
      </p:sp>
      <p:pic>
        <p:nvPicPr>
          <p:cNvPr id="19" name="Image 4" descr="preencoded.png"/>
          <p:cNvPicPr>
            <a:picLocks noChangeAspect="1"/>
          </p:cNvPicPr>
          <p:nvPr/>
        </p:nvPicPr>
        <p:blipFill>
          <a:blip r:embed="rId5"/>
          <a:stretch>
            <a:fillRect/>
          </a:stretch>
        </p:blipFill>
        <p:spPr>
          <a:xfrm>
            <a:off x="941832" y="4151376"/>
            <a:ext cx="164592" cy="164592"/>
          </a:xfrm>
          <a:prstGeom prst="rect">
            <a:avLst/>
          </a:prstGeom>
        </p:spPr>
      </p:pic>
      <p:sp>
        <p:nvSpPr>
          <p:cNvPr id="20" name="Text 13"/>
          <p:cNvSpPr/>
          <p:nvPr/>
        </p:nvSpPr>
        <p:spPr>
          <a:xfrm>
            <a:off x="1234440" y="4078224"/>
            <a:ext cx="4434840" cy="3657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Full execution traceability &amp; notifications</a:t>
            </a:r>
            <a:endParaRPr lang="en-US" sz="1150" dirty="0"/>
          </a:p>
        </p:txBody>
      </p:sp>
      <p:sp>
        <p:nvSpPr>
          <p:cNvPr id="21" name="Shape 14"/>
          <p:cNvSpPr/>
          <p:nvPr/>
        </p:nvSpPr>
        <p:spPr>
          <a:xfrm>
            <a:off x="914400" y="4599432"/>
            <a:ext cx="219456" cy="219456"/>
          </a:xfrm>
          <a:prstGeom prst="ellipse">
            <a:avLst/>
          </a:prstGeom>
          <a:solidFill>
            <a:srgbClr val="FFFFFF"/>
          </a:solidFill>
          <a:ln/>
        </p:spPr>
      </p:sp>
      <p:pic>
        <p:nvPicPr>
          <p:cNvPr id="22" name="Image 5" descr="preencoded.png"/>
          <p:cNvPicPr>
            <a:picLocks noChangeAspect="1"/>
          </p:cNvPicPr>
          <p:nvPr/>
        </p:nvPicPr>
        <p:blipFill>
          <a:blip r:embed="rId6"/>
          <a:stretch>
            <a:fillRect/>
          </a:stretch>
        </p:blipFill>
        <p:spPr>
          <a:xfrm>
            <a:off x="941832" y="4626864"/>
            <a:ext cx="164592" cy="164592"/>
          </a:xfrm>
          <a:prstGeom prst="rect">
            <a:avLst/>
          </a:prstGeom>
        </p:spPr>
      </p:pic>
      <p:sp>
        <p:nvSpPr>
          <p:cNvPr id="23" name="Text 15"/>
          <p:cNvSpPr/>
          <p:nvPr/>
        </p:nvSpPr>
        <p:spPr>
          <a:xfrm>
            <a:off x="1234440" y="4553712"/>
            <a:ext cx="4434840" cy="3657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Autonomous scheduling, zero missed cycles</a:t>
            </a:r>
            <a:endParaRPr lang="en-US" sz="1150" dirty="0"/>
          </a:p>
        </p:txBody>
      </p:sp>
      <p:sp>
        <p:nvSpPr>
          <p:cNvPr id="24" name="Shape 16"/>
          <p:cNvSpPr/>
          <p:nvPr/>
        </p:nvSpPr>
        <p:spPr>
          <a:xfrm>
            <a:off x="914400" y="5074920"/>
            <a:ext cx="219456" cy="219456"/>
          </a:xfrm>
          <a:prstGeom prst="ellipse">
            <a:avLst/>
          </a:prstGeom>
          <a:solidFill>
            <a:srgbClr val="FFFFFF"/>
          </a:solidFill>
          <a:ln/>
        </p:spPr>
      </p:sp>
      <p:pic>
        <p:nvPicPr>
          <p:cNvPr id="25" name="Image 6" descr="preencoded.png"/>
          <p:cNvPicPr>
            <a:picLocks noChangeAspect="1"/>
          </p:cNvPicPr>
          <p:nvPr/>
        </p:nvPicPr>
        <p:blipFill>
          <a:blip r:embed="rId7"/>
          <a:stretch>
            <a:fillRect/>
          </a:stretch>
        </p:blipFill>
        <p:spPr>
          <a:xfrm>
            <a:off x="941832" y="5102352"/>
            <a:ext cx="164592" cy="164592"/>
          </a:xfrm>
          <a:prstGeom prst="rect">
            <a:avLst/>
          </a:prstGeom>
        </p:spPr>
      </p:pic>
      <p:sp>
        <p:nvSpPr>
          <p:cNvPr id="26" name="Text 17"/>
          <p:cNvSpPr/>
          <p:nvPr/>
        </p:nvSpPr>
        <p:spPr>
          <a:xfrm>
            <a:off x="1234440" y="5029200"/>
            <a:ext cx="4434840" cy="3657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Platform-wide &amp; personal analytics</a:t>
            </a:r>
            <a:endParaRPr lang="en-US" sz="1150" dirty="0"/>
          </a:p>
        </p:txBody>
      </p:sp>
      <p:sp>
        <p:nvSpPr>
          <p:cNvPr id="27" name="Shape 18"/>
          <p:cNvSpPr/>
          <p:nvPr/>
        </p:nvSpPr>
        <p:spPr>
          <a:xfrm>
            <a:off x="6355080" y="1874520"/>
            <a:ext cx="5212080" cy="3931920"/>
          </a:xfrm>
          <a:prstGeom prst="rect">
            <a:avLst/>
          </a:prstGeom>
          <a:solidFill>
            <a:srgbClr val="F8FAFC"/>
          </a:solidFill>
          <a:ln w="12700">
            <a:solidFill>
              <a:srgbClr val="E2E8F0"/>
            </a:solidFill>
            <a:prstDash val="solid"/>
          </a:ln>
        </p:spPr>
      </p:sp>
      <p:sp>
        <p:nvSpPr>
          <p:cNvPr id="28" name="Shape 19"/>
          <p:cNvSpPr/>
          <p:nvPr/>
        </p:nvSpPr>
        <p:spPr>
          <a:xfrm>
            <a:off x="6629400" y="2148840"/>
            <a:ext cx="502920" cy="502920"/>
          </a:xfrm>
          <a:prstGeom prst="ellipse">
            <a:avLst/>
          </a:prstGeom>
          <a:solidFill>
            <a:srgbClr val="EFF6FF"/>
          </a:solidFill>
          <a:ln/>
        </p:spPr>
      </p:sp>
      <p:pic>
        <p:nvPicPr>
          <p:cNvPr id="29" name="Image 7" descr="preencoded.png"/>
          <p:cNvPicPr>
            <a:picLocks noChangeAspect="1"/>
          </p:cNvPicPr>
          <p:nvPr/>
        </p:nvPicPr>
        <p:blipFill>
          <a:blip r:embed="rId8"/>
          <a:stretch>
            <a:fillRect/>
          </a:stretch>
        </p:blipFill>
        <p:spPr>
          <a:xfrm>
            <a:off x="6742557" y="2261997"/>
            <a:ext cx="276606" cy="276606"/>
          </a:xfrm>
          <a:prstGeom prst="rect">
            <a:avLst/>
          </a:prstGeom>
        </p:spPr>
      </p:pic>
      <p:sp>
        <p:nvSpPr>
          <p:cNvPr id="30" name="Text 20"/>
          <p:cNvSpPr/>
          <p:nvPr/>
        </p:nvSpPr>
        <p:spPr>
          <a:xfrm>
            <a:off x="7269480" y="2194560"/>
            <a:ext cx="41148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Perspectives</a:t>
            </a:r>
            <a:endParaRPr lang="en-US" sz="1400" dirty="0"/>
          </a:p>
        </p:txBody>
      </p:sp>
      <p:sp>
        <p:nvSpPr>
          <p:cNvPr id="31" name="Shape 21"/>
          <p:cNvSpPr/>
          <p:nvPr/>
        </p:nvSpPr>
        <p:spPr>
          <a:xfrm>
            <a:off x="6629400" y="2697480"/>
            <a:ext cx="219456" cy="219456"/>
          </a:xfrm>
          <a:prstGeom prst="ellipse">
            <a:avLst/>
          </a:prstGeom>
          <a:solidFill>
            <a:srgbClr val="FFFFFF"/>
          </a:solidFill>
          <a:ln/>
        </p:spPr>
      </p:sp>
      <p:pic>
        <p:nvPicPr>
          <p:cNvPr id="32" name="Image 8" descr="preencoded.png"/>
          <p:cNvPicPr>
            <a:picLocks noChangeAspect="1"/>
          </p:cNvPicPr>
          <p:nvPr/>
        </p:nvPicPr>
        <p:blipFill>
          <a:blip r:embed="rId9"/>
          <a:stretch>
            <a:fillRect/>
          </a:stretch>
        </p:blipFill>
        <p:spPr>
          <a:xfrm>
            <a:off x="6656832" y="2724912"/>
            <a:ext cx="164592" cy="164592"/>
          </a:xfrm>
          <a:prstGeom prst="rect">
            <a:avLst/>
          </a:prstGeom>
        </p:spPr>
      </p:pic>
      <p:sp>
        <p:nvSpPr>
          <p:cNvPr id="33" name="Text 22"/>
          <p:cNvSpPr/>
          <p:nvPr/>
        </p:nvSpPr>
        <p:spPr>
          <a:xfrm>
            <a:off x="6949440" y="2651760"/>
            <a:ext cx="4389120" cy="3657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Dynamic thread-pool scaling under load</a:t>
            </a:r>
            <a:endParaRPr lang="en-US" sz="1150" dirty="0"/>
          </a:p>
        </p:txBody>
      </p:sp>
      <p:sp>
        <p:nvSpPr>
          <p:cNvPr id="34" name="Shape 23"/>
          <p:cNvSpPr/>
          <p:nvPr/>
        </p:nvSpPr>
        <p:spPr>
          <a:xfrm>
            <a:off x="6629400" y="3264408"/>
            <a:ext cx="219456" cy="219456"/>
          </a:xfrm>
          <a:prstGeom prst="ellipse">
            <a:avLst/>
          </a:prstGeom>
          <a:solidFill>
            <a:srgbClr val="FFFFFF"/>
          </a:solidFill>
          <a:ln/>
        </p:spPr>
      </p:sp>
      <p:pic>
        <p:nvPicPr>
          <p:cNvPr id="35" name="Image 9" descr="preencoded.png"/>
          <p:cNvPicPr>
            <a:picLocks noChangeAspect="1"/>
          </p:cNvPicPr>
          <p:nvPr/>
        </p:nvPicPr>
        <p:blipFill>
          <a:blip r:embed="rId10"/>
          <a:stretch>
            <a:fillRect/>
          </a:stretch>
        </p:blipFill>
        <p:spPr>
          <a:xfrm>
            <a:off x="6656832" y="3291840"/>
            <a:ext cx="164592" cy="164592"/>
          </a:xfrm>
          <a:prstGeom prst="rect">
            <a:avLst/>
          </a:prstGeom>
        </p:spPr>
      </p:pic>
      <p:sp>
        <p:nvSpPr>
          <p:cNvPr id="36" name="Text 24"/>
          <p:cNvSpPr/>
          <p:nvPr/>
        </p:nvSpPr>
        <p:spPr>
          <a:xfrm>
            <a:off x="6949440" y="3218688"/>
            <a:ext cx="4389120" cy="3657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Cron-expression scheduling for finer control</a:t>
            </a:r>
            <a:endParaRPr lang="en-US" sz="1150" dirty="0"/>
          </a:p>
        </p:txBody>
      </p:sp>
      <p:sp>
        <p:nvSpPr>
          <p:cNvPr id="37" name="Shape 25"/>
          <p:cNvSpPr/>
          <p:nvPr/>
        </p:nvSpPr>
        <p:spPr>
          <a:xfrm>
            <a:off x="6629400" y="3831336"/>
            <a:ext cx="219456" cy="219456"/>
          </a:xfrm>
          <a:prstGeom prst="ellipse">
            <a:avLst/>
          </a:prstGeom>
          <a:solidFill>
            <a:srgbClr val="FFFFFF"/>
          </a:solidFill>
          <a:ln/>
        </p:spPr>
      </p:sp>
      <p:pic>
        <p:nvPicPr>
          <p:cNvPr id="38" name="Image 10" descr="preencoded.png"/>
          <p:cNvPicPr>
            <a:picLocks noChangeAspect="1"/>
          </p:cNvPicPr>
          <p:nvPr/>
        </p:nvPicPr>
        <p:blipFill>
          <a:blip r:embed="rId11"/>
          <a:stretch>
            <a:fillRect/>
          </a:stretch>
        </p:blipFill>
        <p:spPr>
          <a:xfrm>
            <a:off x="6656832" y="3858768"/>
            <a:ext cx="164592" cy="164592"/>
          </a:xfrm>
          <a:prstGeom prst="rect">
            <a:avLst/>
          </a:prstGeom>
        </p:spPr>
      </p:pic>
      <p:sp>
        <p:nvSpPr>
          <p:cNvPr id="39" name="Text 26"/>
          <p:cNvSpPr/>
          <p:nvPr/>
        </p:nvSpPr>
        <p:spPr>
          <a:xfrm>
            <a:off x="6949440" y="3785616"/>
            <a:ext cx="4389120" cy="3657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Predictive analytics — failure probability scoring</a:t>
            </a:r>
            <a:endParaRPr lang="en-US" sz="1150" dirty="0"/>
          </a:p>
        </p:txBody>
      </p:sp>
      <p:sp>
        <p:nvSpPr>
          <p:cNvPr id="40" name="Shape 27"/>
          <p:cNvSpPr/>
          <p:nvPr/>
        </p:nvSpPr>
        <p:spPr>
          <a:xfrm>
            <a:off x="6629400" y="4398264"/>
            <a:ext cx="219456" cy="219456"/>
          </a:xfrm>
          <a:prstGeom prst="ellipse">
            <a:avLst/>
          </a:prstGeom>
          <a:solidFill>
            <a:srgbClr val="FFFFFF"/>
          </a:solidFill>
          <a:ln/>
        </p:spPr>
      </p:sp>
      <p:pic>
        <p:nvPicPr>
          <p:cNvPr id="41" name="Image 11" descr="preencoded.png"/>
          <p:cNvPicPr>
            <a:picLocks noChangeAspect="1"/>
          </p:cNvPicPr>
          <p:nvPr/>
        </p:nvPicPr>
        <p:blipFill>
          <a:blip r:embed="rId12"/>
          <a:stretch>
            <a:fillRect/>
          </a:stretch>
        </p:blipFill>
        <p:spPr>
          <a:xfrm>
            <a:off x="6656832" y="4425696"/>
            <a:ext cx="164592" cy="164592"/>
          </a:xfrm>
          <a:prstGeom prst="rect">
            <a:avLst/>
          </a:prstGeom>
        </p:spPr>
      </p:pic>
      <p:sp>
        <p:nvSpPr>
          <p:cNvPr id="42" name="Text 28"/>
          <p:cNvSpPr/>
          <p:nvPr/>
        </p:nvSpPr>
        <p:spPr>
          <a:xfrm>
            <a:off x="6949440" y="4352544"/>
            <a:ext cx="4389120" cy="3657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Multi-language pipeline execution support</a:t>
            </a:r>
            <a:endParaRPr lang="en-US" sz="1150" dirty="0"/>
          </a:p>
        </p:txBody>
      </p:sp>
      <p:sp>
        <p:nvSpPr>
          <p:cNvPr id="43" name="Text 29"/>
          <p:cNvSpPr/>
          <p:nvPr/>
        </p:nvSpPr>
        <p:spPr>
          <a:xfrm>
            <a:off x="6355080" y="5212080"/>
            <a:ext cx="5212080" cy="548640"/>
          </a:xfrm>
          <a:prstGeom prst="rect">
            <a:avLst/>
          </a:prstGeom>
          <a:noFill/>
          <a:ln/>
        </p:spPr>
        <p:txBody>
          <a:bodyPr wrap="square" lIns="0" tIns="0" rIns="0" bIns="0" rtlCol="0" anchor="ctr"/>
          <a:lstStyle/>
          <a:p>
            <a:pPr indent="0" marL="0">
              <a:lnSpc>
                <a:spcPct val="125000"/>
              </a:lnSpc>
              <a:buNone/>
            </a:pPr>
            <a:r>
              <a:rPr lang="en-US" sz="1050" i="1" dirty="0">
                <a:solidFill>
                  <a:srgbClr val="64748B"/>
                </a:solidFill>
                <a:latin typeface="Calibri" pitchFamily="34" charset="0"/>
                <a:ea typeface="Calibri" pitchFamily="34" charset="-122"/>
                <a:cs typeface="Calibri" pitchFamily="34" charset="-120"/>
              </a:rPr>
              <a:t>Honest scope note: single-server deployment, fixed recurrence frequencies, Python-only pipelines — by design, not oversight.</a:t>
            </a:r>
            <a:endParaRPr lang="en-US" sz="1050" dirty="0"/>
          </a:p>
        </p:txBody>
      </p:sp>
      <p:sp>
        <p:nvSpPr>
          <p:cNvPr id="44" name="Text 30"/>
          <p:cNvSpPr/>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16</a:t>
            </a:r>
            <a:endParaRPr lang="en-US" sz="10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1E293B">
              <a:alpha val="55000"/>
            </a:srgbClr>
          </a:solidFill>
          <a:ln/>
        </p:spPr>
      </p:sp>
      <p:sp>
        <p:nvSpPr>
          <p:cNvPr id="3" name="Shape 1"/>
          <p:cNvSpPr/>
          <p:nvPr/>
        </p:nvSpPr>
        <p:spPr>
          <a:xfrm>
            <a:off x="9601200" y="4114800"/>
            <a:ext cx="4572000" cy="4572000"/>
          </a:xfrm>
          <a:prstGeom prst="ellipse">
            <a:avLst/>
          </a:prstGeom>
          <a:solidFill>
            <a:srgbClr val="1E293B">
              <a:alpha val="45000"/>
            </a:srgbClr>
          </a:solidFill>
          <a:ln/>
        </p:spPr>
      </p:sp>
      <p:sp>
        <p:nvSpPr>
          <p:cNvPr id="4" name="Shape 2"/>
          <p:cNvSpPr/>
          <p:nvPr/>
        </p:nvSpPr>
        <p:spPr>
          <a:xfrm>
            <a:off x="5684368" y="1417320"/>
            <a:ext cx="822960" cy="822960"/>
          </a:xfrm>
          <a:prstGeom prst="ellipse">
            <a:avLst/>
          </a:prstGeom>
          <a:solidFill>
            <a:srgbClr val="1E293B"/>
          </a:solidFill>
          <a:ln/>
        </p:spPr>
      </p:sp>
      <p:pic>
        <p:nvPicPr>
          <p:cNvPr id="5" name="Image 0" descr="preencoded.png"/>
          <p:cNvPicPr>
            <a:picLocks noChangeAspect="1"/>
          </p:cNvPicPr>
          <p:nvPr/>
        </p:nvPicPr>
        <p:blipFill>
          <a:blip r:embed="rId1"/>
          <a:stretch>
            <a:fillRect/>
          </a:stretch>
        </p:blipFill>
        <p:spPr>
          <a:xfrm>
            <a:off x="5869534" y="1602486"/>
            <a:ext cx="452628" cy="452628"/>
          </a:xfrm>
          <a:prstGeom prst="rect">
            <a:avLst/>
          </a:prstGeom>
        </p:spPr>
      </p:pic>
      <p:sp>
        <p:nvSpPr>
          <p:cNvPr id="6" name="Text 3"/>
          <p:cNvSpPr/>
          <p:nvPr/>
        </p:nvSpPr>
        <p:spPr>
          <a:xfrm>
            <a:off x="0" y="2468880"/>
            <a:ext cx="12191695" cy="100584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Thank you</a:t>
            </a:r>
            <a:endParaRPr lang="en-US" sz="4200" dirty="0"/>
          </a:p>
        </p:txBody>
      </p:sp>
      <p:sp>
        <p:nvSpPr>
          <p:cNvPr id="7" name="Text 4"/>
          <p:cNvSpPr/>
          <p:nvPr/>
        </p:nvSpPr>
        <p:spPr>
          <a:xfrm>
            <a:off x="0" y="3429000"/>
            <a:ext cx="12191695" cy="45720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Questions &amp; discussion</a:t>
            </a:r>
            <a:endParaRPr lang="en-US" sz="1600" dirty="0"/>
          </a:p>
        </p:txBody>
      </p:sp>
      <p:sp>
        <p:nvSpPr>
          <p:cNvPr id="8" name="Shape 5"/>
          <p:cNvSpPr/>
          <p:nvPr/>
        </p:nvSpPr>
        <p:spPr>
          <a:xfrm>
            <a:off x="4632808" y="4160520"/>
            <a:ext cx="2926080" cy="0"/>
          </a:xfrm>
          <a:prstGeom prst="line">
            <a:avLst/>
          </a:prstGeom>
          <a:noFill/>
          <a:ln w="12700">
            <a:solidFill>
              <a:srgbClr val="334155"/>
            </a:solidFill>
            <a:prstDash val="solid"/>
          </a:ln>
        </p:spPr>
      </p:sp>
      <p:sp>
        <p:nvSpPr>
          <p:cNvPr id="9" name="Text 6"/>
          <p:cNvSpPr/>
          <p:nvPr/>
        </p:nvSpPr>
        <p:spPr>
          <a:xfrm>
            <a:off x="0" y="4343400"/>
            <a:ext cx="12191695" cy="365760"/>
          </a:xfrm>
          <a:prstGeom prst="rect">
            <a:avLst/>
          </a:prstGeom>
          <a:noFill/>
          <a:ln/>
        </p:spPr>
        <p:txBody>
          <a:bodyPr wrap="square" lIns="0" tIns="0" rIns="0" bIns="0" rtlCol="0" anchor="ctr"/>
          <a:lstStyle/>
          <a:p>
            <a:pPr algn="ctr" indent="0" marL="0">
              <a:buNone/>
            </a:pPr>
            <a:r>
              <a:rPr lang="en-US" sz="1150" spc="50" kern="0" dirty="0">
                <a:solidFill>
                  <a:srgbClr val="94A3B8"/>
                </a:solidFill>
                <a:latin typeface="Calibri" pitchFamily="34" charset="0"/>
                <a:ea typeface="Calibri" pitchFamily="34" charset="-122"/>
                <a:cs typeface="Calibri" pitchFamily="34" charset="-120"/>
              </a:rPr>
              <a:t>ETL Orchestration &amp; Automation Platform  ·  Amaris Consulting</a:t>
            </a:r>
            <a:endParaRPr lang="en-US" sz="11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ETL Orchestration &amp; Automation Platform</dc:title>
  <dc:subject>PptxGenJS Presentation</dc:subject>
  <dc:creator>ETL Orchestration Platform</dc:creator>
  <cp:lastModifiedBy>ETL Orchestration Platform</cp:lastModifiedBy>
  <cp:revision>1</cp:revision>
  <dcterms:created xsi:type="dcterms:W3CDTF">2026-06-21T01:35:37Z</dcterms:created>
  <dcterms:modified xsi:type="dcterms:W3CDTF">2026-06-21T01:35:37Z</dcterms:modified>
</cp:coreProperties>
</file>